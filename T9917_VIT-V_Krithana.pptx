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6B"/>
    <a:srgbClr val="162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3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176C1-9F12-6E47-BECF-A14CDC52B99C}" type="datetimeFigureOut">
              <a:rPr lang="en-US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BAB09-7469-FE4D-ADB3-F8AB8451A4D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4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74F2-A06A-0502-E907-A75B00D5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3A189-C7EF-D9F3-4589-8F250A9CA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97BEA-7FB8-ED78-84E2-A341BF6CE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94D2A-2D5A-E8C4-D7BD-E44B0C094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5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DF28202-9A72-00CF-BE93-969EBBEAE008}"/>
              </a:ext>
            </a:extLst>
          </p:cNvPr>
          <p:cNvGrpSpPr/>
          <p:nvPr/>
        </p:nvGrpSpPr>
        <p:grpSpPr>
          <a:xfrm>
            <a:off x="342609" y="673331"/>
            <a:ext cx="11706966" cy="5324997"/>
            <a:chOff x="342609" y="169718"/>
            <a:chExt cx="11706966" cy="5324997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E987F046-4264-D4AC-F15F-3B250CA31079}"/>
                </a:ext>
              </a:extLst>
            </p:cNvPr>
            <p:cNvSpPr/>
            <p:nvPr/>
          </p:nvSpPr>
          <p:spPr>
            <a:xfrm>
              <a:off x="353291" y="673331"/>
              <a:ext cx="11485418" cy="1645920"/>
            </a:xfrm>
            <a:prstGeom prst="roundRect">
              <a:avLst>
                <a:gd name="adj" fmla="val 1633"/>
              </a:avLst>
            </a:prstGeom>
            <a:solidFill>
              <a:srgbClr val="E7EFF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8EC1F82D-1E41-CFAA-9389-594D378768C6}"/>
                </a:ext>
              </a:extLst>
            </p:cNvPr>
            <p:cNvSpPr/>
            <p:nvPr/>
          </p:nvSpPr>
          <p:spPr>
            <a:xfrm>
              <a:off x="353291" y="3028604"/>
              <a:ext cx="11485418" cy="1645920"/>
            </a:xfrm>
            <a:prstGeom prst="roundRect">
              <a:avLst>
                <a:gd name="adj" fmla="val 1633"/>
              </a:avLst>
            </a:prstGeom>
            <a:solidFill>
              <a:srgbClr val="E7EFF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7" name="Text 1">
              <a:extLst>
                <a:ext uri="{FF2B5EF4-FFF2-40B4-BE49-F238E27FC236}">
                  <a16:creationId xmlns:a16="http://schemas.microsoft.com/office/drawing/2014/main" id="{69A4DA69-B787-D1FF-568B-994190279172}"/>
                </a:ext>
              </a:extLst>
            </p:cNvPr>
            <p:cNvSpPr txBox="1"/>
            <p:nvPr/>
          </p:nvSpPr>
          <p:spPr>
            <a:xfrm>
              <a:off x="457200" y="741218"/>
              <a:ext cx="1127455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1B3A6B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PrecedentIQ</a:t>
              </a:r>
              <a:endParaRPr lang="en-US" sz="3200" dirty="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34C3575F-07FC-09BD-073E-8918C75D96CC}"/>
                </a:ext>
              </a:extLst>
            </p:cNvPr>
            <p:cNvSpPr txBox="1"/>
            <p:nvPr/>
          </p:nvSpPr>
          <p:spPr>
            <a:xfrm>
              <a:off x="775023" y="1313411"/>
              <a:ext cx="112745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 Hybrid Retrieval-Augmented Framework for Precedent Discovery and Argument Synthesis over Indian Case Law</a:t>
              </a:r>
              <a:endParaRPr lang="en-US" sz="1600" dirty="0"/>
            </a:p>
          </p:txBody>
        </p:sp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0028E607-8BBF-82B8-2D71-0FE6FE52E2D3}"/>
                </a:ext>
              </a:extLst>
            </p:cNvPr>
            <p:cNvSpPr txBox="1"/>
            <p:nvPr/>
          </p:nvSpPr>
          <p:spPr>
            <a:xfrm>
              <a:off x="457200" y="3074324"/>
              <a:ext cx="1127455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1B3A6B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SentinelOps</a:t>
              </a:r>
              <a:endParaRPr lang="en-US" sz="3200" dirty="0"/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24091101-CEAA-AAF0-79FF-4CD2157BF510}"/>
                </a:ext>
              </a:extLst>
            </p:cNvPr>
            <p:cNvSpPr txBox="1"/>
            <p:nvPr/>
          </p:nvSpPr>
          <p:spPr>
            <a:xfrm>
              <a:off x="775023" y="3715097"/>
              <a:ext cx="112745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An Agentic AI Framework for Autonomous SIEM Alert Correlation, Threat Enrichment, and MITRE ATT&amp;CK-Grounded Incident Response</a:t>
              </a:r>
              <a:endParaRPr lang="en-US" sz="1600" dirty="0"/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AF7766D3-27AB-918F-C9FA-B7B85C7935F7}"/>
                </a:ext>
              </a:extLst>
            </p:cNvPr>
            <p:cNvSpPr txBox="1"/>
            <p:nvPr/>
          </p:nvSpPr>
          <p:spPr>
            <a:xfrm>
              <a:off x="6554724" y="5128955"/>
              <a:ext cx="517702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i="1" dirty="0">
                <a:solidFill>
                  <a:srgbClr val="1B3A6B"/>
                </a:solidFill>
                <a:latin typeface="Times New Roman" pitchFamily="34" charset="0"/>
                <a:cs typeface="Times New Roman" pitchFamily="34" charset="-120"/>
              </a:endParaRPr>
            </a:p>
            <a:p>
              <a:pPr marL="0" indent="0">
                <a:buNone/>
              </a:pPr>
              <a:r>
                <a:rPr lang="en-US" sz="1600" i="1" dirty="0">
                  <a:solidFill>
                    <a:srgbClr val="162E56"/>
                  </a:solidFill>
                  <a:latin typeface="Times New Roman" pitchFamily="34" charset="0"/>
                  <a:cs typeface="Times New Roman" pitchFamily="34" charset="-120"/>
                </a:rPr>
                <a:t>Presented by,</a:t>
              </a:r>
            </a:p>
            <a:p>
              <a:pPr lvl="1"/>
              <a:r>
                <a:rPr lang="en-US" sz="1600" i="1" dirty="0">
                  <a:solidFill>
                    <a:srgbClr val="1B3A6B"/>
                  </a:solidFill>
                  <a:latin typeface="Times New Roman" pitchFamily="34" charset="0"/>
                  <a:cs typeface="Times New Roman" pitchFamily="34" charset="-120"/>
                </a:rPr>
                <a:t>Krithana A [25MML0054]</a:t>
              </a:r>
            </a:p>
            <a:p>
              <a:pPr lvl="1"/>
              <a:r>
                <a:rPr lang="en-US" sz="1600" i="1" dirty="0" err="1">
                  <a:solidFill>
                    <a:srgbClr val="1B3A6B"/>
                  </a:solidFill>
                  <a:latin typeface="Times New Roman" pitchFamily="34" charset="0"/>
                  <a:cs typeface="Times New Roman" pitchFamily="34" charset="-120"/>
                </a:rPr>
                <a:t>M.Tech</a:t>
              </a:r>
              <a:r>
                <a:rPr lang="en-US" sz="1600" i="1" dirty="0">
                  <a:solidFill>
                    <a:srgbClr val="1B3A6B"/>
                  </a:solidFill>
                  <a:latin typeface="Times New Roman" pitchFamily="34" charset="0"/>
                  <a:cs typeface="Times New Roman" pitchFamily="34" charset="-120"/>
                </a:rPr>
                <a:t>(AI &amp;ML),VIT Vellore – LTI Mindtree Internship</a:t>
              </a:r>
              <a:r>
                <a:rPr lang="en-US" sz="1600" i="1" dirty="0">
                  <a:solidFill>
                    <a:srgbClr val="5B6B7C"/>
                  </a:solidFill>
                  <a:latin typeface="Times New Roman" pitchFamily="34" charset="0"/>
                  <a:cs typeface="Times New Roman" pitchFamily="34" charset="-120"/>
                </a:rPr>
                <a:t>.</a:t>
              </a:r>
              <a:endParaRPr lang="en-US" sz="1600" dirty="0"/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DE2FE349-0AAF-3A01-C236-BCAF745692E0}"/>
                </a:ext>
              </a:extLst>
            </p:cNvPr>
            <p:cNvSpPr txBox="1"/>
            <p:nvPr/>
          </p:nvSpPr>
          <p:spPr>
            <a:xfrm>
              <a:off x="342609" y="169718"/>
              <a:ext cx="112745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1B3A6B"/>
                  </a:solidFill>
                  <a:latin typeface="Times New Roman" pitchFamily="34" charset="0"/>
                  <a:cs typeface="Times New Roman" pitchFamily="34" charset="-120"/>
                </a:rPr>
                <a:t>Project 1 | RAG | Legal Tech</a:t>
              </a:r>
              <a:r>
                <a:rPr lang="en-US" sz="1600" i="1" dirty="0">
                  <a:solidFill>
                    <a:srgbClr val="5B6B7C"/>
                  </a:solidFill>
                  <a:latin typeface="Times New Roman" pitchFamily="34" charset="0"/>
                  <a:cs typeface="Times New Roman" pitchFamily="34" charset="-120"/>
                </a:rPr>
                <a:t> </a:t>
              </a:r>
              <a:endParaRPr lang="en-US" sz="1600" dirty="0"/>
            </a:p>
          </p:txBody>
        </p:sp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6250D1AF-0E94-6F49-904C-5687B8DCE915}"/>
                </a:ext>
              </a:extLst>
            </p:cNvPr>
            <p:cNvSpPr txBox="1"/>
            <p:nvPr/>
          </p:nvSpPr>
          <p:spPr>
            <a:xfrm>
              <a:off x="342609" y="2491047"/>
              <a:ext cx="112745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1B3A6B"/>
                  </a:solidFill>
                  <a:latin typeface="Times New Roman" pitchFamily="34" charset="0"/>
                  <a:cs typeface="Times New Roman" pitchFamily="34" charset="-120"/>
                </a:rPr>
                <a:t>Project 2 | Agentic AI | Cyber Security</a:t>
              </a:r>
              <a:r>
                <a:rPr lang="en-US" sz="1600" i="1" dirty="0">
                  <a:solidFill>
                    <a:srgbClr val="5B6B7C"/>
                  </a:solidFill>
                  <a:latin typeface="Times New Roman" pitchFamily="34" charset="0"/>
                  <a:cs typeface="Times New Roman" pitchFamily="34" charset="-120"/>
                </a:rPr>
                <a:t> 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7547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9A7C37CA-AA96-22D9-5F49-BEF02D4A68BE}"/>
              </a:ext>
            </a:extLst>
          </p:cNvPr>
          <p:cNvSpPr/>
          <p:nvPr/>
        </p:nvSpPr>
        <p:spPr>
          <a:xfrm>
            <a:off x="340268" y="619784"/>
            <a:ext cx="11391484" cy="791164"/>
          </a:xfrm>
          <a:prstGeom prst="roundRect">
            <a:avLst>
              <a:gd name="adj" fmla="val 16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" name="Text 0"/>
          <p:cNvSpPr txBox="1"/>
          <p:nvPr/>
        </p:nvSpPr>
        <p:spPr>
          <a:xfrm>
            <a:off x="182880" y="234315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1 · LEGAL TECH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47799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PrecedentIQ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108753" y="778798"/>
            <a:ext cx="7794774" cy="55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“A Hybrid Retrieval-Augmented Framework for Precedent Discovery and Argument Synthesis over Indian Case Law”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 txBox="1"/>
          <p:nvPr/>
        </p:nvSpPr>
        <p:spPr>
          <a:xfrm>
            <a:off x="566928" y="1965960"/>
            <a:ext cx="4668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0487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professionals spend considerable time searching thousands of Supreme Court and High Court judgments to identify relevant precedents. Keyword-based search often misses contextually relevant cases, making legal research:</a:t>
            </a:r>
            <a:endParaRPr lang="en-US" sz="1400" i="1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16224"/>
            <a:ext cx="49057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Time-consuming and costly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Dependent on manual review of lengthy judgments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Prone to overlooking important precedents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Challenging for small and medium law firms with limited resources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7356" y="178308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 txBox="1"/>
          <p:nvPr/>
        </p:nvSpPr>
        <p:spPr>
          <a:xfrm>
            <a:off x="6443056" y="1933540"/>
            <a:ext cx="4668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2299716"/>
            <a:ext cx="4905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400" i="1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an AI-powered legal research assistant that retrieves the most relevant precedents and generates structured legal arguments from Indian case law.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3182112"/>
            <a:ext cx="490575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searchable repository of Indian court judgments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 hybrid retrieval using semantic and keyword-based search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key legal concepts: facts, issues, ratio decidendi, judgments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argument outlines with supporting precedent citations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 contextual retrieval using uploaded case documents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legal research effort from days to minutes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PrecedentIQ  |  Slide 1 of 4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228600" y="197218"/>
            <a:ext cx="11045952" cy="55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Dataset, Technical Stack &amp; Expected Outcome</a:t>
            </a:r>
            <a:endParaRPr lang="en-US" sz="3600" i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5A806B-1953-26E5-9547-FD780E88A284}"/>
              </a:ext>
            </a:extLst>
          </p:cNvPr>
          <p:cNvGrpSpPr/>
          <p:nvPr/>
        </p:nvGrpSpPr>
        <p:grpSpPr>
          <a:xfrm>
            <a:off x="228600" y="886137"/>
            <a:ext cx="11274552" cy="4210536"/>
            <a:chOff x="228600" y="901791"/>
            <a:chExt cx="11274552" cy="4210536"/>
          </a:xfrm>
        </p:grpSpPr>
        <p:sp>
          <p:nvSpPr>
            <p:cNvPr id="5" name="Shape 3"/>
            <p:cNvSpPr/>
            <p:nvPr/>
          </p:nvSpPr>
          <p:spPr>
            <a:xfrm>
              <a:off x="228600" y="901791"/>
              <a:ext cx="3544824" cy="4210536"/>
            </a:xfrm>
            <a:prstGeom prst="roundRect">
              <a:avLst>
                <a:gd name="adj" fmla="val 2064"/>
              </a:avLst>
            </a:prstGeom>
            <a:solidFill>
              <a:srgbClr val="E7EFF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307848" y="1116814"/>
              <a:ext cx="2849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A6B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Dataset</a:t>
              </a:r>
              <a:endParaRPr lang="en-US" sz="20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457200" y="1496151"/>
              <a:ext cx="308762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Source</a:t>
              </a:r>
              <a:endParaRPr lang="en-US" sz="16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457200" y="1770471"/>
              <a:ext cx="3087624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Indian Kanoon (public judgments)</a:t>
              </a:r>
              <a:endParaRPr lang="en-US" sz="1400" dirty="0"/>
            </a:p>
            <a:p>
              <a:pPr marL="177800" indent="-1778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Supreme Court of India judgments</a:t>
              </a:r>
              <a:endParaRPr lang="en-US" sz="1400" dirty="0"/>
            </a:p>
            <a:p>
              <a:pPr marL="177800" indent="-1778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High Court judgments</a:t>
              </a:r>
              <a:endParaRPr lang="en-US" sz="1400" dirty="0"/>
            </a:p>
            <a:p>
              <a:pPr marL="177800" indent="-1778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User-uploaded case documents (PDF/DOCX)</a:t>
              </a:r>
              <a:endParaRPr lang="en-US" sz="14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57200" y="3233511"/>
              <a:ext cx="308762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Collection &amp; Generation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93464" y="901791"/>
              <a:ext cx="3544824" cy="4210536"/>
            </a:xfrm>
            <a:prstGeom prst="roundRect">
              <a:avLst>
                <a:gd name="adj" fmla="val 2064"/>
              </a:avLst>
            </a:prstGeom>
            <a:solidFill>
              <a:srgbClr val="E7EFF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172712" y="1070955"/>
              <a:ext cx="2849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A6B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Technical Stack</a:t>
              </a:r>
              <a:endParaRPr lang="en-US" sz="20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277175" y="1474296"/>
              <a:ext cx="308762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Data Processing</a:t>
              </a:r>
              <a:endParaRPr lang="en-US" sz="16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4550664" y="1569303"/>
              <a:ext cx="308762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 err="1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BeautifulSoup</a:t>
              </a: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PyMuPDF, pdfplumber</a:t>
              </a:r>
              <a:endParaRPr lang="en-US" sz="14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4276344" y="2028321"/>
              <a:ext cx="308762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Embeddings</a:t>
              </a:r>
              <a:endParaRPr lang="en-US" sz="16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4550664" y="2225730"/>
              <a:ext cx="308762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Legal-BERT, Nomic-Embed-Text (Ollama)</a:t>
              </a:r>
              <a:endParaRPr lang="en-US" sz="14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4276344" y="2733748"/>
              <a:ext cx="308762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Retrieval</a:t>
              </a:r>
              <a:endParaRPr lang="en-US" sz="16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4550664" y="3025001"/>
              <a:ext cx="308762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BM25, Qdrant, RRF, Cross-Encoder Re-ranking</a:t>
              </a:r>
              <a:endParaRPr lang="en-US" sz="14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4276344" y="3621512"/>
              <a:ext cx="308762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LLM</a:t>
              </a:r>
              <a:endParaRPr lang="en-US" sz="16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4596384" y="3688355"/>
              <a:ext cx="308762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Llama 3.1 (Ollama)</a:t>
              </a:r>
              <a:endParaRPr lang="en-US" sz="14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4276344" y="4179918"/>
              <a:ext cx="308762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F6FB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Application</a:t>
              </a:r>
              <a:endParaRPr lang="en-US" sz="16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4573524" y="4282370"/>
              <a:ext cx="308762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2303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FastAPI, Streamlit, python-docx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958328" y="901791"/>
              <a:ext cx="3544824" cy="4210536"/>
            </a:xfrm>
            <a:prstGeom prst="roundRect">
              <a:avLst>
                <a:gd name="adj" fmla="val 2064"/>
              </a:avLst>
            </a:prstGeom>
            <a:solidFill>
              <a:srgbClr val="E7EFF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8069164" y="1066383"/>
              <a:ext cx="2849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A6B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Expected Outcome</a:t>
              </a:r>
              <a:endParaRPr lang="en-US" sz="2000" dirty="0"/>
            </a:p>
          </p:txBody>
        </p:sp>
      </p:grpSp>
      <p:sp>
        <p:nvSpPr>
          <p:cNvPr id="28" name="Text 26"/>
          <p:cNvSpPr txBox="1"/>
          <p:nvPr/>
        </p:nvSpPr>
        <p:spPr>
          <a:xfrm>
            <a:off x="8186928" y="1510003"/>
            <a:ext cx="308762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legal precedent discovery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Context-aware retrieval of relevant judgments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extraction of key legal principles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AI-generated pro and contra arguments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Citation-supported legal research reports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Significant reduction in research time and cost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646986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PrecedentIQ  |  Slide 2 of 4</a:t>
            </a:r>
            <a:endParaRPr lang="en-US" sz="11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02FACADC-E2A3-9C87-1DD9-272AF4F17A3E}"/>
              </a:ext>
            </a:extLst>
          </p:cNvPr>
          <p:cNvSpPr/>
          <p:nvPr/>
        </p:nvSpPr>
        <p:spPr>
          <a:xfrm>
            <a:off x="279168" y="5478745"/>
            <a:ext cx="11455631" cy="791406"/>
          </a:xfrm>
          <a:prstGeom prst="roundRect">
            <a:avLst>
              <a:gd name="adj" fmla="val 133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3B36F786-7315-D60A-752D-07E5EA8E6184}"/>
              </a:ext>
            </a:extLst>
          </p:cNvPr>
          <p:cNvSpPr txBox="1"/>
          <p:nvPr/>
        </p:nvSpPr>
        <p:spPr>
          <a:xfrm>
            <a:off x="370193" y="5566063"/>
            <a:ext cx="110872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Workflow:  </a:t>
            </a:r>
            <a:r>
              <a:rPr lang="en-IN" sz="1600" dirty="0">
                <a:solidFill>
                  <a:srgbClr val="1B3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Judgment Collection → Legal Text Processing → Semantic &amp; Keyword Retrieval → Re-ranking → Precedent      Identification → Ratio Decidendi Extraction → Argument Synthesis → Structured Legal Research Report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07831"/>
            <a:ext cx="30876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Collected via web scraping and document parsing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Segmented into: Facts, Issues, Ratio Decidendi, Obiter Dicta, Final Order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Chunks embedded and stored in a vector database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657A94DD-CB47-5801-E0D4-63A5D0F2B973}"/>
              </a:ext>
            </a:extLst>
          </p:cNvPr>
          <p:cNvSpPr/>
          <p:nvPr/>
        </p:nvSpPr>
        <p:spPr>
          <a:xfrm>
            <a:off x="340268" y="619784"/>
            <a:ext cx="11391484" cy="791164"/>
          </a:xfrm>
          <a:prstGeom prst="roundRect">
            <a:avLst>
              <a:gd name="adj" fmla="val 16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" name="Text 0"/>
          <p:cNvSpPr txBox="1"/>
          <p:nvPr/>
        </p:nvSpPr>
        <p:spPr>
          <a:xfrm>
            <a:off x="185928" y="217447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2 · CYBERSECURITY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19783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SentinelOps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812473" y="771421"/>
            <a:ext cx="8648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“An Agentic AI Framework for Autonomous SIEM Alert Correlation, Threat Enrichment, and MITRE ATT&amp;CK-Grounded Incident Response”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 txBox="1"/>
          <p:nvPr/>
        </p:nvSpPr>
        <p:spPr>
          <a:xfrm>
            <a:off x="622900" y="1956816"/>
            <a:ext cx="4668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80310"/>
            <a:ext cx="49057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Operations Centers face thousands of SIEM alerts every day. Most are false positives, duplicates, or low-priority events, making manual triage time-consuming and inefficient. This leads to:</a:t>
            </a:r>
            <a:endParaRPr lang="en-US" sz="1400" i="1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377253"/>
            <a:ext cx="49057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fatigue and analyst burnout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Delayed threat detection and response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Difficulty identifying real attacks among noisy alerts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Lack of contextual threat intelligence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Inconsistent incident response workflows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7356" y="178308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 txBox="1"/>
          <p:nvPr/>
        </p:nvSpPr>
        <p:spPr>
          <a:xfrm>
            <a:off x="6429202" y="1956816"/>
            <a:ext cx="4668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554724" y="2459736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SentinelOps develops an agentic AI framework that autonomously analyzes and responds to security incidents by: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88836" y="3058668"/>
            <a:ext cx="490575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Ingesting alerts from Elasticsearch-based SIEM systems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Correlating related alerts using asset, time, and attack pattern analysis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Enriching alerts with threat intelligence from VirusTotal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Mapping threats to MITRE ATT&amp;CK tactics and techniques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Classifying incidents into Critical, High, Medium, Low severity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Generating AI-driven remediation playbooks for analysts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Reducing manual triage effort and improving SOC efficiency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8907" y="6429063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SentinelOps  |  Slide 3 of 4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192462-EFC1-0FC6-54EA-D1819573E563}"/>
              </a:ext>
            </a:extLst>
          </p:cNvPr>
          <p:cNvGrpSpPr/>
          <p:nvPr/>
        </p:nvGrpSpPr>
        <p:grpSpPr>
          <a:xfrm>
            <a:off x="457201" y="5728162"/>
            <a:ext cx="11274552" cy="712539"/>
            <a:chOff x="457201" y="5728162"/>
            <a:chExt cx="11274552" cy="712539"/>
          </a:xfrm>
        </p:grpSpPr>
        <p:sp>
          <p:nvSpPr>
            <p:cNvPr id="17" name="Shape 15"/>
            <p:cNvSpPr/>
            <p:nvPr/>
          </p:nvSpPr>
          <p:spPr>
            <a:xfrm>
              <a:off x="457201" y="5728162"/>
              <a:ext cx="11274552" cy="704088"/>
            </a:xfrm>
            <a:prstGeom prst="roundRect">
              <a:avLst>
                <a:gd name="adj" fmla="val 13333"/>
              </a:avLst>
            </a:prstGeom>
            <a:solidFill>
              <a:srgbClr val="E7EFF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12401" y="5736613"/>
              <a:ext cx="1081735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A6B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Workflow:  SIEM Alerts  →  Correlation  →  Threat Enrichment  →  MITRE Mapping  →  Severity Classification  →  Incident Response</a:t>
              </a:r>
              <a:endParaRPr lang="en-US" sz="1600" dirty="0"/>
            </a:p>
          </p:txBody>
        </p:sp>
      </p:grpSp>
      <p:sp>
        <p:nvSpPr>
          <p:cNvPr id="3" name="Text 1"/>
          <p:cNvSpPr txBox="1"/>
          <p:nvPr/>
        </p:nvSpPr>
        <p:spPr>
          <a:xfrm>
            <a:off x="457200" y="5257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Dataset, Technical Stack &amp; Expected Outcome</a:t>
            </a:r>
            <a:endParaRPr lang="en-US" sz="3200" i="1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44824" cy="4160520"/>
          </a:xfrm>
          <a:prstGeom prst="roundRect">
            <a:avLst>
              <a:gd name="adj" fmla="val 2064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 txBox="1"/>
          <p:nvPr/>
        </p:nvSpPr>
        <p:spPr>
          <a:xfrm>
            <a:off x="563326" y="1527048"/>
            <a:ext cx="284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Collection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30876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SIEM Alert Logs — Elasticsearch security logs (auth, firewall, endpoint, network)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VirusTotal Threat Intelligence — malicious IP/URL reputation, file hash analysis</a:t>
            </a:r>
            <a:endParaRPr lang="en-US" sz="1400" dirty="0"/>
          </a:p>
          <a:p>
            <a:pPr marL="177800" indent="-177800" algn="just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MITRE ATT&amp;CK Knowledge Base — tactics, techniques, recommended mitigations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064" y="1371600"/>
            <a:ext cx="3544824" cy="4160520"/>
          </a:xfrm>
          <a:prstGeom prst="roundRect">
            <a:avLst>
              <a:gd name="adj" fmla="val 2064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11" name="Text 9"/>
          <p:cNvSpPr txBox="1"/>
          <p:nvPr/>
        </p:nvSpPr>
        <p:spPr>
          <a:xfrm>
            <a:off x="4468368" y="1512778"/>
            <a:ext cx="284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Stack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1965960"/>
            <a:ext cx="3316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Framework: LangGraph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LLM: Ollama + Llama 3.1 8B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SIEM: Elasticsearch + Kibana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Intel: VirusTotal API + MITRE ATT&amp;CK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Correlation: Python, Pandas, Scikit-learn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</a:t>
            </a:r>
            <a:r>
              <a:rPr lang="en-US" sz="1400" dirty="0" err="1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React + Ant Design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Database: PostgreSQL + Redis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5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Notifications: Slack API / ntfy.sh  ·  Deploy: Docker Compose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6928" y="1371600"/>
            <a:ext cx="3544824" cy="4160520"/>
          </a:xfrm>
          <a:prstGeom prst="roundRect">
            <a:avLst>
              <a:gd name="adj" fmla="val 2064"/>
            </a:avLst>
          </a:prstGeom>
          <a:solidFill>
            <a:srgbClr val="E7EFF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15" name="Text 13"/>
          <p:cNvSpPr txBox="1"/>
          <p:nvPr/>
        </p:nvSpPr>
        <p:spPr>
          <a:xfrm>
            <a:off x="8415528" y="1512778"/>
            <a:ext cx="284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5528" y="1965960"/>
            <a:ext cx="30876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70% reduction in manual alert triage effort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threat detection and prioritization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MITRE ATT&amp;CK-based incident analysis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remediation recommendations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Mean Time to Detect &amp; Respond (MTTD/MTTR)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SentinelOps  |  Slide 4 of 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3493-7F72-A2EB-8983-FFB4CAF1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1E760D84-B298-4B4C-11F5-A51DB9656FE0}"/>
              </a:ext>
            </a:extLst>
          </p:cNvPr>
          <p:cNvSpPr/>
          <p:nvPr/>
        </p:nvSpPr>
        <p:spPr>
          <a:xfrm>
            <a:off x="706582" y="720435"/>
            <a:ext cx="10764982" cy="5514109"/>
          </a:xfrm>
          <a:prstGeom prst="roundRect">
            <a:avLst>
              <a:gd name="adj" fmla="val 2064"/>
            </a:avLst>
          </a:prstGeom>
          <a:solidFill>
            <a:srgbClr val="E7EFF9"/>
          </a:solidFill>
          <a:ln>
            <a:solidFill>
              <a:schemeClr val="accent1"/>
            </a:solidFill>
          </a:ln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C3FF2-A46B-0DF3-EC59-E3310BA5C7EE}"/>
              </a:ext>
            </a:extLst>
          </p:cNvPr>
          <p:cNvSpPr/>
          <p:nvPr/>
        </p:nvSpPr>
        <p:spPr>
          <a:xfrm>
            <a:off x="3372137" y="2602650"/>
            <a:ext cx="50929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658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757</Words>
  <Application>Microsoft Office PowerPoint</Application>
  <PresentationFormat>Widescreen</PresentationFormat>
  <Paragraphs>108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Krithana A</cp:lastModifiedBy>
  <cp:revision>7</cp:revision>
  <dcterms:created xsi:type="dcterms:W3CDTF">2026-08-26T12:49:59Z</dcterms:created>
  <dcterms:modified xsi:type="dcterms:W3CDTF">2026-08-27T14:28:42Z</dcterms:modified>
</cp:coreProperties>
</file>