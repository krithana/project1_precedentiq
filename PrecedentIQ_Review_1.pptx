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4" r:id="rId5"/>
    <p:sldId id="2147470495" r:id="rId6"/>
    <p:sldId id="2147470496" r:id="rId7"/>
    <p:sldId id="2147470497" r:id="rId8"/>
    <p:sldId id="2147470491" r:id="rId9"/>
    <p:sldId id="2147470487" r:id="rId10"/>
    <p:sldId id="2147470498" r:id="rId11"/>
    <p:sldId id="2147470499" r:id="rId12"/>
    <p:sldId id="2147470500" r:id="rId13"/>
    <p:sldId id="214747050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9093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Project Title</a:t>
            </a:r>
            <a:endParaRPr lang="en-US" sz="3600" b="1" dirty="0">
              <a:solidFill>
                <a:schemeClr val="bg1"/>
              </a:solidFill>
              <a:cs typeface="Calibri" panose="020F0502020204030204" pitchFamily="34" charset="0"/>
            </a:endParaRPr>
          </a:p>
          <a:p>
            <a:pPr algn="ctr">
              <a:defRPr/>
            </a:pPr>
            <a:r>
              <a:rPr lang="en-US" sz="3600" b="1" dirty="0">
                <a:solidFill>
                  <a:schemeClr val="bg1"/>
                </a:solidFill>
                <a:ea typeface="Times New Roman" pitchFamily="34" charset="-122"/>
                <a:cs typeface="Times New Roman" pitchFamily="34" charset="-120"/>
              </a:rPr>
              <a:t>A Hybrid Retrieval-Augmented Framework for Precedent Discovery and Argument Synthesis over Indian Case Law</a:t>
            </a:r>
          </a:p>
          <a:p>
            <a:pPr algn="ctr">
              <a:defRPr/>
            </a:pPr>
            <a:r>
              <a:rPr lang="en-US" sz="3600" b="1" dirty="0" err="1">
                <a:solidFill>
                  <a:schemeClr val="bg1"/>
                </a:solidFill>
                <a:latin typeface="Times New Roman" pitchFamily="34" charset="0"/>
                <a:ea typeface="Times New Roman" pitchFamily="34" charset="-122"/>
                <a:cs typeface="Times New Roman" pitchFamily="34" charset="-120"/>
              </a:rPr>
              <a:t>PrecedentIQ</a:t>
            </a:r>
            <a:endParaRPr lang="en-US" sz="3600" dirty="0">
              <a:solidFill>
                <a:schemeClr val="bg1"/>
              </a:solidFill>
            </a:endParaRPr>
          </a:p>
          <a:p>
            <a:pPr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Presented By</a:t>
            </a:r>
          </a:p>
          <a:p>
            <a:pPr algn="ctr">
              <a:defRPr/>
            </a:pPr>
            <a:r>
              <a:rPr lang="en-US" sz="2400" b="1" dirty="0" err="1">
                <a:solidFill>
                  <a:prstClr val="white"/>
                </a:solidFill>
                <a:cs typeface="Calibri" panose="020F0502020204030204" pitchFamily="34" charset="0"/>
              </a:rPr>
              <a:t>Krithana</a:t>
            </a:r>
            <a:r>
              <a:rPr lang="en-US" sz="2400" b="1" dirty="0">
                <a:solidFill>
                  <a:prstClr val="white"/>
                </a:solidFill>
                <a:cs typeface="Calibri" panose="020F0502020204030204" pitchFamily="34" charset="0"/>
              </a:rPr>
              <a:t> A</a:t>
            </a:r>
          </a:p>
          <a:p>
            <a:pPr algn="ctr">
              <a:defRPr/>
            </a:pPr>
            <a:r>
              <a:rPr lang="en-US" sz="2400" b="1" dirty="0">
                <a:solidFill>
                  <a:prstClr val="white"/>
                </a:solidFill>
                <a:cs typeface="Calibri" panose="020F0502020204030204" pitchFamily="34" charset="0"/>
              </a:rPr>
              <a:t>VIT Vellore</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3238598375"/>
              </p:ext>
            </p:extLst>
          </p:nvPr>
        </p:nvGraphicFramePr>
        <p:xfrm>
          <a:off x="-47216" y="536381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sp>
        <p:nvSpPr>
          <p:cNvPr id="10" name="Rectangle 9">
            <a:extLst>
              <a:ext uri="{FF2B5EF4-FFF2-40B4-BE49-F238E27FC236}">
                <a16:creationId xmlns:a16="http://schemas.microsoft.com/office/drawing/2014/main" id="{3AAB143E-200F-E7B5-3F72-2292EF28BF3A}"/>
              </a:ext>
            </a:extLst>
          </p:cNvPr>
          <p:cNvSpPr/>
          <p:nvPr/>
        </p:nvSpPr>
        <p:spPr>
          <a:xfrm>
            <a:off x="148893" y="5841952"/>
            <a:ext cx="2072639" cy="9185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Image 13">
            <a:extLst>
              <a:ext uri="{FF2B5EF4-FFF2-40B4-BE49-F238E27FC236}">
                <a16:creationId xmlns:a16="http://schemas.microsoft.com/office/drawing/2014/main" id="{47C3C0A0-AC2F-25F0-4BA5-4214795F8614}"/>
              </a:ext>
            </a:extLst>
          </p:cNvPr>
          <p:cNvPicPr>
            <a:picLocks/>
          </p:cNvPicPr>
          <p:nvPr/>
        </p:nvPicPr>
        <p:blipFill>
          <a:blip r:embed="rId3" cstate="print"/>
          <a:stretch>
            <a:fillRect/>
          </a:stretch>
        </p:blipFill>
        <p:spPr>
          <a:xfrm>
            <a:off x="245907" y="5903157"/>
            <a:ext cx="1878609" cy="786275"/>
          </a:xfrm>
          <a:prstGeom prst="rect">
            <a:avLst/>
          </a:prstGeom>
        </p:spPr>
      </p:pic>
    </p:spTree>
    <p:extLst>
      <p:ext uri="{BB962C8B-B14F-4D97-AF65-F5344CB8AC3E}">
        <p14:creationId xmlns:p14="http://schemas.microsoft.com/office/powerpoint/2010/main" val="34495075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8032871" cy="4142989"/>
          </a:xfrm>
        </p:spPr>
        <p:txBody>
          <a:bodyPr wrap="square"/>
          <a:lstStyle/>
          <a:p>
            <a:pPr marL="256032" indent="-256032" algn="just">
              <a:lnSpc>
                <a:spcPct val="100000"/>
              </a:lnSpc>
              <a:spcAft>
                <a:spcPts val="1000"/>
              </a:spcAft>
              <a:buNone/>
            </a:pPr>
            <a:r>
              <a:rPr sz="1800" b="1" dirty="0">
                <a:solidFill>
                  <a:srgbClr val="13294B"/>
                </a:solidFill>
                <a:latin typeface="Calibri"/>
              </a:rPr>
              <a:t>• The problem: </a:t>
            </a:r>
            <a:r>
              <a:rPr sz="1800" b="0" dirty="0">
                <a:solidFill>
                  <a:srgbClr val="1A1A1A"/>
                </a:solidFill>
                <a:latin typeface="Calibri"/>
              </a:rPr>
              <a:t>Junior advocates and small law firms in India spend weeks manually searching thousands of Supreme Court and High Court judgments to locate relevant precedents — a slow, incomplete process.</a:t>
            </a:r>
            <a:endParaRPr lang="en-US" sz="2400" b="0" dirty="0">
              <a:solidFill>
                <a:srgbClr val="5583D1"/>
              </a:solidFill>
            </a:endParaRPr>
          </a:p>
          <a:p>
            <a:pPr marL="256032" indent="-256032" algn="just">
              <a:lnSpc>
                <a:spcPct val="100000"/>
              </a:lnSpc>
              <a:spcAft>
                <a:spcPts val="1000"/>
              </a:spcAft>
              <a:buNone/>
            </a:pPr>
            <a:r>
              <a:rPr sz="1800" b="1" dirty="0">
                <a:solidFill>
                  <a:srgbClr val="13294B"/>
                </a:solidFill>
                <a:latin typeface="Calibri"/>
              </a:rPr>
              <a:t>• The scale: </a:t>
            </a:r>
            <a:r>
              <a:rPr sz="1800" b="0" dirty="0">
                <a:solidFill>
                  <a:srgbClr val="1A1A1A"/>
                </a:solidFill>
                <a:latin typeface="Calibri"/>
              </a:rPr>
              <a:t>Indian courts carry over 5.4 crore pending cases (NJDG, 2025); senior lawyer research time costs ₹2,000–10,000 per hour, pricing thorough research out of reach for smaller practices.</a:t>
            </a:r>
          </a:p>
          <a:p>
            <a:pPr marL="256032" indent="-256032" algn="just">
              <a:lnSpc>
                <a:spcPct val="100000"/>
              </a:lnSpc>
              <a:spcAft>
                <a:spcPts val="1000"/>
              </a:spcAft>
              <a:buNone/>
            </a:pPr>
            <a:r>
              <a:rPr sz="1800" b="1" dirty="0">
                <a:solidFill>
                  <a:srgbClr val="13294B"/>
                </a:solidFill>
                <a:latin typeface="Calibri"/>
              </a:rPr>
              <a:t>• Beyond search: </a:t>
            </a:r>
            <a:r>
              <a:rPr sz="1800" b="0" dirty="0">
                <a:solidFill>
                  <a:srgbClr val="1A1A1A"/>
                </a:solidFill>
                <a:latin typeface="Calibri"/>
              </a:rPr>
              <a:t>Even after finding a precedent, an advocate must manually separate the binding ratio decidendi from non-binding obiter dicta, then hand-draft a pro/contra argument with citations.</a:t>
            </a:r>
          </a:p>
          <a:p>
            <a:pPr marL="256032" indent="-256032" algn="just">
              <a:lnSpc>
                <a:spcPct val="100000"/>
              </a:lnSpc>
              <a:spcAft>
                <a:spcPts val="1000"/>
              </a:spcAft>
              <a:buNone/>
            </a:pPr>
            <a:r>
              <a:rPr sz="1800" b="1" dirty="0">
                <a:solidFill>
                  <a:srgbClr val="13294B"/>
                </a:solidFill>
                <a:latin typeface="Calibri"/>
              </a:rPr>
              <a:t>•</a:t>
            </a:r>
            <a:r>
              <a:rPr sz="1800" dirty="0">
                <a:solidFill>
                  <a:srgbClr val="13294B"/>
                </a:solidFill>
                <a:latin typeface="Calibri"/>
              </a:rPr>
              <a:t> </a:t>
            </a:r>
            <a:r>
              <a:rPr sz="1800" b="1" dirty="0">
                <a:solidFill>
                  <a:srgbClr val="13294B"/>
                </a:solidFill>
                <a:latin typeface="Calibri"/>
              </a:rPr>
              <a:t>Our approach: </a:t>
            </a:r>
            <a:r>
              <a:rPr sz="1800" b="0" dirty="0" err="1">
                <a:solidFill>
                  <a:srgbClr val="1A1A1A"/>
                </a:solidFill>
                <a:latin typeface="Calibri"/>
              </a:rPr>
              <a:t>PrecedentIQ</a:t>
            </a:r>
            <a:r>
              <a:rPr sz="1800" b="0" dirty="0">
                <a:solidFill>
                  <a:srgbClr val="1A1A1A"/>
                </a:solidFill>
                <a:latin typeface="Calibri"/>
              </a:rPr>
              <a:t> is a Retrieval-Augmented Generation (RAG) framework that automates this entire chain — retrieval, holding extraction, and citation-linked argument synthesis — grounded strictly in real Indian case law, not open-ended LLM generation.</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pic>
        <p:nvPicPr>
          <p:cNvPr id="7" name="Picture 6" descr="The image depicts a professional, likely a lawyer, engrossed in work, using a laptop to manage and search through extensive legal documents, highlighting the struggle against information overload, and the transformative impact of an AI tool that enhances their research capabilities.&#10;&#10;AI-generated content may be incorrect.">
            <a:extLst>
              <a:ext uri="{FF2B5EF4-FFF2-40B4-BE49-F238E27FC236}">
                <a16:creationId xmlns:a16="http://schemas.microsoft.com/office/drawing/2014/main" id="{BDE2A9B0-0C11-A25D-ACD2-C7A9197CE289}"/>
              </a:ext>
            </a:extLst>
          </p:cNvPr>
          <p:cNvPicPr>
            <a:picLocks noChangeAspect="1"/>
          </p:cNvPicPr>
          <p:nvPr/>
        </p:nvPicPr>
        <p:blipFill>
          <a:blip r:embed="rId2">
            <a:extLst>
              <a:ext uri="{28A0092B-C50C-407E-A947-70E740481C1C}">
                <a14:useLocalDpi xmlns:a14="http://schemas.microsoft.com/office/drawing/2010/main" val="0"/>
              </a:ext>
            </a:extLst>
          </a:blip>
          <a:srcRect l="43747" t="6419" r="1293" b="9383"/>
          <a:stretch>
            <a:fillRect/>
          </a:stretch>
        </p:blipFill>
        <p:spPr>
          <a:xfrm>
            <a:off x="8439269" y="884768"/>
            <a:ext cx="3496735" cy="508846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0881806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5456749" y="1357505"/>
            <a:ext cx="6479255" cy="4696149"/>
          </a:xfrm>
        </p:spPr>
        <p:txBody>
          <a:bodyPr wrap="square"/>
          <a:lstStyle/>
          <a:p>
            <a:pPr marL="256032" indent="-256032" algn="just">
              <a:lnSpc>
                <a:spcPct val="100000"/>
              </a:lnSpc>
              <a:spcAft>
                <a:spcPts val="1000"/>
              </a:spcAft>
              <a:buNone/>
            </a:pPr>
            <a:r>
              <a:rPr sz="1600" b="1" dirty="0">
                <a:solidFill>
                  <a:srgbClr val="13294B"/>
                </a:solidFill>
                <a:latin typeface="Calibri"/>
              </a:rPr>
              <a:t>•  </a:t>
            </a:r>
            <a:r>
              <a:rPr lang="en-US" sz="1600" dirty="0">
                <a:solidFill>
                  <a:srgbClr val="13294B"/>
                </a:solidFill>
                <a:latin typeface="Calibri"/>
              </a:rPr>
              <a:t>O1: </a:t>
            </a:r>
            <a:r>
              <a:rPr lang="en-US" sz="1600" b="0" dirty="0">
                <a:solidFill>
                  <a:srgbClr val="1A1A1A"/>
                </a:solidFill>
                <a:latin typeface="Calibri"/>
              </a:rPr>
              <a:t>Build a legal-domain hybrid retrieval pipeline (dense + sparse, RRF-fused) achieving measurable nDCG@10 / MRR on a held-out precedent-relevance query set.</a:t>
            </a:r>
            <a:endParaRPr lang="en-US" sz="2000" b="0" dirty="0">
              <a:solidFill>
                <a:srgbClr val="5583D1"/>
              </a:solidFill>
            </a:endParaRPr>
          </a:p>
          <a:p>
            <a:pPr marL="256032" indent="-256032" algn="just">
              <a:lnSpc>
                <a:spcPct val="100000"/>
              </a:lnSpc>
              <a:spcAft>
                <a:spcPts val="1000"/>
              </a:spcAft>
              <a:buNone/>
            </a:pPr>
            <a:r>
              <a:rPr lang="en-US" sz="1600" dirty="0">
                <a:solidFill>
                  <a:srgbClr val="13294B"/>
                </a:solidFill>
                <a:latin typeface="Calibri"/>
              </a:rPr>
              <a:t>•  </a:t>
            </a:r>
            <a:r>
              <a:rPr sz="1600" b="1" dirty="0">
                <a:solidFill>
                  <a:srgbClr val="13294B"/>
                </a:solidFill>
                <a:latin typeface="Calibri"/>
              </a:rPr>
              <a:t>O2: </a:t>
            </a:r>
            <a:r>
              <a:rPr sz="1600" b="0" dirty="0">
                <a:solidFill>
                  <a:srgbClr val="1A1A1A"/>
                </a:solidFill>
                <a:latin typeface="Calibri"/>
              </a:rPr>
              <a:t>Implement structural chunking (Facts / Issues / Ratio / Obiter / Order) and an LLM-based holding </a:t>
            </a:r>
            <a:r>
              <a:rPr sz="1600" b="0" dirty="0" err="1">
                <a:solidFill>
                  <a:srgbClr val="1A1A1A"/>
                </a:solidFill>
                <a:latin typeface="Calibri"/>
              </a:rPr>
              <a:t>summariser</a:t>
            </a:r>
            <a:r>
              <a:rPr sz="1600" b="0" dirty="0">
                <a:solidFill>
                  <a:srgbClr val="1A1A1A"/>
                </a:solidFill>
                <a:latin typeface="Calibri"/>
              </a:rPr>
              <a:t>, validated against gold-annotated judgments (IL-TUR).</a:t>
            </a:r>
          </a:p>
          <a:p>
            <a:pPr marL="256032" indent="-256032" algn="just">
              <a:lnSpc>
                <a:spcPct val="100000"/>
              </a:lnSpc>
              <a:spcAft>
                <a:spcPts val="1000"/>
              </a:spcAft>
              <a:buNone/>
            </a:pPr>
            <a:r>
              <a:rPr sz="1600" b="1" dirty="0">
                <a:solidFill>
                  <a:srgbClr val="13294B"/>
                </a:solidFill>
                <a:latin typeface="Calibri"/>
              </a:rPr>
              <a:t>•  O3: </a:t>
            </a:r>
            <a:r>
              <a:rPr sz="1600" b="0" dirty="0">
                <a:solidFill>
                  <a:srgbClr val="1A1A1A"/>
                </a:solidFill>
                <a:latin typeface="Calibri"/>
              </a:rPr>
              <a:t>Deliver a citation-linked pro/contra argument-outline drafter where every generated claim traces back to a retrieved source judgment.</a:t>
            </a:r>
          </a:p>
          <a:p>
            <a:pPr marL="256032" indent="-256032" algn="just">
              <a:lnSpc>
                <a:spcPct val="100000"/>
              </a:lnSpc>
              <a:spcAft>
                <a:spcPts val="1000"/>
              </a:spcAft>
              <a:buNone/>
            </a:pPr>
            <a:r>
              <a:rPr sz="1600" b="1" dirty="0">
                <a:solidFill>
                  <a:srgbClr val="13294B"/>
                </a:solidFill>
                <a:latin typeface="Calibri"/>
              </a:rPr>
              <a:t>•  O4: </a:t>
            </a:r>
            <a:r>
              <a:rPr sz="1600" b="0" dirty="0">
                <a:solidFill>
                  <a:srgbClr val="1A1A1A"/>
                </a:solidFill>
                <a:latin typeface="Calibri"/>
              </a:rPr>
              <a:t>Support session-specific retrieval grounded in an advocate's own uploaded case file, alongside the corpus-wide index.</a:t>
            </a:r>
          </a:p>
          <a:p>
            <a:pPr marL="256032" indent="-256032" algn="just">
              <a:lnSpc>
                <a:spcPct val="100000"/>
              </a:lnSpc>
              <a:spcAft>
                <a:spcPts val="1000"/>
              </a:spcAft>
              <a:buNone/>
            </a:pPr>
            <a:r>
              <a:rPr sz="1600" b="1" dirty="0">
                <a:solidFill>
                  <a:srgbClr val="13294B"/>
                </a:solidFill>
                <a:latin typeface="Calibri"/>
              </a:rPr>
              <a:t>•  O5: </a:t>
            </a:r>
            <a:r>
              <a:rPr sz="1600" b="0" dirty="0">
                <a:solidFill>
                  <a:srgbClr val="1A1A1A"/>
                </a:solidFill>
                <a:latin typeface="Calibri"/>
              </a:rPr>
              <a:t>Statistically validate retrieval quality and holding-extraction accuracy using nDCG@10, MRR, bootstrap confidence intervals, and ROUGE-L against gold data.</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Objectives</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grpSp>
        <p:nvGrpSpPr>
          <p:cNvPr id="11" name="Group 10">
            <a:extLst>
              <a:ext uri="{FF2B5EF4-FFF2-40B4-BE49-F238E27FC236}">
                <a16:creationId xmlns:a16="http://schemas.microsoft.com/office/drawing/2014/main" id="{0C8484FE-E691-6B48-6AE5-A668EDA9B26F}"/>
              </a:ext>
            </a:extLst>
          </p:cNvPr>
          <p:cNvGrpSpPr/>
          <p:nvPr/>
        </p:nvGrpSpPr>
        <p:grpSpPr>
          <a:xfrm>
            <a:off x="221274" y="1774421"/>
            <a:ext cx="5200753" cy="3288644"/>
            <a:chOff x="221274" y="1774421"/>
            <a:chExt cx="5200753" cy="3288644"/>
          </a:xfrm>
        </p:grpSpPr>
        <p:pic>
          <p:nvPicPr>
            <p:cNvPr id="7" name="Picture 6" descr="The diagram illustrates a six-step process for hybrid retrieval, starting with a pipeline, followed by LO, nDCG@10, and MRR metrics, then moving on to fact verification, issues analysis, and ratio validation. The final steps involve chunking, order validation, session grounding, and argument synthesis, leading to the project objectives and a university branding tag.&#10;&#10;AI-generated content may be incorrect.">
              <a:extLst>
                <a:ext uri="{FF2B5EF4-FFF2-40B4-BE49-F238E27FC236}">
                  <a16:creationId xmlns:a16="http://schemas.microsoft.com/office/drawing/2014/main" id="{A907313A-528D-530C-B89E-FC55AA932A99}"/>
                </a:ext>
              </a:extLst>
            </p:cNvPr>
            <p:cNvPicPr>
              <a:picLocks noChangeAspect="1"/>
            </p:cNvPicPr>
            <p:nvPr/>
          </p:nvPicPr>
          <p:blipFill>
            <a:blip r:embed="rId2">
              <a:extLst>
                <a:ext uri="{28A0092B-C50C-407E-A947-70E740481C1C}">
                  <a14:useLocalDpi xmlns:a14="http://schemas.microsoft.com/office/drawing/2010/main" val="0"/>
                </a:ext>
              </a:extLst>
            </a:blip>
            <a:srcRect l="8911" t="5309" r="6063" b="-39"/>
            <a:stretch>
              <a:fillRect/>
            </a:stretch>
          </p:blipFill>
          <p:spPr>
            <a:xfrm>
              <a:off x="255996" y="1774421"/>
              <a:ext cx="5166031" cy="3212446"/>
            </a:xfrm>
            <a:prstGeom prst="rect">
              <a:avLst/>
            </a:prstGeom>
          </p:spPr>
        </p:pic>
        <p:sp>
          <p:nvSpPr>
            <p:cNvPr id="8" name="Rectangle 7">
              <a:extLst>
                <a:ext uri="{FF2B5EF4-FFF2-40B4-BE49-F238E27FC236}">
                  <a16:creationId xmlns:a16="http://schemas.microsoft.com/office/drawing/2014/main" id="{926B01F6-45D3-E265-507F-291FC50BF7F5}"/>
                </a:ext>
              </a:extLst>
            </p:cNvPr>
            <p:cNvSpPr/>
            <p:nvPr/>
          </p:nvSpPr>
          <p:spPr>
            <a:xfrm>
              <a:off x="221274" y="4588933"/>
              <a:ext cx="1048726" cy="3979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85E61474-0598-287C-CB18-4E1E19B305D2}"/>
                </a:ext>
              </a:extLst>
            </p:cNvPr>
            <p:cNvSpPr/>
            <p:nvPr/>
          </p:nvSpPr>
          <p:spPr>
            <a:xfrm>
              <a:off x="4373301" y="4665134"/>
              <a:ext cx="1048726" cy="3979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Project Scope</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
        <p:nvSpPr>
          <p:cNvPr id="13" name="TextBox 12">
            <a:extLst>
              <a:ext uri="{FF2B5EF4-FFF2-40B4-BE49-F238E27FC236}">
                <a16:creationId xmlns:a16="http://schemas.microsoft.com/office/drawing/2014/main" id="{2F3FC173-7D15-EF87-4369-749F07C389B9}"/>
              </a:ext>
            </a:extLst>
          </p:cNvPr>
          <p:cNvSpPr txBox="1"/>
          <p:nvPr/>
        </p:nvSpPr>
        <p:spPr>
          <a:xfrm>
            <a:off x="356886" y="1431403"/>
            <a:ext cx="5036917" cy="3416320"/>
          </a:xfrm>
          <a:prstGeom prst="rect">
            <a:avLst/>
          </a:prstGeom>
          <a:noFill/>
        </p:spPr>
        <p:txBody>
          <a:bodyPr wrap="square" rtlCol="0">
            <a:spAutoFit/>
          </a:bodyPr>
          <a:lstStyle/>
          <a:p>
            <a:r>
              <a:rPr lang="en-IN" b="1" dirty="0">
                <a:solidFill>
                  <a:schemeClr val="accent1"/>
                </a:solidFill>
              </a:rPr>
              <a:t>In Scope</a:t>
            </a:r>
            <a:endParaRPr lang="en-IN" dirty="0">
              <a:solidFill>
                <a:schemeClr val="accent1"/>
              </a:solidFill>
            </a:endParaRPr>
          </a:p>
          <a:p>
            <a:pPr marL="285750" lvl="0" indent="-285750">
              <a:buFont typeface="Arial" panose="020B0604020202020204" pitchFamily="34" charset="0"/>
              <a:buChar char="•"/>
            </a:pPr>
            <a:r>
              <a:rPr lang="en-IN" dirty="0"/>
              <a:t>English SC &amp; High Court judgments (Indian case law)</a:t>
            </a:r>
          </a:p>
          <a:p>
            <a:pPr marL="285750" lvl="0" indent="-285750">
              <a:buFont typeface="Arial" panose="020B0604020202020204" pitchFamily="34" charset="0"/>
              <a:buChar char="•"/>
            </a:pPr>
            <a:r>
              <a:rPr lang="en-IN" dirty="0"/>
              <a:t>Hybrid retrieval (semantic + exact match) with reranking</a:t>
            </a:r>
          </a:p>
          <a:p>
            <a:pPr marL="285750" lvl="0" indent="-285750">
              <a:buFont typeface="Arial" panose="020B0604020202020204" pitchFamily="34" charset="0"/>
              <a:buChar char="•"/>
            </a:pPr>
            <a:r>
              <a:rPr lang="en-IN" dirty="0"/>
              <a:t>Structural chunking → holding extraction (ratio vs. obiter)</a:t>
            </a:r>
          </a:p>
          <a:p>
            <a:pPr marL="285750" lvl="0" indent="-285750">
              <a:buFont typeface="Arial" panose="020B0604020202020204" pitchFamily="34" charset="0"/>
              <a:buChar char="•"/>
            </a:pPr>
            <a:r>
              <a:rPr lang="en-IN" dirty="0"/>
              <a:t>Citation-linked argument-outline drafting</a:t>
            </a:r>
          </a:p>
          <a:p>
            <a:pPr marL="285750" lvl="0" indent="-285750">
              <a:buFont typeface="Arial" panose="020B0604020202020204" pitchFamily="34" charset="0"/>
              <a:buChar char="•"/>
            </a:pPr>
            <a:r>
              <a:rPr lang="en-IN" dirty="0"/>
              <a:t>Case-file upload for session-specific retrieval</a:t>
            </a:r>
          </a:p>
          <a:p>
            <a:pPr marL="285750" lvl="0" indent="-285750">
              <a:buFont typeface="Arial" panose="020B0604020202020204" pitchFamily="34" charset="0"/>
              <a:buChar char="•"/>
            </a:pPr>
            <a:r>
              <a:rPr lang="en-IN" dirty="0"/>
              <a:t>Word export + statistical evaluation (nDCG@10, MRR, ROUGE-L)</a:t>
            </a:r>
          </a:p>
          <a:p>
            <a:endParaRPr lang="en-IN" dirty="0"/>
          </a:p>
        </p:txBody>
      </p:sp>
      <p:sp>
        <p:nvSpPr>
          <p:cNvPr id="15" name="TextBox 14">
            <a:extLst>
              <a:ext uri="{FF2B5EF4-FFF2-40B4-BE49-F238E27FC236}">
                <a16:creationId xmlns:a16="http://schemas.microsoft.com/office/drawing/2014/main" id="{1AE0441F-74A3-9237-A496-603828F31A68}"/>
              </a:ext>
            </a:extLst>
          </p:cNvPr>
          <p:cNvSpPr txBox="1"/>
          <p:nvPr/>
        </p:nvSpPr>
        <p:spPr>
          <a:xfrm>
            <a:off x="6093893" y="1431403"/>
            <a:ext cx="5272446" cy="4524315"/>
          </a:xfrm>
          <a:prstGeom prst="rect">
            <a:avLst/>
          </a:prstGeom>
          <a:noFill/>
        </p:spPr>
        <p:txBody>
          <a:bodyPr wrap="square" rtlCol="0">
            <a:spAutoFit/>
          </a:bodyPr>
          <a:lstStyle/>
          <a:p>
            <a:r>
              <a:rPr lang="en-IN" b="1" dirty="0">
                <a:solidFill>
                  <a:schemeClr val="accent1"/>
                </a:solidFill>
              </a:rPr>
              <a:t>Out of Scope</a:t>
            </a:r>
            <a:endParaRPr lang="en-IN" dirty="0">
              <a:solidFill>
                <a:schemeClr val="accent1"/>
              </a:solidFill>
            </a:endParaRPr>
          </a:p>
          <a:p>
            <a:pPr marL="285750" lvl="0" indent="-285750">
              <a:buFont typeface="Arial" panose="020B0604020202020204" pitchFamily="34" charset="0"/>
              <a:buChar char="•"/>
            </a:pPr>
            <a:r>
              <a:rPr lang="en-IN" dirty="0"/>
              <a:t>Regional languages, lower court orders</a:t>
            </a:r>
          </a:p>
          <a:p>
            <a:pPr marL="285750" lvl="0" indent="-285750">
              <a:buFont typeface="Arial" panose="020B0604020202020204" pitchFamily="34" charset="0"/>
              <a:buChar char="•"/>
            </a:pPr>
            <a:r>
              <a:rPr lang="en-IN" dirty="0"/>
              <a:t>Case filing/management features</a:t>
            </a:r>
          </a:p>
          <a:p>
            <a:pPr marL="285750" lvl="0" indent="-285750">
              <a:buFont typeface="Arial" panose="020B0604020202020204" pitchFamily="34" charset="0"/>
              <a:buChar char="•"/>
            </a:pPr>
            <a:r>
              <a:rPr lang="en-IN" dirty="0"/>
              <a:t>Final legal advice or outcome prediction — outputs are advocate-reviewed drafts only</a:t>
            </a:r>
          </a:p>
          <a:p>
            <a:pPr marL="285750" lvl="0" indent="-285750">
              <a:buFont typeface="Arial" panose="020B0604020202020204" pitchFamily="34" charset="0"/>
              <a:buChar char="•"/>
            </a:pPr>
            <a:r>
              <a:rPr lang="en-IN" dirty="0"/>
              <a:t>Non-Indian case law</a:t>
            </a:r>
          </a:p>
          <a:p>
            <a:pPr marL="285750" lvl="0" indent="-285750">
              <a:buFont typeface="Arial" panose="020B0604020202020204" pitchFamily="34" charset="0"/>
              <a:buChar char="•"/>
            </a:pPr>
            <a:r>
              <a:rPr lang="en-IN" dirty="0"/>
              <a:t>Production infrastructure (caching, autoscaling) — future work</a:t>
            </a:r>
          </a:p>
          <a:p>
            <a:pPr marL="285750" lvl="0" indent="-285750">
              <a:buFont typeface="Arial" panose="020B0604020202020204" pitchFamily="34" charset="0"/>
              <a:buChar char="•"/>
            </a:pPr>
            <a:endParaRPr lang="en-IN" dirty="0"/>
          </a:p>
          <a:p>
            <a:r>
              <a:rPr lang="en-IN" b="1" dirty="0">
                <a:solidFill>
                  <a:schemeClr val="accent1"/>
                </a:solidFill>
              </a:rPr>
              <a:t>Data Boundary</a:t>
            </a:r>
            <a:endParaRPr lang="en-IN" dirty="0">
              <a:solidFill>
                <a:schemeClr val="accent1"/>
              </a:solidFill>
            </a:endParaRPr>
          </a:p>
          <a:p>
            <a:pPr marL="285750" lvl="0" indent="-285750">
              <a:buFont typeface="Arial" panose="020B0604020202020204" pitchFamily="34" charset="0"/>
              <a:buChar char="•"/>
            </a:pPr>
            <a:r>
              <a:rPr lang="en-IN" dirty="0"/>
              <a:t>Corpus: AWS Open Data Registry (</a:t>
            </a:r>
            <a:r>
              <a:rPr lang="en-IN" dirty="0" err="1"/>
              <a:t>eCourts</a:t>
            </a:r>
            <a:r>
              <a:rPr lang="en-IN" dirty="0"/>
              <a:t>-sourced SC + HC judgments)</a:t>
            </a:r>
          </a:p>
          <a:p>
            <a:pPr marL="285750" lvl="0" indent="-285750">
              <a:buFont typeface="Arial" panose="020B0604020202020204" pitchFamily="34" charset="0"/>
              <a:buChar char="•"/>
            </a:pPr>
            <a:r>
              <a:rPr lang="en-IN" dirty="0"/>
              <a:t>Validation: IL-TUR, ILDC, and </a:t>
            </a:r>
            <a:r>
              <a:rPr lang="en-IN" dirty="0" err="1"/>
              <a:t>LawSum</a:t>
            </a:r>
            <a:r>
              <a:rPr lang="en-IN" dirty="0"/>
              <a:t> (for retrieval and holding-extraction accuracy benchmarking)</a:t>
            </a:r>
          </a:p>
          <a:p>
            <a:pPr marL="285750" lvl="0" indent="-285750">
              <a:buFont typeface="Arial" panose="020B0604020202020204" pitchFamily="34" charset="0"/>
              <a:buChar char="•"/>
            </a:pPr>
            <a:endParaRPr lang="en-IN" dirty="0"/>
          </a:p>
          <a:p>
            <a:endParaRPr lang="en-IN" dirty="0"/>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9C03-8E92-54D7-6EE2-33DC2B5C67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B3663C-4C71-EB2A-170D-22878BAC4C6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a:t>
            </a:r>
          </a:p>
        </p:txBody>
      </p:sp>
      <p:cxnSp>
        <p:nvCxnSpPr>
          <p:cNvPr id="5" name="Straight Connector 4">
            <a:extLst>
              <a:ext uri="{FF2B5EF4-FFF2-40B4-BE49-F238E27FC236}">
                <a16:creationId xmlns:a16="http://schemas.microsoft.com/office/drawing/2014/main" id="{B91B76A7-3EE1-470C-EBA7-8F98E8FFE10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4F4041-8131-3536-FDDF-513CA3ABA63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888605375"/>
              </p:ext>
            </p:extLst>
          </p:nvPr>
        </p:nvGraphicFramePr>
        <p:xfrm>
          <a:off x="821266" y="1297168"/>
          <a:ext cx="10828867" cy="4793855"/>
        </p:xfrm>
        <a:graphic>
          <a:graphicData uri="http://schemas.openxmlformats.org/drawingml/2006/table">
            <a:tbl>
              <a:tblPr firstRow="1" bandRow="1">
                <a:tableStyleId>{5C22544A-7EE6-4342-B048-85BDC9FD1C3A}</a:tableStyleId>
              </a:tblPr>
              <a:tblGrid>
                <a:gridCol w="2422982">
                  <a:extLst>
                    <a:ext uri="{9D8B030D-6E8A-4147-A177-3AD203B41FA5}">
                      <a16:colId xmlns:a16="http://schemas.microsoft.com/office/drawing/2014/main" val="20000"/>
                    </a:ext>
                  </a:extLst>
                </a:gridCol>
                <a:gridCol w="4380007">
                  <a:extLst>
                    <a:ext uri="{9D8B030D-6E8A-4147-A177-3AD203B41FA5}">
                      <a16:colId xmlns:a16="http://schemas.microsoft.com/office/drawing/2014/main" val="20001"/>
                    </a:ext>
                  </a:extLst>
                </a:gridCol>
                <a:gridCol w="4025878">
                  <a:extLst>
                    <a:ext uri="{9D8B030D-6E8A-4147-A177-3AD203B41FA5}">
                      <a16:colId xmlns:a16="http://schemas.microsoft.com/office/drawing/2014/main" val="20002"/>
                    </a:ext>
                  </a:extLst>
                </a:gridCol>
              </a:tblGrid>
              <a:tr h="709535">
                <a:tc>
                  <a:txBody>
                    <a:bodyPr/>
                    <a:lstStyle/>
                    <a:p>
                      <a:r>
                        <a:rPr sz="1600" b="1" dirty="0">
                          <a:solidFill>
                            <a:srgbClr val="FFFFFF"/>
                          </a:solidFill>
                        </a:rPr>
                        <a:t>Title / Citation</a:t>
                      </a:r>
                    </a:p>
                  </a:txBody>
                  <a:tcPr>
                    <a:solidFill>
                      <a:srgbClr val="13294B"/>
                    </a:solidFill>
                  </a:tcPr>
                </a:tc>
                <a:tc>
                  <a:txBody>
                    <a:bodyPr/>
                    <a:lstStyle/>
                    <a:p>
                      <a:r>
                        <a:rPr sz="1600" b="1" dirty="0">
                          <a:solidFill>
                            <a:srgbClr val="FFFFFF"/>
                          </a:solidFill>
                        </a:rPr>
                        <a:t>Summary of Methods &amp; Contribution</a:t>
                      </a:r>
                    </a:p>
                  </a:txBody>
                  <a:tcPr>
                    <a:solidFill>
                      <a:srgbClr val="13294B"/>
                    </a:solidFill>
                  </a:tcPr>
                </a:tc>
                <a:tc>
                  <a:txBody>
                    <a:bodyPr/>
                    <a:lstStyle/>
                    <a:p>
                      <a:r>
                        <a:rPr sz="1600" b="1" dirty="0">
                          <a:solidFill>
                            <a:srgbClr val="FFFFFF"/>
                          </a:solidFill>
                        </a:rPr>
                        <a:t>Gap Addressed by </a:t>
                      </a:r>
                      <a:r>
                        <a:rPr sz="1600" b="1" dirty="0" err="1">
                          <a:solidFill>
                            <a:srgbClr val="FFFFFF"/>
                          </a:solidFill>
                        </a:rPr>
                        <a:t>PrecedentIQ</a:t>
                      </a:r>
                      <a:endParaRPr sz="1600" b="1" dirty="0">
                        <a:solidFill>
                          <a:srgbClr val="FFFFFF"/>
                        </a:solidFill>
                      </a:endParaRPr>
                    </a:p>
                  </a:txBody>
                  <a:tcPr>
                    <a:solidFill>
                      <a:srgbClr val="13294B"/>
                    </a:solidFill>
                  </a:tcPr>
                </a:tc>
                <a:extLst>
                  <a:ext uri="{0D108BD9-81ED-4DB2-BD59-A6C34878D82A}">
                    <a16:rowId xmlns:a16="http://schemas.microsoft.com/office/drawing/2014/main" val="10000"/>
                  </a:ext>
                </a:extLst>
              </a:tr>
              <a:tr h="720280">
                <a:tc>
                  <a:txBody>
                    <a:bodyPr/>
                    <a:lstStyle/>
                    <a:p>
                      <a:r>
                        <a:rPr sz="1400" dirty="0">
                          <a:solidFill>
                            <a:srgbClr val="1A1A1A"/>
                          </a:solidFill>
                          <a:latin typeface="Calibri"/>
                        </a:rPr>
                        <a:t>ILDC for CJPE</a:t>
                      </a:r>
                    </a:p>
                    <a:p>
                      <a:r>
                        <a:rPr sz="1600" dirty="0"/>
                        <a:t>(Malik et al., 2021)</a:t>
                      </a:r>
                    </a:p>
                  </a:txBody>
                  <a:tcPr anchor="ctr"/>
                </a:tc>
                <a:tc>
                  <a:txBody>
                    <a:bodyPr/>
                    <a:lstStyle/>
                    <a:p>
                      <a:r>
                        <a:rPr sz="1400" dirty="0">
                          <a:solidFill>
                            <a:srgbClr val="1A1A1A"/>
                          </a:solidFill>
                          <a:latin typeface="Calibri"/>
                        </a:rPr>
                        <a:t>35k Indian SC cases annotated with decisions + gold expert explanations; hierarchical occlusion model for judgment prediction &amp; explainability.</a:t>
                      </a:r>
                    </a:p>
                  </a:txBody>
                  <a:tcPr anchor="ctr"/>
                </a:tc>
                <a:tc>
                  <a:txBody>
                    <a:bodyPr/>
                    <a:lstStyle/>
                    <a:p>
                      <a:r>
                        <a:rPr sz="1400" dirty="0">
                          <a:solidFill>
                            <a:srgbClr val="1A1A1A"/>
                          </a:solidFill>
                          <a:latin typeface="Calibri"/>
                        </a:rPr>
                        <a:t>Focuses on outcome prediction. </a:t>
                      </a:r>
                      <a:r>
                        <a:rPr sz="1400" dirty="0" err="1">
                          <a:solidFill>
                            <a:srgbClr val="1A1A1A"/>
                          </a:solidFill>
                          <a:latin typeface="Calibri"/>
                        </a:rPr>
                        <a:t>PrecedentIQ</a:t>
                      </a:r>
                      <a:r>
                        <a:rPr sz="1400" dirty="0">
                          <a:solidFill>
                            <a:srgbClr val="1A1A1A"/>
                          </a:solidFill>
                          <a:latin typeface="Calibri"/>
                        </a:rPr>
                        <a:t> shifts to extracting structured reasoning (ratio vs. obiter) and synthesizing new arguments.</a:t>
                      </a:r>
                    </a:p>
                  </a:txBody>
                  <a:tcPr anchor="ctr"/>
                </a:tc>
                <a:extLst>
                  <a:ext uri="{0D108BD9-81ED-4DB2-BD59-A6C34878D82A}">
                    <a16:rowId xmlns:a16="http://schemas.microsoft.com/office/drawing/2014/main" val="10001"/>
                  </a:ext>
                </a:extLst>
              </a:tr>
              <a:tr h="930362">
                <a:tc>
                  <a:txBody>
                    <a:bodyPr/>
                    <a:lstStyle/>
                    <a:p>
                      <a:r>
                        <a:rPr sz="1400" dirty="0">
                          <a:solidFill>
                            <a:srgbClr val="1A1A1A"/>
                          </a:solidFill>
                          <a:latin typeface="Calibri"/>
                        </a:rPr>
                        <a:t>LEGAL-BERT</a:t>
                      </a:r>
                    </a:p>
                    <a:p>
                      <a:r>
                        <a:rPr sz="1600" dirty="0"/>
                        <a:t>(Chalkidis et al., 2020)</a:t>
                      </a:r>
                    </a:p>
                  </a:txBody>
                  <a:tcPr anchor="ctr"/>
                </a:tc>
                <a:tc>
                  <a:txBody>
                    <a:bodyPr/>
                    <a:lstStyle/>
                    <a:p>
                      <a:r>
                        <a:rPr sz="1400" dirty="0">
                          <a:solidFill>
                            <a:srgbClr val="1A1A1A"/>
                          </a:solidFill>
                          <a:latin typeface="Calibri"/>
                        </a:rPr>
                        <a:t>Family of BERT models pre-trained on large-scale English legal corpora; outperforms general-purpose LMs on legal NLP tasks.</a:t>
                      </a:r>
                    </a:p>
                  </a:txBody>
                  <a:tcPr anchor="ctr"/>
                </a:tc>
                <a:tc>
                  <a:txBody>
                    <a:bodyPr/>
                    <a:lstStyle/>
                    <a:p>
                      <a:r>
                        <a:rPr sz="1400" dirty="0">
                          <a:solidFill>
                            <a:srgbClr val="1A1A1A"/>
                          </a:solidFill>
                          <a:latin typeface="Calibri"/>
                        </a:rPr>
                        <a:t>Provides embeddings only, no retrieval/generation framework. </a:t>
                      </a:r>
                      <a:r>
                        <a:rPr sz="1400" dirty="0" err="1">
                          <a:solidFill>
                            <a:srgbClr val="1A1A1A"/>
                          </a:solidFill>
                          <a:latin typeface="Calibri"/>
                        </a:rPr>
                        <a:t>PrecedentIQ</a:t>
                      </a:r>
                      <a:r>
                        <a:rPr sz="1400" dirty="0">
                          <a:solidFill>
                            <a:srgbClr val="1A1A1A"/>
                          </a:solidFill>
                          <a:latin typeface="Calibri"/>
                        </a:rPr>
                        <a:t> integrates domain-tuned embeddings in a two-stage hybrid RAG pipeline for Indian case law.</a:t>
                      </a:r>
                    </a:p>
                  </a:txBody>
                  <a:tcPr anchor="ctr"/>
                </a:tc>
                <a:extLst>
                  <a:ext uri="{0D108BD9-81ED-4DB2-BD59-A6C34878D82A}">
                    <a16:rowId xmlns:a16="http://schemas.microsoft.com/office/drawing/2014/main" val="10002"/>
                  </a:ext>
                </a:extLst>
              </a:tr>
              <a:tr h="720280">
                <a:tc>
                  <a:txBody>
                    <a:bodyPr/>
                    <a:lstStyle/>
                    <a:p>
                      <a:r>
                        <a:rPr sz="1400" dirty="0" err="1">
                          <a:solidFill>
                            <a:srgbClr val="1A1A1A"/>
                          </a:solidFill>
                          <a:latin typeface="Calibri"/>
                        </a:rPr>
                        <a:t>LexGLUE</a:t>
                      </a:r>
                      <a:endParaRPr sz="1400" dirty="0">
                        <a:solidFill>
                          <a:srgbClr val="1A1A1A"/>
                        </a:solidFill>
                        <a:latin typeface="Calibri"/>
                      </a:endParaRPr>
                    </a:p>
                    <a:p>
                      <a:r>
                        <a:rPr sz="1600" dirty="0"/>
                        <a:t>(Chalkidis et al., 2022)</a:t>
                      </a:r>
                    </a:p>
                  </a:txBody>
                  <a:tcPr anchor="ctr"/>
                </a:tc>
                <a:tc>
                  <a:txBody>
                    <a:bodyPr/>
                    <a:lstStyle/>
                    <a:p>
                      <a:r>
                        <a:rPr sz="1400" dirty="0">
                          <a:solidFill>
                            <a:srgbClr val="1A1A1A"/>
                          </a:solidFill>
                          <a:latin typeface="Calibri"/>
                        </a:rPr>
                        <a:t>Standardized benchmark for legal NLU across classification &amp; QA tasks; legal-oriented models outperform generic ones.</a:t>
                      </a:r>
                    </a:p>
                  </a:txBody>
                  <a:tcPr anchor="ctr"/>
                </a:tc>
                <a:tc>
                  <a:txBody>
                    <a:bodyPr/>
                    <a:lstStyle/>
                    <a:p>
                      <a:r>
                        <a:rPr sz="1400" dirty="0">
                          <a:solidFill>
                            <a:srgbClr val="1A1A1A"/>
                          </a:solidFill>
                          <a:latin typeface="Calibri"/>
                        </a:rPr>
                        <a:t>Benchmarks classification/QA only; no generative framework. </a:t>
                      </a:r>
                      <a:r>
                        <a:rPr sz="1400" dirty="0" err="1">
                          <a:solidFill>
                            <a:srgbClr val="1A1A1A"/>
                          </a:solidFill>
                          <a:latin typeface="Calibri"/>
                        </a:rPr>
                        <a:t>PrecedentIQ</a:t>
                      </a:r>
                      <a:r>
                        <a:rPr sz="1400" dirty="0">
                          <a:solidFill>
                            <a:srgbClr val="1A1A1A"/>
                          </a:solidFill>
                          <a:latin typeface="Calibri"/>
                        </a:rPr>
                        <a:t> structures pro/contra arguments with strict citation-linking.</a:t>
                      </a:r>
                    </a:p>
                  </a:txBody>
                  <a:tcPr anchor="ctr"/>
                </a:tc>
                <a:extLst>
                  <a:ext uri="{0D108BD9-81ED-4DB2-BD59-A6C34878D82A}">
                    <a16:rowId xmlns:a16="http://schemas.microsoft.com/office/drawing/2014/main" val="10003"/>
                  </a:ext>
                </a:extLst>
              </a:tr>
              <a:tr h="720280">
                <a:tc>
                  <a:txBody>
                    <a:bodyPr/>
                    <a:lstStyle/>
                    <a:p>
                      <a:r>
                        <a:rPr sz="1400" dirty="0">
                          <a:solidFill>
                            <a:srgbClr val="1A1A1A"/>
                          </a:solidFill>
                          <a:latin typeface="Calibri"/>
                        </a:rPr>
                        <a:t>LLM Argument Mining</a:t>
                      </a:r>
                    </a:p>
                    <a:p>
                      <a:r>
                        <a:rPr sz="1600" b="0" dirty="0"/>
                        <a:t>(Al </a:t>
                      </a:r>
                      <a:r>
                        <a:rPr sz="1600" b="0" dirty="0" err="1"/>
                        <a:t>Zubaer</a:t>
                      </a:r>
                      <a:r>
                        <a:rPr sz="1600" b="0" dirty="0"/>
                        <a:t> et al., 2023)</a:t>
                      </a:r>
                    </a:p>
                  </a:txBody>
                  <a:tcPr anchor="ctr"/>
                </a:tc>
                <a:tc>
                  <a:txBody>
                    <a:bodyPr/>
                    <a:lstStyle/>
                    <a:p>
                      <a:r>
                        <a:rPr sz="1400" dirty="0">
                          <a:solidFill>
                            <a:srgbClr val="1A1A1A"/>
                          </a:solidFill>
                          <a:latin typeface="Calibri"/>
                        </a:rPr>
                        <a:t>Evaluates LLMs via few-shot prompting for classifying argumentative components (premises/conclusions) in legal text.</a:t>
                      </a:r>
                    </a:p>
                  </a:txBody>
                  <a:tcPr anchor="ctr"/>
                </a:tc>
                <a:tc>
                  <a:txBody>
                    <a:bodyPr/>
                    <a:lstStyle/>
                    <a:p>
                      <a:r>
                        <a:rPr sz="1400" dirty="0">
                          <a:solidFill>
                            <a:srgbClr val="1A1A1A"/>
                          </a:solidFill>
                          <a:latin typeface="Calibri"/>
                        </a:rPr>
                        <a:t>Mines isolated arguments; no cross-document synthesis. </a:t>
                      </a:r>
                      <a:r>
                        <a:rPr sz="1400" dirty="0" err="1">
                          <a:solidFill>
                            <a:srgbClr val="1A1A1A"/>
                          </a:solidFill>
                          <a:latin typeface="Calibri"/>
                        </a:rPr>
                        <a:t>PrecedentIQ</a:t>
                      </a:r>
                      <a:r>
                        <a:rPr sz="1400" dirty="0">
                          <a:solidFill>
                            <a:srgbClr val="1A1A1A"/>
                          </a:solidFill>
                          <a:latin typeface="Calibri"/>
                        </a:rPr>
                        <a:t> drafts structured, multi-case argument outlines grounded in retrieved precedents.</a:t>
                      </a:r>
                    </a:p>
                  </a:txBody>
                  <a:tcPr anchor="ctr"/>
                </a:tc>
                <a:extLst>
                  <a:ext uri="{0D108BD9-81ED-4DB2-BD59-A6C34878D82A}">
                    <a16:rowId xmlns:a16="http://schemas.microsoft.com/office/drawing/2014/main" val="10004"/>
                  </a:ext>
                </a:extLst>
              </a:tr>
              <a:tr h="930362">
                <a:tc>
                  <a:txBody>
                    <a:bodyPr/>
                    <a:lstStyle/>
                    <a:p>
                      <a:r>
                        <a:rPr sz="1400" dirty="0">
                          <a:solidFill>
                            <a:srgbClr val="1A1A1A"/>
                          </a:solidFill>
                          <a:latin typeface="Calibri"/>
                        </a:rPr>
                        <a:t>Legal IR &amp; Entailment</a:t>
                      </a:r>
                    </a:p>
                    <a:p>
                      <a:r>
                        <a:rPr sz="1600" dirty="0"/>
                        <a:t>(Kim et al., 2024)</a:t>
                      </a:r>
                    </a:p>
                  </a:txBody>
                  <a:tcPr anchor="ctr"/>
                </a:tc>
                <a:tc>
                  <a:txBody>
                    <a:bodyPr/>
                    <a:lstStyle/>
                    <a:p>
                      <a:r>
                        <a:rPr sz="1400" dirty="0">
                          <a:solidFill>
                            <a:srgbClr val="1A1A1A"/>
                          </a:solidFill>
                          <a:latin typeface="Calibri"/>
                        </a:rPr>
                        <a:t>Transformer-based case law retrieval &amp; entailment at sentence/paragraph level to find supporting precedents.</a:t>
                      </a:r>
                    </a:p>
                  </a:txBody>
                  <a:tcPr anchor="ctr"/>
                </a:tc>
                <a:tc>
                  <a:txBody>
                    <a:bodyPr/>
                    <a:lstStyle/>
                    <a:p>
                      <a:r>
                        <a:rPr sz="1400" dirty="0">
                          <a:solidFill>
                            <a:srgbClr val="1A1A1A"/>
                          </a:solidFill>
                          <a:latin typeface="Calibri"/>
                        </a:rPr>
                        <a:t>Limited to ranking/retrieval. </a:t>
                      </a:r>
                      <a:r>
                        <a:rPr sz="1400" dirty="0" err="1">
                          <a:solidFill>
                            <a:srgbClr val="1A1A1A"/>
                          </a:solidFill>
                          <a:latin typeface="Calibri"/>
                        </a:rPr>
                        <a:t>PrecedentIQ</a:t>
                      </a:r>
                      <a:r>
                        <a:rPr sz="1400" dirty="0">
                          <a:solidFill>
                            <a:srgbClr val="1A1A1A"/>
                          </a:solidFill>
                          <a:latin typeface="Calibri"/>
                        </a:rPr>
                        <a:t> combines retrieval with LLM-based holding extraction and argument synthesis — a full drafted outline, not just a ranked list.</a:t>
                      </a: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607650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C69-472F-A80F-ECBC-553E043DB9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64AF3A-1BAA-BB19-865F-8604C4E3B859}"/>
              </a:ext>
            </a:extLst>
          </p:cNvPr>
          <p:cNvSpPr>
            <a:spLocks noGrp="1"/>
          </p:cNvSpPr>
          <p:nvPr>
            <p:ph type="body" sz="quarter" idx="13"/>
          </p:nvPr>
        </p:nvSpPr>
        <p:spPr>
          <a:xfrm>
            <a:off x="1666824" y="1357505"/>
            <a:ext cx="8854137" cy="4142989"/>
          </a:xfrm>
        </p:spPr>
        <p:txBody>
          <a:bodyPr wrap="square"/>
          <a:lstStyle/>
          <a:p>
            <a:pPr marL="256032" indent="-256032" algn="just">
              <a:lnSpc>
                <a:spcPct val="100000"/>
              </a:lnSpc>
              <a:spcAft>
                <a:spcPts val="1000"/>
              </a:spcAft>
              <a:buNone/>
            </a:pPr>
            <a:r>
              <a:rPr lang="en-IN" sz="1400" dirty="0">
                <a:solidFill>
                  <a:srgbClr val="13294B"/>
                </a:solidFill>
                <a:latin typeface="Calibri"/>
              </a:rPr>
              <a:t>•  </a:t>
            </a:r>
            <a:r>
              <a:rPr lang="en-IN" sz="1600" dirty="0">
                <a:solidFill>
                  <a:srgbClr val="13294B"/>
                </a:solidFill>
                <a:latin typeface="Calibri"/>
              </a:rPr>
              <a:t>Overall pattern: </a:t>
            </a:r>
            <a:r>
              <a:rPr lang="en-IN" sz="1600" b="0" dirty="0">
                <a:solidFill>
                  <a:srgbClr val="1A1A1A"/>
                </a:solidFill>
                <a:latin typeface="Calibri"/>
              </a:rPr>
              <a:t>The five foundational papers above build the ingredients — Indian legal corpora (ILDC), domain embeddings (LEGAL-BERT), benchmarks (</a:t>
            </a:r>
            <a:r>
              <a:rPr lang="en-IN" sz="1600" b="0" dirty="0" err="1">
                <a:solidFill>
                  <a:srgbClr val="1A1A1A"/>
                </a:solidFill>
                <a:latin typeface="Calibri"/>
              </a:rPr>
              <a:t>LexGLUE</a:t>
            </a:r>
            <a:r>
              <a:rPr lang="en-IN" sz="1600" b="0" dirty="0">
                <a:solidFill>
                  <a:srgbClr val="1A1A1A"/>
                </a:solidFill>
                <a:latin typeface="Calibri"/>
              </a:rPr>
              <a:t>), argument mining, and case retrieval — but none combine them into one retrieval-to-drafting pipeline.</a:t>
            </a:r>
            <a:endParaRPr lang="en-IN" sz="1600" dirty="0">
              <a:solidFill>
                <a:srgbClr val="13294B"/>
              </a:solidFill>
              <a:latin typeface="Calibri"/>
            </a:endParaRPr>
          </a:p>
          <a:p>
            <a:pPr marL="256032" indent="-256032" algn="just">
              <a:lnSpc>
                <a:spcPct val="100000"/>
              </a:lnSpc>
              <a:spcAft>
                <a:spcPts val="1000"/>
              </a:spcAft>
              <a:buNone/>
            </a:pPr>
            <a:r>
              <a:rPr lang="en-IN" sz="1600" dirty="0">
                <a:solidFill>
                  <a:srgbClr val="13294B"/>
                </a:solidFill>
                <a:latin typeface="Calibri"/>
              </a:rPr>
              <a:t>•  </a:t>
            </a:r>
            <a:r>
              <a:rPr sz="1600" b="1" dirty="0">
                <a:solidFill>
                  <a:srgbClr val="13294B"/>
                </a:solidFill>
                <a:latin typeface="Calibri"/>
              </a:rPr>
              <a:t>Closest directly-related RAG work:</a:t>
            </a:r>
          </a:p>
          <a:p>
            <a:pPr marL="713232" lvl="1" indent="-256032" algn="just">
              <a:lnSpc>
                <a:spcPct val="100000"/>
              </a:lnSpc>
              <a:spcAft>
                <a:spcPts val="1000"/>
              </a:spcAft>
              <a:buNone/>
            </a:pPr>
            <a:r>
              <a:rPr sz="1600" b="1" dirty="0">
                <a:solidFill>
                  <a:srgbClr val="13294B"/>
                </a:solidFill>
                <a:latin typeface="Calibri"/>
              </a:rPr>
              <a:t>• </a:t>
            </a:r>
            <a:r>
              <a:rPr sz="1600" b="1" dirty="0" err="1">
                <a:solidFill>
                  <a:srgbClr val="13294B"/>
                </a:solidFill>
                <a:latin typeface="Calibri"/>
              </a:rPr>
              <a:t>NyayaRAG</a:t>
            </a:r>
            <a:r>
              <a:rPr sz="1600" b="1" dirty="0">
                <a:solidFill>
                  <a:srgbClr val="13294B"/>
                </a:solidFill>
                <a:latin typeface="Calibri"/>
              </a:rPr>
              <a:t> (Nigam et al., 2025, arXiv:2508.00709): </a:t>
            </a:r>
            <a:r>
              <a:rPr sz="1600" b="0" dirty="0">
                <a:solidFill>
                  <a:srgbClr val="1A1A1A"/>
                </a:solidFill>
                <a:latin typeface="Calibri"/>
              </a:rPr>
              <a:t>RAG framework for Indian judgment prediction using facts, statutes &amp; retrieved precedents — predicts outcomes, not precedent retrieval or argument drafting for practitioners.</a:t>
            </a:r>
          </a:p>
          <a:p>
            <a:pPr marL="713232" lvl="1" indent="-256032" algn="just">
              <a:lnSpc>
                <a:spcPct val="100000"/>
              </a:lnSpc>
              <a:spcAft>
                <a:spcPts val="1000"/>
              </a:spcAft>
              <a:buNone/>
            </a:pPr>
            <a:r>
              <a:rPr sz="1600" b="1" dirty="0">
                <a:solidFill>
                  <a:srgbClr val="13294B"/>
                </a:solidFill>
                <a:latin typeface="Calibri"/>
              </a:rPr>
              <a:t>•  </a:t>
            </a:r>
            <a:r>
              <a:rPr sz="1600" b="1" dirty="0" err="1">
                <a:solidFill>
                  <a:srgbClr val="13294B"/>
                </a:solidFill>
                <a:latin typeface="Calibri"/>
              </a:rPr>
              <a:t>AQgR</a:t>
            </a:r>
            <a:r>
              <a:rPr sz="1600" b="1" dirty="0">
                <a:solidFill>
                  <a:srgbClr val="13294B"/>
                </a:solidFill>
                <a:latin typeface="Calibri"/>
              </a:rPr>
              <a:t> (</a:t>
            </a:r>
            <a:r>
              <a:rPr sz="1600" b="1" dirty="0" err="1">
                <a:solidFill>
                  <a:srgbClr val="13294B"/>
                </a:solidFill>
                <a:latin typeface="Calibri"/>
              </a:rPr>
              <a:t>Vishnuprabha</a:t>
            </a:r>
            <a:r>
              <a:rPr sz="1600" b="1" dirty="0">
                <a:solidFill>
                  <a:srgbClr val="13294B"/>
                </a:solidFill>
                <a:latin typeface="Calibri"/>
              </a:rPr>
              <a:t> V. et al., 2025, arXiv:2508.04710): </a:t>
            </a:r>
            <a:r>
              <a:rPr sz="1600" b="0" dirty="0">
                <a:solidFill>
                  <a:srgbClr val="1A1A1A"/>
                </a:solidFill>
                <a:latin typeface="Calibri"/>
              </a:rPr>
              <a:t>Combines RAG with structured summaries for Indian case law retrieval, generating explanations — evaluated on a small FIRE-2019 subset, no argument-outline generation.</a:t>
            </a:r>
          </a:p>
          <a:p>
            <a:pPr marL="713232" lvl="1" indent="-256032" algn="just">
              <a:lnSpc>
                <a:spcPct val="100000"/>
              </a:lnSpc>
              <a:spcAft>
                <a:spcPts val="1000"/>
              </a:spcAft>
              <a:buNone/>
            </a:pPr>
            <a:r>
              <a:rPr sz="1600" b="1" dirty="0">
                <a:solidFill>
                  <a:srgbClr val="13294B"/>
                </a:solidFill>
                <a:latin typeface="Calibri"/>
              </a:rPr>
              <a:t>•  Rhetorical-Role-Aware RAG (Sha et al., 2026, arXiv:2608.06828): </a:t>
            </a:r>
            <a:r>
              <a:rPr sz="1600" b="0" dirty="0">
                <a:solidFill>
                  <a:srgbClr val="1A1A1A"/>
                </a:solidFill>
                <a:latin typeface="Calibri"/>
              </a:rPr>
              <a:t>RAG with rhetorical-role chunking, hybrid retrieval &amp; cross-encoder reranking for SC judgment QA — focused on conversational QA, not citation-linked argument synthesis or holding/obiter separation</a:t>
            </a:r>
            <a:r>
              <a:rPr sz="1050" b="0" dirty="0">
                <a:solidFill>
                  <a:srgbClr val="1A1A1A"/>
                </a:solidFill>
                <a:latin typeface="Calibri"/>
              </a:rPr>
              <a:t>.</a:t>
            </a:r>
          </a:p>
          <a:p>
            <a:pPr marL="256032" indent="-256032" algn="just">
              <a:lnSpc>
                <a:spcPct val="100000"/>
              </a:lnSpc>
              <a:spcAft>
                <a:spcPts val="1000"/>
              </a:spcAft>
              <a:buNone/>
            </a:pPr>
            <a:r>
              <a:rPr sz="1600" b="1" dirty="0">
                <a:solidFill>
                  <a:srgbClr val="13294B"/>
                </a:solidFill>
                <a:latin typeface="Calibri"/>
              </a:rPr>
              <a:t>• The gap </a:t>
            </a:r>
            <a:r>
              <a:rPr sz="1600" b="1" dirty="0" err="1">
                <a:solidFill>
                  <a:srgbClr val="13294B"/>
                </a:solidFill>
                <a:latin typeface="Calibri"/>
              </a:rPr>
              <a:t>PrecedentIQ</a:t>
            </a:r>
            <a:r>
              <a:rPr sz="1600" b="1" dirty="0">
                <a:solidFill>
                  <a:srgbClr val="13294B"/>
                </a:solidFill>
                <a:latin typeface="Calibri"/>
              </a:rPr>
              <a:t> closes: </a:t>
            </a:r>
            <a:r>
              <a:rPr sz="1600" b="0" dirty="0">
                <a:solidFill>
                  <a:srgbClr val="1A1A1A"/>
                </a:solidFill>
                <a:latin typeface="Calibri"/>
              </a:rPr>
              <a:t>No reviewed system combines legal-domain hybrid retrieval with structured holding extraction AND citation-linked argument synthesis in one pipeline grounded in a practitioner's own case file.</a:t>
            </a:r>
          </a:p>
        </p:txBody>
      </p:sp>
      <p:sp>
        <p:nvSpPr>
          <p:cNvPr id="3" name="TextBox 2">
            <a:extLst>
              <a:ext uri="{FF2B5EF4-FFF2-40B4-BE49-F238E27FC236}">
                <a16:creationId xmlns:a16="http://schemas.microsoft.com/office/drawing/2014/main" id="{C7C2521A-B8A4-7818-FEB4-0309182DBEC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Summary of Literature Review</a:t>
            </a:r>
          </a:p>
        </p:txBody>
      </p:sp>
      <p:cxnSp>
        <p:nvCxnSpPr>
          <p:cNvPr id="5" name="Straight Connector 4">
            <a:extLst>
              <a:ext uri="{FF2B5EF4-FFF2-40B4-BE49-F238E27FC236}">
                <a16:creationId xmlns:a16="http://schemas.microsoft.com/office/drawing/2014/main" id="{76871527-EAED-D60A-DB4D-12A2CE4201D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ADF6DB-6CFE-DDC5-997C-E84EE1A9470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40847033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28599" y="1310129"/>
            <a:ext cx="11921067" cy="3252694"/>
          </a:xfrm>
        </p:spPr>
        <p:txBody>
          <a:bodyPr wrap="square"/>
          <a:lstStyle/>
          <a:p>
            <a:pPr marL="256032" indent="-256032">
              <a:lnSpc>
                <a:spcPct val="100000"/>
              </a:lnSpc>
              <a:spcAft>
                <a:spcPts val="1000"/>
              </a:spcAft>
              <a:buNone/>
            </a:pPr>
            <a:r>
              <a:rPr lang="en-US" sz="1400" dirty="0">
                <a:solidFill>
                  <a:srgbClr val="13294B"/>
                </a:solidFill>
                <a:latin typeface="Calibri"/>
              </a:rPr>
              <a:t>•  RAG is the central operating principle, not one module: </a:t>
            </a:r>
            <a:r>
              <a:rPr lang="en-US" sz="1400" b="0" dirty="0">
                <a:solidFill>
                  <a:srgbClr val="1A1A1A"/>
                </a:solidFill>
                <a:latin typeface="Calibri"/>
              </a:rPr>
              <a:t>Every generated output in </a:t>
            </a:r>
            <a:r>
              <a:rPr lang="en-US" sz="1400" b="0" dirty="0" err="1">
                <a:solidFill>
                  <a:srgbClr val="1A1A1A"/>
                </a:solidFill>
                <a:latin typeface="Calibri"/>
              </a:rPr>
              <a:t>PrecedentIQ</a:t>
            </a:r>
            <a:r>
              <a:rPr lang="en-US" sz="1400" b="0" dirty="0">
                <a:solidFill>
                  <a:srgbClr val="1A1A1A"/>
                </a:solidFill>
                <a:latin typeface="Calibri"/>
              </a:rPr>
              <a:t> — holding summaries and argument outlines — is produced strictly from retrieved judgment text, never open-ended LLM generation.</a:t>
            </a:r>
            <a:endParaRPr sz="1400" b="1" dirty="0">
              <a:solidFill>
                <a:srgbClr val="13294B"/>
              </a:solidFill>
              <a:latin typeface="Calibri"/>
            </a:endParaRPr>
          </a:p>
          <a:p>
            <a:pPr marL="256032" indent="-256032">
              <a:lnSpc>
                <a:spcPct val="100000"/>
              </a:lnSpc>
              <a:spcAft>
                <a:spcPts val="1000"/>
              </a:spcAft>
              <a:buNone/>
            </a:pPr>
            <a:r>
              <a:rPr sz="1400" b="1" dirty="0">
                <a:solidFill>
                  <a:srgbClr val="13294B"/>
                </a:solidFill>
                <a:latin typeface="Calibri"/>
              </a:rPr>
              <a:t>•  Retrieval (the “R”): </a:t>
            </a:r>
            <a:r>
              <a:rPr sz="1400" b="0" dirty="0">
                <a:solidFill>
                  <a:srgbClr val="1A1A1A"/>
                </a:solidFill>
                <a:latin typeface="Calibri"/>
              </a:rPr>
              <a:t>Hybrid dense (legal embeddings) + sparse (BM25/SPLADE) search over legal-domain chunks, fused by Reciprocal Rank Fusion and cross-encoder reranked — this is what grounds every downstream claim in real precedent text.</a:t>
            </a:r>
          </a:p>
          <a:p>
            <a:pPr marL="256032" indent="-256032">
              <a:lnSpc>
                <a:spcPct val="100000"/>
              </a:lnSpc>
              <a:spcAft>
                <a:spcPts val="1000"/>
              </a:spcAft>
              <a:buNone/>
            </a:pPr>
            <a:r>
              <a:rPr sz="1400" b="1" dirty="0">
                <a:solidFill>
                  <a:srgbClr val="13294B"/>
                </a:solidFill>
                <a:latin typeface="Calibri"/>
              </a:rPr>
              <a:t>•</a:t>
            </a:r>
            <a:r>
              <a:rPr sz="1400" dirty="0">
                <a:solidFill>
                  <a:srgbClr val="13294B"/>
                </a:solidFill>
                <a:latin typeface="Calibri"/>
              </a:rPr>
              <a:t> </a:t>
            </a:r>
            <a:r>
              <a:rPr sz="1400" b="1" dirty="0">
                <a:solidFill>
                  <a:srgbClr val="13294B"/>
                </a:solidFill>
                <a:latin typeface="Calibri"/>
              </a:rPr>
              <a:t>Augmentation (the “A”): </a:t>
            </a:r>
            <a:r>
              <a:rPr sz="1400" b="0" dirty="0">
                <a:solidFill>
                  <a:srgbClr val="1A1A1A"/>
                </a:solidFill>
                <a:latin typeface="Calibri"/>
              </a:rPr>
              <a:t>Retrieved chunks are structurally labeled (Facts/Issues/Ratio/Obiter/Order) before being passed to the LLM, so the model reasons over correctly-scoped legal context rather than an unstructured document.</a:t>
            </a:r>
          </a:p>
          <a:p>
            <a:pPr marL="256032" indent="-256032">
              <a:lnSpc>
                <a:spcPct val="100000"/>
              </a:lnSpc>
              <a:spcAft>
                <a:spcPts val="1000"/>
              </a:spcAft>
              <a:buNone/>
            </a:pPr>
            <a:r>
              <a:rPr sz="1400" b="1" dirty="0">
                <a:solidFill>
                  <a:srgbClr val="13294B"/>
                </a:solidFill>
                <a:latin typeface="Calibri"/>
              </a:rPr>
              <a:t>•  Generation (the “G”): </a:t>
            </a:r>
            <a:r>
              <a:rPr sz="1400" b="0" dirty="0">
                <a:solidFill>
                  <a:srgbClr val="1A1A1A"/>
                </a:solidFill>
                <a:latin typeface="Calibri"/>
              </a:rPr>
              <a:t>The LLM only </a:t>
            </a:r>
            <a:r>
              <a:rPr sz="1400" b="0" dirty="0" err="1">
                <a:solidFill>
                  <a:srgbClr val="1A1A1A"/>
                </a:solidFill>
                <a:latin typeface="Calibri"/>
              </a:rPr>
              <a:t>summarises</a:t>
            </a:r>
            <a:r>
              <a:rPr sz="1400" b="0" dirty="0">
                <a:solidFill>
                  <a:srgbClr val="1A1A1A"/>
                </a:solidFill>
                <a:latin typeface="Calibri"/>
              </a:rPr>
              <a:t> the retrieved ratio decidendi and drafts argument outlines from retrieved holdings — it never answers from parametric memory alone.</a:t>
            </a:r>
          </a:p>
          <a:p>
            <a:pPr marL="256032" indent="-256032">
              <a:lnSpc>
                <a:spcPct val="100000"/>
              </a:lnSpc>
              <a:spcAft>
                <a:spcPts val="1000"/>
              </a:spcAft>
              <a:buNone/>
            </a:pPr>
            <a:r>
              <a:rPr sz="1400" b="1" dirty="0">
                <a:solidFill>
                  <a:srgbClr val="13294B"/>
                </a:solidFill>
                <a:latin typeface="Calibri"/>
              </a:rPr>
              <a:t>•  Why RAG specifically, not a fine-tuned LLM alone: </a:t>
            </a:r>
            <a:r>
              <a:rPr sz="1400" b="0" dirty="0">
                <a:solidFill>
                  <a:srgbClr val="1A1A1A"/>
                </a:solidFill>
                <a:latin typeface="Calibri"/>
              </a:rPr>
              <a:t>Case law changes continuously and must be citable to a real source; RAG lets </a:t>
            </a:r>
            <a:r>
              <a:rPr sz="1400" b="0" dirty="0" err="1">
                <a:solidFill>
                  <a:srgbClr val="1A1A1A"/>
                </a:solidFill>
                <a:latin typeface="Calibri"/>
              </a:rPr>
              <a:t>PrecedentIQ</a:t>
            </a:r>
            <a:r>
              <a:rPr sz="1400" b="0" dirty="0">
                <a:solidFill>
                  <a:srgbClr val="1A1A1A"/>
                </a:solidFill>
                <a:latin typeface="Calibri"/>
              </a:rPr>
              <a:t> stay current by updating the retrieval corpus, and lets every claim be traced and verified — a fine-tuned model cannot offer either guarantee.</a:t>
            </a:r>
          </a:p>
          <a:p>
            <a:pPr marL="256032" indent="-256032">
              <a:lnSpc>
                <a:spcPct val="100000"/>
              </a:lnSpc>
              <a:spcAft>
                <a:spcPts val="1000"/>
              </a:spcAft>
              <a:buNone/>
            </a:pPr>
            <a:r>
              <a:rPr sz="1400" b="1" dirty="0">
                <a:solidFill>
                  <a:srgbClr val="13294B"/>
                </a:solidFill>
                <a:latin typeface="Calibri"/>
              </a:rPr>
              <a:t>•  Result: </a:t>
            </a:r>
            <a:r>
              <a:rPr sz="1400" b="0" dirty="0">
                <a:solidFill>
                  <a:srgbClr val="1A1A1A"/>
                </a:solidFill>
                <a:latin typeface="Calibri"/>
              </a:rPr>
              <a:t>Hallucination risk is structurally reduced, not just prompted against — the architecture itself enforces that no claim exists without a retrieved citation behind it.</a:t>
            </a: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How RAG is Implemented in PrecedentIQ</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pic>
        <p:nvPicPr>
          <p:cNvPr id="7" name="Picture 6" descr="The diagram illustrates a user query process, starting with law facts, issues, and search, followed by retrieval and augmentation using LLM Generation and citation-linked techniques.&#10;&#10;AI-generated content may be incorrect.">
            <a:extLst>
              <a:ext uri="{FF2B5EF4-FFF2-40B4-BE49-F238E27FC236}">
                <a16:creationId xmlns:a16="http://schemas.microsoft.com/office/drawing/2014/main" id="{0CB43656-9CC9-4CF0-8522-9D224C20C0CF}"/>
              </a:ext>
            </a:extLst>
          </p:cNvPr>
          <p:cNvPicPr>
            <a:picLocks noChangeAspect="1"/>
          </p:cNvPicPr>
          <p:nvPr/>
        </p:nvPicPr>
        <p:blipFill>
          <a:blip r:embed="rId2">
            <a:extLst>
              <a:ext uri="{28A0092B-C50C-407E-A947-70E740481C1C}">
                <a14:useLocalDpi xmlns:a14="http://schemas.microsoft.com/office/drawing/2010/main" val="0"/>
              </a:ext>
            </a:extLst>
          </a:blip>
          <a:srcRect t="33640" b="21635"/>
          <a:stretch>
            <a:fillRect/>
          </a:stretch>
        </p:blipFill>
        <p:spPr>
          <a:xfrm>
            <a:off x="2641598" y="5076613"/>
            <a:ext cx="7095067" cy="1405467"/>
          </a:xfrm>
          <a:prstGeom prst="rect">
            <a:avLst/>
          </a:prstGeom>
        </p:spPr>
      </p:pic>
    </p:spTree>
    <p:extLst>
      <p:ext uri="{BB962C8B-B14F-4D97-AF65-F5344CB8AC3E}">
        <p14:creationId xmlns:p14="http://schemas.microsoft.com/office/powerpoint/2010/main" val="6793625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1187329" y="1523255"/>
            <a:ext cx="10624338" cy="4142989"/>
          </a:xfrm>
        </p:spPr>
        <p:txBody>
          <a:bodyPr wrap="square"/>
          <a:lstStyle/>
          <a:p>
            <a:pPr marL="0" indent="0">
              <a:lnSpc>
                <a:spcPct val="200000"/>
              </a:lnSpc>
              <a:spcAft>
                <a:spcPts val="1000"/>
              </a:spcAft>
              <a:buNone/>
            </a:pPr>
            <a:r>
              <a:rPr lang="en-US" sz="2000" dirty="0">
                <a:solidFill>
                  <a:schemeClr val="accent1">
                    <a:lumMod val="75000"/>
                  </a:schemeClr>
                </a:solidFill>
                <a:latin typeface="Calibri"/>
              </a:rPr>
              <a:t>•  Module 1: Data Ingestion, Legal-Domain Chunking &amp; Embedding/Indexing</a:t>
            </a:r>
            <a:endParaRPr sz="2000" dirty="0">
              <a:solidFill>
                <a:schemeClr val="accent1">
                  <a:lumMod val="75000"/>
                </a:schemeClr>
              </a:solidFill>
              <a:latin typeface="Calibri"/>
            </a:endParaRPr>
          </a:p>
          <a:p>
            <a:pPr marL="0" indent="0">
              <a:lnSpc>
                <a:spcPct val="200000"/>
              </a:lnSpc>
              <a:spcAft>
                <a:spcPts val="1000"/>
              </a:spcAft>
              <a:buNone/>
            </a:pPr>
            <a:r>
              <a:rPr sz="2000" dirty="0">
                <a:solidFill>
                  <a:schemeClr val="accent1">
                    <a:lumMod val="75000"/>
                  </a:schemeClr>
                </a:solidFill>
                <a:latin typeface="Calibri"/>
              </a:rPr>
              <a:t>•  Module 2: Hybrid Retrieval Engine (Core RAG Component)</a:t>
            </a:r>
          </a:p>
          <a:p>
            <a:pPr marL="0" indent="0">
              <a:lnSpc>
                <a:spcPct val="200000"/>
              </a:lnSpc>
              <a:spcAft>
                <a:spcPts val="1000"/>
              </a:spcAft>
              <a:buNone/>
            </a:pPr>
            <a:r>
              <a:rPr sz="2000" dirty="0">
                <a:solidFill>
                  <a:schemeClr val="accent1">
                    <a:lumMod val="75000"/>
                  </a:schemeClr>
                </a:solidFill>
                <a:latin typeface="Calibri"/>
              </a:rPr>
              <a:t>•  Module 3: Generation Layer — Holding Extraction &amp; Argument Synthesis</a:t>
            </a:r>
          </a:p>
          <a:p>
            <a:pPr marL="0" indent="0">
              <a:lnSpc>
                <a:spcPct val="200000"/>
              </a:lnSpc>
              <a:spcAft>
                <a:spcPts val="1000"/>
              </a:spcAft>
              <a:buNone/>
            </a:pPr>
            <a:r>
              <a:rPr sz="2000" dirty="0">
                <a:solidFill>
                  <a:schemeClr val="accent1">
                    <a:lumMod val="75000"/>
                  </a:schemeClr>
                </a:solidFill>
                <a:latin typeface="Calibri"/>
              </a:rPr>
              <a:t>•  Module 4: Evaluation &amp; Statistical Validation</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D4A0452-2CB8-E4C6-FAC7-ECD109C50CE1}"/>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6032" y="1371600"/>
            <a:ext cx="10625328" cy="4023360"/>
          </a:xfrm>
        </p:spPr>
        <p:txBody>
          <a:bodyPr wrap="square"/>
          <a:lstStyle/>
          <a:p>
            <a:pPr marL="256032" indent="-256032" algn="l">
              <a:lnSpc>
                <a:spcPct val="100000"/>
              </a:lnSpc>
              <a:spcAft>
                <a:spcPts val="1000"/>
              </a:spcAft>
              <a:buNone/>
            </a:pPr>
            <a:r>
              <a:rPr sz="1700" b="1" dirty="0">
                <a:solidFill>
                  <a:srgbClr val="13294B"/>
                </a:solidFill>
                <a:latin typeface="Calibri"/>
              </a:rPr>
              <a:t>•  Legal-domain chunking: </a:t>
            </a:r>
            <a:r>
              <a:rPr sz="1700" b="0" dirty="0">
                <a:solidFill>
                  <a:srgbClr val="1A1A1A"/>
                </a:solidFill>
                <a:latin typeface="Calibri"/>
              </a:rPr>
              <a:t>Raw judgments are segmented into Facts / Issues / Ratio / Obiter / Order using structural heading detection, preserving the semantic boundary generic fixed-length chunking would destroy.</a:t>
            </a:r>
          </a:p>
          <a:p>
            <a:pPr marL="256032" indent="-256032" algn="l">
              <a:lnSpc>
                <a:spcPct val="100000"/>
              </a:lnSpc>
              <a:spcAft>
                <a:spcPts val="1000"/>
              </a:spcAft>
              <a:buNone/>
            </a:pPr>
            <a:r>
              <a:rPr sz="1700" b="1" dirty="0">
                <a:solidFill>
                  <a:srgbClr val="13294B"/>
                </a:solidFill>
                <a:latin typeface="Calibri"/>
              </a:rPr>
              <a:t>•  Embedding: </a:t>
            </a:r>
            <a:r>
              <a:rPr sz="1700" b="0" dirty="0">
                <a:solidFill>
                  <a:srgbClr val="1A1A1A"/>
                </a:solidFill>
                <a:latin typeface="Calibri"/>
              </a:rPr>
              <a:t>Each section chunk is embedded using domain-tuned legal embeddings (dense) alongside a sparse lexical representation for exact statutory/citation matching.</a:t>
            </a:r>
          </a:p>
          <a:p>
            <a:pPr marL="256032" indent="-256032" algn="l">
              <a:lnSpc>
                <a:spcPct val="100000"/>
              </a:lnSpc>
              <a:spcAft>
                <a:spcPts val="1000"/>
              </a:spcAft>
              <a:buNone/>
            </a:pPr>
            <a:r>
              <a:rPr sz="1700" b="1" dirty="0">
                <a:solidFill>
                  <a:srgbClr val="13294B"/>
                </a:solidFill>
                <a:latin typeface="Calibri"/>
              </a:rPr>
              <a:t>•  Indexing: </a:t>
            </a:r>
            <a:r>
              <a:rPr sz="1700" b="0" dirty="0">
                <a:solidFill>
                  <a:srgbClr val="1A1A1A"/>
                </a:solidFill>
                <a:latin typeface="Calibri"/>
              </a:rPr>
              <a:t>Dense vectors and Sparse vectors are indexed together, ready for the hybrid retrieval stage.</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200" b="1" dirty="0">
                <a:solidFill>
                  <a:srgbClr val="5B9BD5">
                    <a:lumMod val="50000"/>
                  </a:srgbClr>
                </a:solidFill>
                <a:latin typeface="Calibri" panose="020F0502020204030204"/>
              </a:rPr>
              <a:t>Module 1: Data Ingestion, Chunking &amp; Embedding</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grpSp>
        <p:nvGrpSpPr>
          <p:cNvPr id="10" name="Group 9">
            <a:extLst>
              <a:ext uri="{FF2B5EF4-FFF2-40B4-BE49-F238E27FC236}">
                <a16:creationId xmlns:a16="http://schemas.microsoft.com/office/drawing/2014/main" id="{2DAC5BB9-5E50-0200-97DE-72E59A920731}"/>
              </a:ext>
            </a:extLst>
          </p:cNvPr>
          <p:cNvGrpSpPr/>
          <p:nvPr/>
        </p:nvGrpSpPr>
        <p:grpSpPr>
          <a:xfrm>
            <a:off x="2489200" y="3402944"/>
            <a:ext cx="6502400" cy="2660249"/>
            <a:chOff x="2489200" y="3402944"/>
            <a:chExt cx="6578600" cy="2660249"/>
          </a:xfrm>
        </p:grpSpPr>
        <p:pic>
          <p:nvPicPr>
            <p:cNvPr id="7" name="Picture 6" descr="The image illustrates a flowchart depicting a system for processing legal documents, which includes steps like chunking, embedding, indexing, and semantic division, aimed at improving legal information retrieval.&#10;&#10;AI-generated content may be incorrect.">
              <a:extLst>
                <a:ext uri="{FF2B5EF4-FFF2-40B4-BE49-F238E27FC236}">
                  <a16:creationId xmlns:a16="http://schemas.microsoft.com/office/drawing/2014/main" id="{817DD3D3-35A8-D61E-7B0D-D44D5D20F930}"/>
                </a:ext>
              </a:extLst>
            </p:cNvPr>
            <p:cNvPicPr>
              <a:picLocks noChangeAspect="1"/>
            </p:cNvPicPr>
            <p:nvPr/>
          </p:nvPicPr>
          <p:blipFill>
            <a:blip r:embed="rId2">
              <a:extLst>
                <a:ext uri="{28A0092B-C50C-407E-A947-70E740481C1C}">
                  <a14:useLocalDpi xmlns:a14="http://schemas.microsoft.com/office/drawing/2010/main" val="0"/>
                </a:ext>
              </a:extLst>
            </a:blip>
            <a:srcRect t="16493" b="11056"/>
            <a:stretch>
              <a:fillRect/>
            </a:stretch>
          </p:blipFill>
          <p:spPr>
            <a:xfrm>
              <a:off x="2489200" y="3402944"/>
              <a:ext cx="6578600" cy="2660249"/>
            </a:xfrm>
            <a:prstGeom prst="rect">
              <a:avLst/>
            </a:prstGeom>
          </p:spPr>
        </p:pic>
        <p:sp>
          <p:nvSpPr>
            <p:cNvPr id="8" name="Rectangle 7">
              <a:extLst>
                <a:ext uri="{FF2B5EF4-FFF2-40B4-BE49-F238E27FC236}">
                  <a16:creationId xmlns:a16="http://schemas.microsoft.com/office/drawing/2014/main" id="{CBCF03E4-9399-BA6B-7967-D60B0D0646E8}"/>
                </a:ext>
              </a:extLst>
            </p:cNvPr>
            <p:cNvSpPr/>
            <p:nvPr/>
          </p:nvSpPr>
          <p:spPr>
            <a:xfrm>
              <a:off x="7653866" y="5574803"/>
              <a:ext cx="1413934" cy="4455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latin typeface="Arial Rounded MT Bold" panose="020F0704030504030204" pitchFamily="34" charset="0"/>
                </a:rPr>
                <a:t>Vector </a:t>
              </a:r>
            </a:p>
            <a:p>
              <a:pPr algn="ctr"/>
              <a:r>
                <a:rPr lang="en-IN" sz="1200" dirty="0">
                  <a:solidFill>
                    <a:schemeClr val="tx1"/>
                  </a:solidFill>
                  <a:latin typeface="Arial Rounded MT Bold" panose="020F0704030504030204" pitchFamily="34" charset="0"/>
                </a:rPr>
                <a:t>Database</a:t>
              </a:r>
            </a:p>
          </p:txBody>
        </p:sp>
      </p:gr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6032" y="1371600"/>
            <a:ext cx="10625328" cy="4023360"/>
          </a:xfrm>
        </p:spPr>
        <p:txBody>
          <a:bodyPr wrap="square"/>
          <a:lstStyle/>
          <a:p>
            <a:pPr marL="256032" indent="-256032" algn="l">
              <a:lnSpc>
                <a:spcPct val="100000"/>
              </a:lnSpc>
              <a:spcAft>
                <a:spcPts val="1000"/>
              </a:spcAft>
              <a:buNone/>
            </a:pPr>
            <a:r>
              <a:rPr sz="1700" b="1" dirty="0">
                <a:solidFill>
                  <a:srgbClr val="13294B"/>
                </a:solidFill>
                <a:latin typeface="Calibri"/>
              </a:rPr>
              <a:t>•  Dense retrieval: </a:t>
            </a:r>
            <a:r>
              <a:rPr sz="1700" b="0" dirty="0">
                <a:solidFill>
                  <a:srgbClr val="1A1A1A"/>
                </a:solidFill>
                <a:latin typeface="Calibri"/>
              </a:rPr>
              <a:t>Catches conceptually related precedents even with no shared vocabulary (e.g. “raw material shortage” ≈ “unable to procure supplies”).</a:t>
            </a:r>
          </a:p>
          <a:p>
            <a:pPr marL="256032" indent="-256032" algn="l">
              <a:lnSpc>
                <a:spcPct val="100000"/>
              </a:lnSpc>
              <a:spcAft>
                <a:spcPts val="1000"/>
              </a:spcAft>
              <a:buNone/>
            </a:pPr>
            <a:r>
              <a:rPr sz="1700" b="1" dirty="0">
                <a:solidFill>
                  <a:srgbClr val="13294B"/>
                </a:solidFill>
                <a:latin typeface="Calibri"/>
              </a:rPr>
              <a:t>•  Sparse retrieval: </a:t>
            </a:r>
            <a:r>
              <a:rPr sz="1700" b="0" dirty="0">
                <a:solidFill>
                  <a:srgbClr val="1A1A1A"/>
                </a:solidFill>
                <a:latin typeface="Calibri"/>
              </a:rPr>
              <a:t>Catches exact statutory/citation matches that dense embeddings can blur (e.g. “Section 56”).</a:t>
            </a:r>
          </a:p>
          <a:p>
            <a:pPr marL="256032" indent="-256032" algn="l">
              <a:lnSpc>
                <a:spcPct val="100000"/>
              </a:lnSpc>
              <a:spcAft>
                <a:spcPts val="1000"/>
              </a:spcAft>
              <a:buNone/>
            </a:pPr>
            <a:r>
              <a:rPr sz="1700" b="1" dirty="0">
                <a:solidFill>
                  <a:srgbClr val="13294B"/>
                </a:solidFill>
                <a:latin typeface="Calibri"/>
              </a:rPr>
              <a:t>•  Fusion &amp; reranking: </a:t>
            </a:r>
            <a:r>
              <a:rPr sz="1700" b="0" dirty="0">
                <a:solidFill>
                  <a:srgbClr val="1A1A1A"/>
                </a:solidFill>
                <a:latin typeface="Calibri"/>
              </a:rPr>
              <a:t>Reciprocal Rank Fusion combines both rankings by position, not raw score; a cross-encoder </a:t>
            </a:r>
            <a:r>
              <a:rPr sz="1700" b="0" dirty="0" err="1">
                <a:solidFill>
                  <a:srgbClr val="1A1A1A"/>
                </a:solidFill>
                <a:latin typeface="Calibri"/>
              </a:rPr>
              <a:t>reranks</a:t>
            </a:r>
            <a:r>
              <a:rPr sz="1700" b="0" dirty="0">
                <a:solidFill>
                  <a:srgbClr val="1A1A1A"/>
                </a:solidFill>
                <a:latin typeface="Calibri"/>
              </a:rPr>
              <a:t> the fused shortlist for final precision — this hybrid design is what grounds the entire downstream pipeline.</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200" b="1" dirty="0">
                <a:solidFill>
                  <a:srgbClr val="5B9BD5">
                    <a:lumMod val="50000"/>
                  </a:srgbClr>
                </a:solidFill>
                <a:latin typeface="Calibri" panose="020F0502020204030204"/>
              </a:rPr>
              <a:t>Module 2: Hybrid Retrieval Engine (Core RAG Component)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grpSp>
        <p:nvGrpSpPr>
          <p:cNvPr id="11" name="Group 10">
            <a:extLst>
              <a:ext uri="{FF2B5EF4-FFF2-40B4-BE49-F238E27FC236}">
                <a16:creationId xmlns:a16="http://schemas.microsoft.com/office/drawing/2014/main" id="{6F2CBA3E-8827-43EE-1625-80769575D107}"/>
              </a:ext>
            </a:extLst>
          </p:cNvPr>
          <p:cNvGrpSpPr/>
          <p:nvPr/>
        </p:nvGrpSpPr>
        <p:grpSpPr>
          <a:xfrm>
            <a:off x="1727199" y="3310818"/>
            <a:ext cx="8856133" cy="2752375"/>
            <a:chOff x="1193800" y="3310818"/>
            <a:chExt cx="8534400" cy="2816352"/>
          </a:xfrm>
        </p:grpSpPr>
        <p:pic>
          <p:nvPicPr>
            <p:cNvPr id="7" name="Picture 6" descr="The image illustrates a diagram of a two-stream architecture for a hybrid retrieval engine, featuring components like BM25, Cross-Encoder, and Dense Search (Legal-BERT), used for keyword search and ranking in a university project.&#10;&#10;AI-generated content may be incorrect.">
              <a:extLst>
                <a:ext uri="{FF2B5EF4-FFF2-40B4-BE49-F238E27FC236}">
                  <a16:creationId xmlns:a16="http://schemas.microsoft.com/office/drawing/2014/main" id="{7C5927BE-D331-335F-5FF6-E6BB01C5DC64}"/>
                </a:ext>
              </a:extLst>
            </p:cNvPr>
            <p:cNvPicPr>
              <a:picLocks noChangeAspect="1"/>
            </p:cNvPicPr>
            <p:nvPr/>
          </p:nvPicPr>
          <p:blipFill>
            <a:blip r:embed="rId2">
              <a:extLst>
                <a:ext uri="{28A0092B-C50C-407E-A947-70E740481C1C}">
                  <a14:useLocalDpi xmlns:a14="http://schemas.microsoft.com/office/drawing/2010/main" val="0"/>
                </a:ext>
              </a:extLst>
            </a:blip>
            <a:srcRect t="23752" b="17122"/>
            <a:stretch>
              <a:fillRect/>
            </a:stretch>
          </p:blipFill>
          <p:spPr>
            <a:xfrm>
              <a:off x="1193800" y="3310818"/>
              <a:ext cx="8534400" cy="2816352"/>
            </a:xfrm>
            <a:prstGeom prst="rect">
              <a:avLst/>
            </a:prstGeom>
          </p:spPr>
        </p:pic>
        <p:sp>
          <p:nvSpPr>
            <p:cNvPr id="8" name="Rectangle 7">
              <a:extLst>
                <a:ext uri="{FF2B5EF4-FFF2-40B4-BE49-F238E27FC236}">
                  <a16:creationId xmlns:a16="http://schemas.microsoft.com/office/drawing/2014/main" id="{99D49409-A822-3CBB-AC53-49877AC02DC2}"/>
                </a:ext>
              </a:extLst>
            </p:cNvPr>
            <p:cNvSpPr/>
            <p:nvPr/>
          </p:nvSpPr>
          <p:spPr>
            <a:xfrm>
              <a:off x="4097867" y="3383280"/>
              <a:ext cx="2853266" cy="6773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7CCC08C-5E33-90E3-EE3F-4563A3878D0D}"/>
                </a:ext>
              </a:extLst>
            </p:cNvPr>
            <p:cNvSpPr/>
            <p:nvPr/>
          </p:nvSpPr>
          <p:spPr>
            <a:xfrm>
              <a:off x="4284134" y="5422398"/>
              <a:ext cx="2853266" cy="6773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5928697" y="2025272"/>
            <a:ext cx="6098107" cy="4253979"/>
          </a:xfrm>
        </p:spPr>
        <p:txBody>
          <a:bodyPr wrap="square"/>
          <a:lstStyle/>
          <a:p>
            <a:pPr marL="256032" indent="-256032" algn="just">
              <a:lnSpc>
                <a:spcPct val="100000"/>
              </a:lnSpc>
              <a:spcAft>
                <a:spcPts val="1000"/>
              </a:spcAft>
              <a:buNone/>
            </a:pPr>
            <a:r>
              <a:rPr sz="1700" b="1" dirty="0">
                <a:solidFill>
                  <a:srgbClr val="13294B"/>
                </a:solidFill>
                <a:latin typeface="Calibri"/>
              </a:rPr>
              <a:t>• </a:t>
            </a:r>
            <a:r>
              <a:rPr sz="1700" dirty="0">
                <a:solidFill>
                  <a:srgbClr val="13294B"/>
                </a:solidFill>
                <a:latin typeface="Calibri"/>
              </a:rPr>
              <a:t>H</a:t>
            </a:r>
            <a:r>
              <a:rPr sz="1700" b="1" dirty="0">
                <a:solidFill>
                  <a:srgbClr val="13294B"/>
                </a:solidFill>
                <a:latin typeface="Calibri"/>
              </a:rPr>
              <a:t>olding </a:t>
            </a:r>
            <a:r>
              <a:rPr sz="1700" b="1" dirty="0" err="1">
                <a:solidFill>
                  <a:srgbClr val="13294B"/>
                </a:solidFill>
                <a:latin typeface="Calibri"/>
              </a:rPr>
              <a:t>summariser</a:t>
            </a:r>
            <a:r>
              <a:rPr sz="1700" b="1" dirty="0">
                <a:solidFill>
                  <a:srgbClr val="13294B"/>
                </a:solidFill>
                <a:latin typeface="Calibri"/>
              </a:rPr>
              <a:t>: </a:t>
            </a:r>
            <a:r>
              <a:rPr sz="1700" b="0" dirty="0">
                <a:solidFill>
                  <a:srgbClr val="1A1A1A"/>
                </a:solidFill>
                <a:latin typeface="Calibri"/>
              </a:rPr>
              <a:t>an LLM </a:t>
            </a:r>
            <a:r>
              <a:rPr sz="1700" b="0" dirty="0" err="1">
                <a:solidFill>
                  <a:srgbClr val="1A1A1A"/>
                </a:solidFill>
                <a:latin typeface="Calibri"/>
              </a:rPr>
              <a:t>summarises</a:t>
            </a:r>
            <a:r>
              <a:rPr sz="1700" b="0" dirty="0">
                <a:solidFill>
                  <a:srgbClr val="1A1A1A"/>
                </a:solidFill>
                <a:latin typeface="Calibri"/>
              </a:rPr>
              <a:t> only the already-isolated ratio decidendi chunk, reducing hallucination risk versus </a:t>
            </a:r>
            <a:r>
              <a:rPr sz="1700" b="0" dirty="0" err="1">
                <a:solidFill>
                  <a:srgbClr val="1A1A1A"/>
                </a:solidFill>
                <a:latin typeface="Calibri"/>
              </a:rPr>
              <a:t>summarising</a:t>
            </a:r>
            <a:r>
              <a:rPr sz="1700" b="0" dirty="0">
                <a:solidFill>
                  <a:srgbClr val="1A1A1A"/>
                </a:solidFill>
                <a:latin typeface="Calibri"/>
              </a:rPr>
              <a:t> an unsegmented judgment.</a:t>
            </a:r>
          </a:p>
          <a:p>
            <a:pPr marL="256032" indent="-256032" algn="just">
              <a:lnSpc>
                <a:spcPct val="100000"/>
              </a:lnSpc>
              <a:spcAft>
                <a:spcPts val="1000"/>
              </a:spcAft>
              <a:buNone/>
            </a:pPr>
            <a:r>
              <a:rPr sz="1700" b="1" dirty="0">
                <a:solidFill>
                  <a:srgbClr val="13294B"/>
                </a:solidFill>
                <a:latin typeface="Calibri"/>
              </a:rPr>
              <a:t>•  Argument drafter: </a:t>
            </a:r>
            <a:r>
              <a:rPr sz="1700" b="0" dirty="0">
                <a:solidFill>
                  <a:srgbClr val="1A1A1A"/>
                </a:solidFill>
                <a:latin typeface="Calibri"/>
              </a:rPr>
              <a:t>retrieved, </a:t>
            </a:r>
            <a:r>
              <a:rPr sz="1700" b="0" dirty="0" err="1">
                <a:solidFill>
                  <a:srgbClr val="1A1A1A"/>
                </a:solidFill>
                <a:latin typeface="Calibri"/>
              </a:rPr>
              <a:t>summarised</a:t>
            </a:r>
            <a:r>
              <a:rPr sz="1700" b="0" dirty="0">
                <a:solidFill>
                  <a:srgbClr val="1A1A1A"/>
                </a:solidFill>
                <a:latin typeface="Calibri"/>
              </a:rPr>
              <a:t> holdings are </a:t>
            </a:r>
            <a:r>
              <a:rPr sz="1700" b="0" dirty="0" err="1">
                <a:solidFill>
                  <a:srgbClr val="1A1A1A"/>
                </a:solidFill>
                <a:latin typeface="Calibri"/>
              </a:rPr>
              <a:t>organised</a:t>
            </a:r>
            <a:r>
              <a:rPr sz="1700" b="0" dirty="0">
                <a:solidFill>
                  <a:srgbClr val="1A1A1A"/>
                </a:solidFill>
                <a:latin typeface="Calibri"/>
              </a:rPr>
              <a:t> into a citation-linked pro/contra outline — every sentence traces to a source judgment ID by construction, not by prompt instruction alone.</a:t>
            </a:r>
          </a:p>
          <a:p>
            <a:pPr marL="256032" indent="-256032" algn="just">
              <a:lnSpc>
                <a:spcPct val="100000"/>
              </a:lnSpc>
              <a:spcAft>
                <a:spcPts val="1000"/>
              </a:spcAft>
              <a:buNone/>
            </a:pPr>
            <a:r>
              <a:rPr sz="1700" b="1" dirty="0">
                <a:solidFill>
                  <a:srgbClr val="13294B"/>
                </a:solidFill>
                <a:latin typeface="Calibri"/>
              </a:rPr>
              <a:t>•  Session grounding: </a:t>
            </a:r>
            <a:r>
              <a:rPr sz="1700" b="0" dirty="0">
                <a:solidFill>
                  <a:srgbClr val="1A1A1A"/>
                </a:solidFill>
                <a:latin typeface="Calibri"/>
              </a:rPr>
              <a:t>an advocate's uploaded case file is retrieved against alongside the corpus-wide index, contextualizing the outline to their specific facts.</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5" y="502545"/>
            <a:ext cx="11639671" cy="1077218"/>
          </a:xfrm>
          <a:prstGeom prst="rect">
            <a:avLst/>
          </a:prstGeom>
          <a:noFill/>
        </p:spPr>
        <p:txBody>
          <a:bodyPr wrap="square" rtlCol="0">
            <a:spAutoFit/>
          </a:bodyPr>
          <a:lstStyle/>
          <a:p>
            <a:pPr lvl="0">
              <a:defRPr/>
            </a:pPr>
            <a:r>
              <a:rPr lang="en-US" sz="3200" b="1" dirty="0">
                <a:solidFill>
                  <a:srgbClr val="5B9BD5">
                    <a:lumMod val="50000"/>
                  </a:srgbClr>
                </a:solidFill>
                <a:latin typeface="Calibri" panose="020F0502020204030204"/>
              </a:rPr>
              <a:t>Module 3: Generation Layer — Holding Extraction &amp; Argument Synthesis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365207" y="1665889"/>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pic>
        <p:nvPicPr>
          <p:cNvPr id="7" name="Picture 6" descr="The image depicts a laptop screen displaying a section of the Negotiable Instruments Act, 1881, outlining the legal process for addressing the dishonour of a cheque due to insufficient funds, including timelines and procedural steps.&#10;&#10;AI-generated content may be incorrect.">
            <a:extLst>
              <a:ext uri="{FF2B5EF4-FFF2-40B4-BE49-F238E27FC236}">
                <a16:creationId xmlns:a16="http://schemas.microsoft.com/office/drawing/2014/main" id="{4D494DCD-9489-A894-CCA2-AB01E1ED65F8}"/>
              </a:ext>
            </a:extLst>
          </p:cNvPr>
          <p:cNvPicPr>
            <a:picLocks noChangeAspect="1"/>
          </p:cNvPicPr>
          <p:nvPr/>
        </p:nvPicPr>
        <p:blipFill>
          <a:blip r:embed="rId2">
            <a:extLst>
              <a:ext uri="{28A0092B-C50C-407E-A947-70E740481C1C}">
                <a14:useLocalDpi xmlns:a14="http://schemas.microsoft.com/office/drawing/2010/main" val="0"/>
              </a:ext>
            </a:extLst>
          </a:blip>
          <a:srcRect t="15822" r="2183" b="3226"/>
          <a:stretch>
            <a:fillRect/>
          </a:stretch>
        </p:blipFill>
        <p:spPr>
          <a:xfrm>
            <a:off x="67733" y="2352484"/>
            <a:ext cx="5860964" cy="276138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6032" y="1371600"/>
            <a:ext cx="10625328" cy="4023360"/>
          </a:xfrm>
        </p:spPr>
        <p:txBody>
          <a:bodyPr wrap="square"/>
          <a:lstStyle/>
          <a:p>
            <a:pPr marL="256032" indent="-256032" algn="l">
              <a:lnSpc>
                <a:spcPct val="100000"/>
              </a:lnSpc>
              <a:spcAft>
                <a:spcPts val="1000"/>
              </a:spcAft>
              <a:buNone/>
            </a:pPr>
            <a:r>
              <a:rPr sz="1700" b="1" dirty="0">
                <a:solidFill>
                  <a:srgbClr val="13294B"/>
                </a:solidFill>
                <a:latin typeface="Calibri"/>
              </a:rPr>
              <a:t>•  Retrieval quality: </a:t>
            </a:r>
            <a:r>
              <a:rPr sz="1700" b="0" dirty="0">
                <a:solidFill>
                  <a:srgbClr val="1A1A1A"/>
                </a:solidFill>
                <a:latin typeface="Calibri"/>
              </a:rPr>
              <a:t>nDCG@10 and MRR, reported with 95% bootstrap confidence intervals rather than a single point estimate.</a:t>
            </a:r>
          </a:p>
          <a:p>
            <a:pPr marL="256032" indent="-256032" algn="l">
              <a:lnSpc>
                <a:spcPct val="100000"/>
              </a:lnSpc>
              <a:spcAft>
                <a:spcPts val="1000"/>
              </a:spcAft>
              <a:buNone/>
            </a:pPr>
            <a:r>
              <a:rPr sz="1700" b="1" dirty="0">
                <a:solidFill>
                  <a:srgbClr val="13294B"/>
                </a:solidFill>
                <a:latin typeface="Calibri"/>
              </a:rPr>
              <a:t>•  Significance testing: </a:t>
            </a:r>
            <a:r>
              <a:rPr sz="1700" b="0" dirty="0">
                <a:solidFill>
                  <a:srgbClr val="1A1A1A"/>
                </a:solidFill>
                <a:latin typeface="Calibri"/>
              </a:rPr>
              <a:t>paired Wilcoxon signed-rank test comparing hybrid retrieval against BM25-only and dense-only baselines.</a:t>
            </a:r>
          </a:p>
          <a:p>
            <a:pPr marL="256032" indent="-256032" algn="l">
              <a:lnSpc>
                <a:spcPct val="100000"/>
              </a:lnSpc>
              <a:spcAft>
                <a:spcPts val="1000"/>
              </a:spcAft>
              <a:buNone/>
            </a:pPr>
            <a:r>
              <a:rPr sz="1700" b="1" dirty="0">
                <a:solidFill>
                  <a:srgbClr val="13294B"/>
                </a:solidFill>
                <a:latin typeface="Calibri"/>
              </a:rPr>
              <a:t>•  Holding-extraction accuracy: </a:t>
            </a:r>
            <a:r>
              <a:rPr sz="1700" b="0" dirty="0">
                <a:solidFill>
                  <a:srgbClr val="1A1A1A"/>
                </a:solidFill>
                <a:latin typeface="Calibri"/>
              </a:rPr>
              <a:t>ROUGE-L F1 against gold-standard holdings (IL-TUR expert annotations / hand-labeled validation set).</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200" b="1" dirty="0">
                <a:solidFill>
                  <a:srgbClr val="5B9BD5">
                    <a:lumMod val="50000"/>
                  </a:srgbClr>
                </a:solidFill>
                <a:latin typeface="Calibri" panose="020F0502020204030204"/>
              </a:rPr>
              <a:t>Module 4: Evaluation &amp; Statistical Validation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pic>
        <p:nvPicPr>
          <p:cNvPr id="7" name="Picture 6" descr="The image is a dashboard displaying various statistical metrics, including confidence intervals, precision, recall, and accuracy measures, for different models and tasks.&#10;&#10;AI-generated content may be incorrect.">
            <a:extLst>
              <a:ext uri="{FF2B5EF4-FFF2-40B4-BE49-F238E27FC236}">
                <a16:creationId xmlns:a16="http://schemas.microsoft.com/office/drawing/2014/main" id="{B647847C-7448-F5D2-1BC1-4802D61123F1}"/>
              </a:ext>
            </a:extLst>
          </p:cNvPr>
          <p:cNvPicPr>
            <a:picLocks noChangeAspect="1"/>
          </p:cNvPicPr>
          <p:nvPr/>
        </p:nvPicPr>
        <p:blipFill>
          <a:blip r:embed="rId2">
            <a:extLst>
              <a:ext uri="{28A0092B-C50C-407E-A947-70E740481C1C}">
                <a14:useLocalDpi xmlns:a14="http://schemas.microsoft.com/office/drawing/2010/main" val="0"/>
              </a:ext>
            </a:extLst>
          </a:blip>
          <a:srcRect l="4306" t="19286" r="3403" b="9396"/>
          <a:stretch>
            <a:fillRect/>
          </a:stretch>
        </p:blipFill>
        <p:spPr>
          <a:xfrm>
            <a:off x="1490133" y="3703548"/>
            <a:ext cx="9076268" cy="187125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64FD3A-D9CE-08E8-5897-912DB013D1A8}"/>
              </a:ext>
            </a:extLst>
          </p:cNvPr>
          <p:cNvSpPr>
            <a:spLocks noGrp="1"/>
          </p:cNvSpPr>
          <p:nvPr>
            <p:ph type="body" sz="quarter" idx="15"/>
          </p:nvPr>
        </p:nvSpPr>
        <p:spPr>
          <a:xfrm>
            <a:off x="3992458" y="2709423"/>
            <a:ext cx="4271976" cy="991720"/>
          </a:xfrm>
        </p:spPr>
        <p:txBody>
          <a:bodyPr/>
          <a:lstStyle/>
          <a:p>
            <a:pPr marL="0" indent="0">
              <a:buNone/>
            </a:pPr>
            <a:r>
              <a:rPr lang="en-IN" sz="72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p:txBody>
      </p:sp>
    </p:spTree>
    <p:extLst>
      <p:ext uri="{BB962C8B-B14F-4D97-AF65-F5344CB8AC3E}">
        <p14:creationId xmlns:p14="http://schemas.microsoft.com/office/powerpoint/2010/main" val="1455258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1587</Words>
  <Application>Microsoft Office PowerPoint</Application>
  <PresentationFormat>Widescreen</PresentationFormat>
  <Paragraphs>118</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Calibri (Body)</vt:lpstr>
      <vt:lpstr>Frutiger 45 bold</vt:lpstr>
      <vt:lpstr>Frutiger LT Pro 45 Light</vt:lpstr>
      <vt:lpstr>Arial</vt:lpstr>
      <vt:lpstr>Arial Rounded MT Bold</vt:lpstr>
      <vt:lpstr>Calibri</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krithanaa22803@outlook.com</cp:lastModifiedBy>
  <cp:revision>14</cp:revision>
  <dcterms:created xsi:type="dcterms:W3CDTF">2024-05-13T10:33:11Z</dcterms:created>
  <dcterms:modified xsi:type="dcterms:W3CDTF">2026-09-06T12:13:09Z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