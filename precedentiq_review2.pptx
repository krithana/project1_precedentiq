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147470501" r:id="rId2"/>
    <p:sldId id="2147470502" r:id="rId3"/>
    <p:sldId id="2147470503" r:id="rId4"/>
    <p:sldId id="2147470504" r:id="rId5"/>
    <p:sldId id="2147470487" r:id="rId6"/>
    <p:sldId id="2147470505" r:id="rId7"/>
    <p:sldId id="2147470506" r:id="rId8"/>
    <p:sldId id="2147470507" r:id="rId9"/>
    <p:sldId id="2147470508" r:id="rId10"/>
    <p:sldId id="2147470509" r:id="rId11"/>
    <p:sldId id="2147470497" r:id="rId12"/>
    <p:sldId id="2147470498" r:id="rId13"/>
    <p:sldId id="2147470500" r:id="rId14"/>
    <p:sldId id="2147470510" r:id="rId15"/>
    <p:sldId id="214747051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E79"/>
    <a:srgbClr val="0070C0"/>
    <a:srgbClr val="1C4D98"/>
    <a:srgbClr val="FFFFFF"/>
    <a:srgbClr val="25B9ED"/>
    <a:srgbClr val="47BDAE"/>
    <a:srgbClr val="30BBDA"/>
    <a:srgbClr val="47BDAF"/>
    <a:srgbClr val="696969"/>
    <a:srgbClr val="8BC4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900" y="3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EEA8E6-25CB-4CBF-A109-7A11FE09FCD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377D29B8-D7DA-455E-85C6-7B39CFAC8A54}">
      <dgm:prSet phldrT="[Text]"/>
      <dgm:spPr>
        <a:solidFill>
          <a:schemeClr val="tx2">
            <a:lumMod val="50000"/>
          </a:schemeClr>
        </a:solidFill>
      </dgm:spPr>
      <dgm:t>
        <a:bodyPr/>
        <a:lstStyle/>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1. Document Parsing</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Process Supreme Court &amp; High Court judgments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Extract textual content from source documents</a:t>
          </a:r>
        </a:p>
      </dgm:t>
    </dgm:pt>
    <dgm:pt modelId="{A59397DB-4A62-44AD-9A29-2BA416114896}" type="parTrans" cxnId="{2CE703DB-AFAF-4752-9842-2D36FABF337F}">
      <dgm:prSet/>
      <dgm:spPr/>
      <dgm:t>
        <a:bodyPr/>
        <a:lstStyle/>
        <a:p>
          <a:endParaRPr lang="en-IN">
            <a:latin typeface="Times New Roman" panose="02020603050405020304" pitchFamily="18" charset="0"/>
            <a:cs typeface="Times New Roman" panose="02020603050405020304" pitchFamily="18" charset="0"/>
          </a:endParaRPr>
        </a:p>
      </dgm:t>
    </dgm:pt>
    <dgm:pt modelId="{FAFE1CB5-65AB-4D2A-8239-344BF5927764}" type="sibTrans" cxnId="{2CE703DB-AFAF-4752-9842-2D36FABF337F}">
      <dgm:prSet/>
      <dgm:spPr/>
      <dgm:t>
        <a:bodyPr/>
        <a:lstStyle/>
        <a:p>
          <a:endParaRPr lang="en-IN">
            <a:latin typeface="Times New Roman" panose="02020603050405020304" pitchFamily="18" charset="0"/>
            <a:cs typeface="Times New Roman" panose="02020603050405020304" pitchFamily="18" charset="0"/>
          </a:endParaRPr>
        </a:p>
      </dgm:t>
    </dgm:pt>
    <dgm:pt modelId="{F9B64ECD-A7DF-49CB-A5C2-B5C8EAFD7F50}">
      <dgm:prSet phldrT="[Text]"/>
      <dgm:spPr>
        <a:solidFill>
          <a:schemeClr val="accent2"/>
        </a:solidFill>
      </dgm:spPr>
      <dgm:t>
        <a:bodyPr/>
        <a:lstStyle/>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2. Text Normalization</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Normalize legal terminology and citation formats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Handle variations such as </a:t>
          </a:r>
          <a:r>
            <a:rPr lang="en-IN" b="1" dirty="0">
              <a:latin typeface="Times New Roman" panose="02020603050405020304" pitchFamily="18" charset="0"/>
              <a:cs typeface="Times New Roman" panose="02020603050405020304" pitchFamily="18" charset="0"/>
            </a:rPr>
            <a:t>“S. 138” / “Section 138”</a:t>
          </a:r>
          <a:endParaRPr lang="en-IN" dirty="0">
            <a:latin typeface="Times New Roman" panose="02020603050405020304" pitchFamily="18" charset="0"/>
            <a:cs typeface="Times New Roman" panose="02020603050405020304" pitchFamily="18" charset="0"/>
          </a:endParaRPr>
        </a:p>
      </dgm:t>
    </dgm:pt>
    <dgm:pt modelId="{1D5E61CD-D887-4A65-A72C-904CFB37C82D}" type="parTrans" cxnId="{BEADF816-E8CD-4D44-A43C-0FA2113120BA}">
      <dgm:prSet/>
      <dgm:spPr/>
      <dgm:t>
        <a:bodyPr/>
        <a:lstStyle/>
        <a:p>
          <a:endParaRPr lang="en-IN">
            <a:latin typeface="Times New Roman" panose="02020603050405020304" pitchFamily="18" charset="0"/>
            <a:cs typeface="Times New Roman" panose="02020603050405020304" pitchFamily="18" charset="0"/>
          </a:endParaRPr>
        </a:p>
      </dgm:t>
    </dgm:pt>
    <dgm:pt modelId="{7EAA2FCD-53ED-40B6-85C9-AB239DE4A1BD}" type="sibTrans" cxnId="{BEADF816-E8CD-4D44-A43C-0FA2113120BA}">
      <dgm:prSet/>
      <dgm:spPr/>
      <dgm:t>
        <a:bodyPr/>
        <a:lstStyle/>
        <a:p>
          <a:endParaRPr lang="en-IN">
            <a:latin typeface="Times New Roman" panose="02020603050405020304" pitchFamily="18" charset="0"/>
            <a:cs typeface="Times New Roman" panose="02020603050405020304" pitchFamily="18" charset="0"/>
          </a:endParaRPr>
        </a:p>
      </dgm:t>
    </dgm:pt>
    <dgm:pt modelId="{9F98F2F8-BBF8-48A6-967D-1B1ABED353C1}">
      <dgm:prSet phldrT="[Text]"/>
      <dgm:spPr>
        <a:solidFill>
          <a:schemeClr val="accent6"/>
        </a:solidFill>
      </dgm:spPr>
      <dgm:t>
        <a:bodyPr/>
        <a:lstStyle/>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3. Legal-Domain Structural Chunking</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Segment judgments based on legal structure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Identify </a:t>
          </a:r>
          <a:r>
            <a:rPr lang="en-IN" b="1" dirty="0">
              <a:latin typeface="Times New Roman" panose="02020603050405020304" pitchFamily="18" charset="0"/>
              <a:cs typeface="Times New Roman" panose="02020603050405020304" pitchFamily="18" charset="0"/>
            </a:rPr>
            <a:t>Facts, Issues, Submissions, Reasoning, Ratio Decidendi, Obiter Dicta &amp; Order</a:t>
          </a:r>
          <a:endParaRPr lang="en-IN" dirty="0">
            <a:latin typeface="Times New Roman" panose="02020603050405020304" pitchFamily="18" charset="0"/>
            <a:cs typeface="Times New Roman" panose="02020603050405020304" pitchFamily="18" charset="0"/>
          </a:endParaRPr>
        </a:p>
      </dgm:t>
    </dgm:pt>
    <dgm:pt modelId="{EE52EFEB-6B63-4E2A-8244-426B7D2CF640}" type="parTrans" cxnId="{2A24551E-C2CE-4057-B0EF-B160CC692E04}">
      <dgm:prSet/>
      <dgm:spPr/>
      <dgm:t>
        <a:bodyPr/>
        <a:lstStyle/>
        <a:p>
          <a:endParaRPr lang="en-IN">
            <a:latin typeface="Times New Roman" panose="02020603050405020304" pitchFamily="18" charset="0"/>
            <a:cs typeface="Times New Roman" panose="02020603050405020304" pitchFamily="18" charset="0"/>
          </a:endParaRPr>
        </a:p>
      </dgm:t>
    </dgm:pt>
    <dgm:pt modelId="{1D7AAE29-700C-465A-BD19-E9395E46D013}" type="sibTrans" cxnId="{2A24551E-C2CE-4057-B0EF-B160CC692E04}">
      <dgm:prSet/>
      <dgm:spPr/>
      <dgm:t>
        <a:bodyPr/>
        <a:lstStyle/>
        <a:p>
          <a:endParaRPr lang="en-IN">
            <a:latin typeface="Times New Roman" panose="02020603050405020304" pitchFamily="18" charset="0"/>
            <a:cs typeface="Times New Roman" panose="02020603050405020304" pitchFamily="18" charset="0"/>
          </a:endParaRPr>
        </a:p>
      </dgm:t>
    </dgm:pt>
    <dgm:pt modelId="{C79E4420-78CB-470E-802A-9414C1996127}">
      <dgm:prSet phldrT="[Text]"/>
      <dgm:spPr>
        <a:solidFill>
          <a:srgbClr val="C00000"/>
        </a:solidFill>
      </dgm:spPr>
      <dgm:t>
        <a:bodyPr/>
        <a:lstStyle/>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4. Chunk Preparation</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Preserve legal-semantic boundaries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structured chunks for downstream retrieval and generation</a:t>
          </a:r>
        </a:p>
      </dgm:t>
    </dgm:pt>
    <dgm:pt modelId="{840E8932-E57B-4F44-9DEC-3C544FF67B5F}" type="parTrans" cxnId="{818064CA-8A38-4986-9445-62AFE1D6DDFB}">
      <dgm:prSet/>
      <dgm:spPr/>
      <dgm:t>
        <a:bodyPr/>
        <a:lstStyle/>
        <a:p>
          <a:endParaRPr lang="en-IN">
            <a:latin typeface="Times New Roman" panose="02020603050405020304" pitchFamily="18" charset="0"/>
            <a:cs typeface="Times New Roman" panose="02020603050405020304" pitchFamily="18" charset="0"/>
          </a:endParaRPr>
        </a:p>
      </dgm:t>
    </dgm:pt>
    <dgm:pt modelId="{24439A31-D797-461A-87BD-E14537B386DB}" type="sibTrans" cxnId="{818064CA-8A38-4986-9445-62AFE1D6DDFB}">
      <dgm:prSet/>
      <dgm:spPr/>
      <dgm:t>
        <a:bodyPr/>
        <a:lstStyle/>
        <a:p>
          <a:endParaRPr lang="en-IN">
            <a:latin typeface="Times New Roman" panose="02020603050405020304" pitchFamily="18" charset="0"/>
            <a:cs typeface="Times New Roman" panose="02020603050405020304" pitchFamily="18" charset="0"/>
          </a:endParaRPr>
        </a:p>
      </dgm:t>
    </dgm:pt>
    <dgm:pt modelId="{009BD1F1-6A21-4F6C-BF65-15006A170C46}">
      <dgm:prSet phldrT="[Text]"/>
      <dgm:spPr>
        <a:solidFill>
          <a:srgbClr val="7030A0"/>
        </a:solidFill>
      </dgm:spPr>
      <dgm:t>
        <a:bodyPr/>
        <a:lstStyle/>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5. Metadata Preparation</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Associate chunks with </a:t>
          </a:r>
          <a:r>
            <a:rPr lang="en-IN" b="1" dirty="0">
              <a:latin typeface="Times New Roman" panose="02020603050405020304" pitchFamily="18" charset="0"/>
              <a:cs typeface="Times New Roman" panose="02020603050405020304" pitchFamily="18" charset="0"/>
            </a:rPr>
            <a:t>Court, Year &amp; Legal Section</a:t>
          </a:r>
          <a:r>
            <a:rPr lang="en-IN"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 filtering during retrieval</a:t>
          </a:r>
        </a:p>
      </dgm:t>
    </dgm:pt>
    <dgm:pt modelId="{86ECF623-55A8-4DC3-9509-818DEAAAA7C9}" type="parTrans" cxnId="{174D9EC2-76ED-423B-A5F8-7BC25446A1C1}">
      <dgm:prSet/>
      <dgm:spPr/>
      <dgm:t>
        <a:bodyPr/>
        <a:lstStyle/>
        <a:p>
          <a:endParaRPr lang="en-IN">
            <a:latin typeface="Times New Roman" panose="02020603050405020304" pitchFamily="18" charset="0"/>
            <a:cs typeface="Times New Roman" panose="02020603050405020304" pitchFamily="18" charset="0"/>
          </a:endParaRPr>
        </a:p>
      </dgm:t>
    </dgm:pt>
    <dgm:pt modelId="{835E8D54-A05D-4D21-B956-8D159754E378}" type="sibTrans" cxnId="{174D9EC2-76ED-423B-A5F8-7BC25446A1C1}">
      <dgm:prSet/>
      <dgm:spPr/>
      <dgm:t>
        <a:bodyPr/>
        <a:lstStyle/>
        <a:p>
          <a:endParaRPr lang="en-IN">
            <a:latin typeface="Times New Roman" panose="02020603050405020304" pitchFamily="18" charset="0"/>
            <a:cs typeface="Times New Roman" panose="02020603050405020304" pitchFamily="18" charset="0"/>
          </a:endParaRPr>
        </a:p>
      </dgm:t>
    </dgm:pt>
    <dgm:pt modelId="{445C223E-CCD2-494B-A1C5-ECAD01D39CDA}" type="pres">
      <dgm:prSet presAssocID="{28EEA8E6-25CB-4CBF-A109-7A11FE09FCD3}" presName="diagram" presStyleCnt="0">
        <dgm:presLayoutVars>
          <dgm:dir/>
          <dgm:resizeHandles val="exact"/>
        </dgm:presLayoutVars>
      </dgm:prSet>
      <dgm:spPr/>
    </dgm:pt>
    <dgm:pt modelId="{59F52803-24A7-4C7B-AD89-B7E10E2D1E45}" type="pres">
      <dgm:prSet presAssocID="{377D29B8-D7DA-455E-85C6-7B39CFAC8A54}" presName="node" presStyleLbl="node1" presStyleIdx="0" presStyleCnt="5" custLinFactNeighborX="-21454" custLinFactNeighborY="-8514">
        <dgm:presLayoutVars>
          <dgm:bulletEnabled val="1"/>
        </dgm:presLayoutVars>
      </dgm:prSet>
      <dgm:spPr/>
    </dgm:pt>
    <dgm:pt modelId="{B83F51E2-FCF8-4155-8740-EE4713720D66}" type="pres">
      <dgm:prSet presAssocID="{FAFE1CB5-65AB-4D2A-8239-344BF5927764}" presName="sibTrans" presStyleCnt="0"/>
      <dgm:spPr/>
    </dgm:pt>
    <dgm:pt modelId="{5512FD13-5D71-48FA-8A32-7F6850AB38C4}" type="pres">
      <dgm:prSet presAssocID="{F9B64ECD-A7DF-49CB-A5C2-B5C8EAFD7F50}" presName="node" presStyleLbl="node1" presStyleIdx="1" presStyleCnt="5" custLinFactNeighborX="847" custLinFactNeighborY="-8159">
        <dgm:presLayoutVars>
          <dgm:bulletEnabled val="1"/>
        </dgm:presLayoutVars>
      </dgm:prSet>
      <dgm:spPr/>
    </dgm:pt>
    <dgm:pt modelId="{7FC87D7B-E05A-45D1-8E01-5085330B55A4}" type="pres">
      <dgm:prSet presAssocID="{7EAA2FCD-53ED-40B6-85C9-AB239DE4A1BD}" presName="sibTrans" presStyleCnt="0"/>
      <dgm:spPr/>
    </dgm:pt>
    <dgm:pt modelId="{E0AF59AC-9A21-46D7-8A08-27EFDF5B181D}" type="pres">
      <dgm:prSet presAssocID="{9F98F2F8-BBF8-48A6-967D-1B1ABED353C1}" presName="node" presStyleLbl="node1" presStyleIdx="2" presStyleCnt="5" custLinFactNeighborX="477" custLinFactNeighborY="-4182">
        <dgm:presLayoutVars>
          <dgm:bulletEnabled val="1"/>
        </dgm:presLayoutVars>
      </dgm:prSet>
      <dgm:spPr/>
    </dgm:pt>
    <dgm:pt modelId="{EF779408-A472-40C5-B7DD-AD149059C9B2}" type="pres">
      <dgm:prSet presAssocID="{1D7AAE29-700C-465A-BD19-E9395E46D013}" presName="sibTrans" presStyleCnt="0"/>
      <dgm:spPr/>
    </dgm:pt>
    <dgm:pt modelId="{265D4BD8-DAF4-43F0-AA18-B28AE53E6B46}" type="pres">
      <dgm:prSet presAssocID="{C79E4420-78CB-470E-802A-9414C1996127}" presName="node" presStyleLbl="node1" presStyleIdx="3" presStyleCnt="5">
        <dgm:presLayoutVars>
          <dgm:bulletEnabled val="1"/>
        </dgm:presLayoutVars>
      </dgm:prSet>
      <dgm:spPr/>
    </dgm:pt>
    <dgm:pt modelId="{36871FC3-D5EF-4D51-99BE-61CABC9FCDEA}" type="pres">
      <dgm:prSet presAssocID="{24439A31-D797-461A-87BD-E14537B386DB}" presName="sibTrans" presStyleCnt="0"/>
      <dgm:spPr/>
    </dgm:pt>
    <dgm:pt modelId="{78EAF492-FFB8-427E-A3B1-950E0B97A2FB}" type="pres">
      <dgm:prSet presAssocID="{009BD1F1-6A21-4F6C-BF65-15006A170C46}" presName="node" presStyleLbl="node1" presStyleIdx="4" presStyleCnt="5">
        <dgm:presLayoutVars>
          <dgm:bulletEnabled val="1"/>
        </dgm:presLayoutVars>
      </dgm:prSet>
      <dgm:spPr/>
    </dgm:pt>
  </dgm:ptLst>
  <dgm:cxnLst>
    <dgm:cxn modelId="{DC68B507-3417-44DA-BFDE-077E1CFD4F63}" type="presOf" srcId="{C79E4420-78CB-470E-802A-9414C1996127}" destId="{265D4BD8-DAF4-43F0-AA18-B28AE53E6B46}" srcOrd="0" destOrd="0" presId="urn:microsoft.com/office/officeart/2005/8/layout/default"/>
    <dgm:cxn modelId="{BEADF816-E8CD-4D44-A43C-0FA2113120BA}" srcId="{28EEA8E6-25CB-4CBF-A109-7A11FE09FCD3}" destId="{F9B64ECD-A7DF-49CB-A5C2-B5C8EAFD7F50}" srcOrd="1" destOrd="0" parTransId="{1D5E61CD-D887-4A65-A72C-904CFB37C82D}" sibTransId="{7EAA2FCD-53ED-40B6-85C9-AB239DE4A1BD}"/>
    <dgm:cxn modelId="{2A24551E-C2CE-4057-B0EF-B160CC692E04}" srcId="{28EEA8E6-25CB-4CBF-A109-7A11FE09FCD3}" destId="{9F98F2F8-BBF8-48A6-967D-1B1ABED353C1}" srcOrd="2" destOrd="0" parTransId="{EE52EFEB-6B63-4E2A-8244-426B7D2CF640}" sibTransId="{1D7AAE29-700C-465A-BD19-E9395E46D013}"/>
    <dgm:cxn modelId="{6F357465-0976-43CE-9F79-AABBDBA65CED}" type="presOf" srcId="{28EEA8E6-25CB-4CBF-A109-7A11FE09FCD3}" destId="{445C223E-CCD2-494B-A1C5-ECAD01D39CDA}" srcOrd="0" destOrd="0" presId="urn:microsoft.com/office/officeart/2005/8/layout/default"/>
    <dgm:cxn modelId="{58FA5A6F-19C6-410B-9E11-76B5A18EDEA4}" type="presOf" srcId="{F9B64ECD-A7DF-49CB-A5C2-B5C8EAFD7F50}" destId="{5512FD13-5D71-48FA-8A32-7F6850AB38C4}" srcOrd="0" destOrd="0" presId="urn:microsoft.com/office/officeart/2005/8/layout/default"/>
    <dgm:cxn modelId="{38C2CB58-A72E-4A28-95B8-C1D63C63C41E}" type="presOf" srcId="{9F98F2F8-BBF8-48A6-967D-1B1ABED353C1}" destId="{E0AF59AC-9A21-46D7-8A08-27EFDF5B181D}" srcOrd="0" destOrd="0" presId="urn:microsoft.com/office/officeart/2005/8/layout/default"/>
    <dgm:cxn modelId="{7005C59A-2C72-49D0-989B-C65A0236DC44}" type="presOf" srcId="{009BD1F1-6A21-4F6C-BF65-15006A170C46}" destId="{78EAF492-FFB8-427E-A3B1-950E0B97A2FB}" srcOrd="0" destOrd="0" presId="urn:microsoft.com/office/officeart/2005/8/layout/default"/>
    <dgm:cxn modelId="{174D9EC2-76ED-423B-A5F8-7BC25446A1C1}" srcId="{28EEA8E6-25CB-4CBF-A109-7A11FE09FCD3}" destId="{009BD1F1-6A21-4F6C-BF65-15006A170C46}" srcOrd="4" destOrd="0" parTransId="{86ECF623-55A8-4DC3-9509-818DEAAAA7C9}" sibTransId="{835E8D54-A05D-4D21-B956-8D159754E378}"/>
    <dgm:cxn modelId="{818064CA-8A38-4986-9445-62AFE1D6DDFB}" srcId="{28EEA8E6-25CB-4CBF-A109-7A11FE09FCD3}" destId="{C79E4420-78CB-470E-802A-9414C1996127}" srcOrd="3" destOrd="0" parTransId="{840E8932-E57B-4F44-9DEC-3C544FF67B5F}" sibTransId="{24439A31-D797-461A-87BD-E14537B386DB}"/>
    <dgm:cxn modelId="{2CE703DB-AFAF-4752-9842-2D36FABF337F}" srcId="{28EEA8E6-25CB-4CBF-A109-7A11FE09FCD3}" destId="{377D29B8-D7DA-455E-85C6-7B39CFAC8A54}" srcOrd="0" destOrd="0" parTransId="{A59397DB-4A62-44AD-9A29-2BA416114896}" sibTransId="{FAFE1CB5-65AB-4D2A-8239-344BF5927764}"/>
    <dgm:cxn modelId="{7EE52FF4-2939-4F9A-B494-DD0276B0ADD7}" type="presOf" srcId="{377D29B8-D7DA-455E-85C6-7B39CFAC8A54}" destId="{59F52803-24A7-4C7B-AD89-B7E10E2D1E45}" srcOrd="0" destOrd="0" presId="urn:microsoft.com/office/officeart/2005/8/layout/default"/>
    <dgm:cxn modelId="{62D27DF2-5DC1-482E-B7C6-9487D877DF64}" type="presParOf" srcId="{445C223E-CCD2-494B-A1C5-ECAD01D39CDA}" destId="{59F52803-24A7-4C7B-AD89-B7E10E2D1E45}" srcOrd="0" destOrd="0" presId="urn:microsoft.com/office/officeart/2005/8/layout/default"/>
    <dgm:cxn modelId="{6C34BD16-2611-4946-AFD2-9D21C953F041}" type="presParOf" srcId="{445C223E-CCD2-494B-A1C5-ECAD01D39CDA}" destId="{B83F51E2-FCF8-4155-8740-EE4713720D66}" srcOrd="1" destOrd="0" presId="urn:microsoft.com/office/officeart/2005/8/layout/default"/>
    <dgm:cxn modelId="{8B35C402-A85A-4D16-911E-3F0D18847CC3}" type="presParOf" srcId="{445C223E-CCD2-494B-A1C5-ECAD01D39CDA}" destId="{5512FD13-5D71-48FA-8A32-7F6850AB38C4}" srcOrd="2" destOrd="0" presId="urn:microsoft.com/office/officeart/2005/8/layout/default"/>
    <dgm:cxn modelId="{97124640-6220-46C0-A55E-F3433D92EE93}" type="presParOf" srcId="{445C223E-CCD2-494B-A1C5-ECAD01D39CDA}" destId="{7FC87D7B-E05A-45D1-8E01-5085330B55A4}" srcOrd="3" destOrd="0" presId="urn:microsoft.com/office/officeart/2005/8/layout/default"/>
    <dgm:cxn modelId="{5740C554-347F-469D-9345-E6669B2246FD}" type="presParOf" srcId="{445C223E-CCD2-494B-A1C5-ECAD01D39CDA}" destId="{E0AF59AC-9A21-46D7-8A08-27EFDF5B181D}" srcOrd="4" destOrd="0" presId="urn:microsoft.com/office/officeart/2005/8/layout/default"/>
    <dgm:cxn modelId="{60BB4B4B-0860-40F2-9D79-BA1E7B20448C}" type="presParOf" srcId="{445C223E-CCD2-494B-A1C5-ECAD01D39CDA}" destId="{EF779408-A472-40C5-B7DD-AD149059C9B2}" srcOrd="5" destOrd="0" presId="urn:microsoft.com/office/officeart/2005/8/layout/default"/>
    <dgm:cxn modelId="{F6BBE6FD-219A-48FE-8D6B-9E9A3AC3D6A6}" type="presParOf" srcId="{445C223E-CCD2-494B-A1C5-ECAD01D39CDA}" destId="{265D4BD8-DAF4-43F0-AA18-B28AE53E6B46}" srcOrd="6" destOrd="0" presId="urn:microsoft.com/office/officeart/2005/8/layout/default"/>
    <dgm:cxn modelId="{8E652150-02E1-4536-A1BE-F2DF82514A77}" type="presParOf" srcId="{445C223E-CCD2-494B-A1C5-ECAD01D39CDA}" destId="{36871FC3-D5EF-4D51-99BE-61CABC9FCDEA}" srcOrd="7" destOrd="0" presId="urn:microsoft.com/office/officeart/2005/8/layout/default"/>
    <dgm:cxn modelId="{35D2CB0A-5675-4B9C-952D-69DF77EF9828}" type="presParOf" srcId="{445C223E-CCD2-494B-A1C5-ECAD01D39CDA}" destId="{78EAF492-FFB8-427E-A3B1-950E0B97A2FB}"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0B6374-6A57-44C8-B410-B9234FA21073}" type="doc">
      <dgm:prSet loTypeId="urn:microsoft.com/office/officeart/2005/8/layout/hList1" loCatId="list" qsTypeId="urn:microsoft.com/office/officeart/2005/8/quickstyle/3d3" qsCatId="3D" csTypeId="urn:microsoft.com/office/officeart/2005/8/colors/colorful1" csCatId="colorful" phldr="1"/>
      <dgm:spPr/>
      <dgm:t>
        <a:bodyPr/>
        <a:lstStyle/>
        <a:p>
          <a:endParaRPr lang="en-IN"/>
        </a:p>
      </dgm:t>
    </dgm:pt>
    <dgm:pt modelId="{96A4EFE6-F5D4-4389-A288-C50FAECA79F5}">
      <dgm:prSet phldrT="[Text]"/>
      <dgm:spPr/>
      <dgm:t>
        <a:bodyPr/>
        <a:lstStyle/>
        <a:p>
          <a:pPr>
            <a:buNone/>
          </a:pPr>
          <a:r>
            <a:rPr lang="en-IN" dirty="0"/>
            <a:t>Approach</a:t>
          </a:r>
        </a:p>
      </dgm:t>
    </dgm:pt>
    <dgm:pt modelId="{B4057ACC-B856-40F8-8A5B-CC3F7F5750DC}" type="parTrans" cxnId="{4AF1C8A4-2DB7-4E86-8CC2-10EF2A756DB0}">
      <dgm:prSet/>
      <dgm:spPr/>
      <dgm:t>
        <a:bodyPr/>
        <a:lstStyle/>
        <a:p>
          <a:endParaRPr lang="en-IN"/>
        </a:p>
      </dgm:t>
    </dgm:pt>
    <dgm:pt modelId="{C912C858-1B3E-4FCD-9B3C-FAF0223C5304}" type="sibTrans" cxnId="{4AF1C8A4-2DB7-4E86-8CC2-10EF2A756DB0}">
      <dgm:prSet/>
      <dgm:spPr/>
      <dgm:t>
        <a:bodyPr/>
        <a:lstStyle/>
        <a:p>
          <a:endParaRPr lang="en-IN"/>
        </a:p>
      </dgm:t>
    </dgm:pt>
    <dgm:pt modelId="{8537A488-F87D-406C-BED8-DD576B913707}">
      <dgm:prSet phldrT="[Text]"/>
      <dgm:spPr/>
      <dgm:t>
        <a:bodyPr/>
        <a:lstStyle/>
        <a:p>
          <a:pPr>
            <a:buFont typeface="Arial" panose="020B0604020202020204" pitchFamily="34" charset="0"/>
            <a:buChar char="•"/>
          </a:pPr>
          <a:r>
            <a:rPr lang="en-IN" b="1" dirty="0"/>
            <a:t>Hybrid Retrieval-Augmented Generation (RAG)</a:t>
          </a:r>
          <a:r>
            <a:rPr lang="en-IN" dirty="0"/>
            <a:t> </a:t>
          </a:r>
        </a:p>
      </dgm:t>
    </dgm:pt>
    <dgm:pt modelId="{742FF4E4-F97A-4EF3-AD91-04AFEFB96656}" type="parTrans" cxnId="{F9AAC6F6-B229-4FD7-A5C8-F549C4B00707}">
      <dgm:prSet/>
      <dgm:spPr/>
      <dgm:t>
        <a:bodyPr/>
        <a:lstStyle/>
        <a:p>
          <a:endParaRPr lang="en-IN"/>
        </a:p>
      </dgm:t>
    </dgm:pt>
    <dgm:pt modelId="{BF2422F5-8C68-43B5-BAC0-3A7628C97226}" type="sibTrans" cxnId="{F9AAC6F6-B229-4FD7-A5C8-F549C4B00707}">
      <dgm:prSet/>
      <dgm:spPr/>
      <dgm:t>
        <a:bodyPr/>
        <a:lstStyle/>
        <a:p>
          <a:endParaRPr lang="en-IN"/>
        </a:p>
      </dgm:t>
    </dgm:pt>
    <dgm:pt modelId="{5BD0711F-201A-4D63-964C-D9059C6529DA}">
      <dgm:prSet phldrT="[Text]"/>
      <dgm:spPr/>
      <dgm:t>
        <a:bodyPr/>
        <a:lstStyle/>
        <a:p>
          <a:pPr>
            <a:buNone/>
          </a:pPr>
          <a:r>
            <a:rPr lang="en-IN" dirty="0"/>
            <a:t>Algorithms</a:t>
          </a:r>
        </a:p>
      </dgm:t>
    </dgm:pt>
    <dgm:pt modelId="{3EFD386D-7E59-4D04-A6A3-89F322241F5F}" type="parTrans" cxnId="{0F9F4643-4410-4F3D-903D-C460EB9B4DD6}">
      <dgm:prSet/>
      <dgm:spPr/>
      <dgm:t>
        <a:bodyPr/>
        <a:lstStyle/>
        <a:p>
          <a:endParaRPr lang="en-IN"/>
        </a:p>
      </dgm:t>
    </dgm:pt>
    <dgm:pt modelId="{1D7AB5D3-F48B-404F-8F15-D9F9EE52D998}" type="sibTrans" cxnId="{0F9F4643-4410-4F3D-903D-C460EB9B4DD6}">
      <dgm:prSet/>
      <dgm:spPr/>
      <dgm:t>
        <a:bodyPr/>
        <a:lstStyle/>
        <a:p>
          <a:endParaRPr lang="en-IN"/>
        </a:p>
      </dgm:t>
    </dgm:pt>
    <dgm:pt modelId="{DE7A7BE8-4C5E-42DC-AC00-1BC0E8220A6C}">
      <dgm:prSet phldrT="[Text]"/>
      <dgm:spPr/>
      <dgm:t>
        <a:bodyPr/>
        <a:lstStyle/>
        <a:p>
          <a:pPr>
            <a:buFont typeface="Arial" panose="020B0604020202020204" pitchFamily="34" charset="0"/>
            <a:buChar char="•"/>
          </a:pPr>
          <a:r>
            <a:rPr lang="en-IN" b="1" dirty="0"/>
            <a:t>Dense Retrieval:</a:t>
          </a:r>
          <a:r>
            <a:rPr lang="en-IN" dirty="0"/>
            <a:t> Sentence-Transformers / </a:t>
          </a:r>
          <a:r>
            <a:rPr lang="en-IN" dirty="0" err="1"/>
            <a:t>MiniLM</a:t>
          </a:r>
          <a:r>
            <a:rPr lang="en-IN" dirty="0"/>
            <a:t> / Nomic embeddings </a:t>
          </a:r>
        </a:p>
      </dgm:t>
    </dgm:pt>
    <dgm:pt modelId="{AF6DE9FD-EBDF-49E3-8E30-6589EFA02A5A}" type="parTrans" cxnId="{A9076378-7CC4-42DF-9122-09CA68D9488B}">
      <dgm:prSet/>
      <dgm:spPr/>
      <dgm:t>
        <a:bodyPr/>
        <a:lstStyle/>
        <a:p>
          <a:endParaRPr lang="en-IN"/>
        </a:p>
      </dgm:t>
    </dgm:pt>
    <dgm:pt modelId="{1561DD7A-3648-482A-AAE7-ABB3E8F13719}" type="sibTrans" cxnId="{A9076378-7CC4-42DF-9122-09CA68D9488B}">
      <dgm:prSet/>
      <dgm:spPr/>
      <dgm:t>
        <a:bodyPr/>
        <a:lstStyle/>
        <a:p>
          <a:endParaRPr lang="en-IN"/>
        </a:p>
      </dgm:t>
    </dgm:pt>
    <dgm:pt modelId="{A02B926E-6B10-420F-9605-01679CA08D42}">
      <dgm:prSet phldrT="[Text]"/>
      <dgm:spPr/>
      <dgm:t>
        <a:bodyPr/>
        <a:lstStyle/>
        <a:p>
          <a:pPr>
            <a:buNone/>
          </a:pPr>
          <a:r>
            <a:rPr lang="en-IN" dirty="0"/>
            <a:t>Tools / Technologies</a:t>
          </a:r>
        </a:p>
      </dgm:t>
    </dgm:pt>
    <dgm:pt modelId="{2427E752-4913-422A-BAB4-C26A5C62B338}" type="parTrans" cxnId="{B4AF47BA-7B52-4BBF-8DC6-61CE7AE194F9}">
      <dgm:prSet/>
      <dgm:spPr/>
      <dgm:t>
        <a:bodyPr/>
        <a:lstStyle/>
        <a:p>
          <a:endParaRPr lang="en-IN"/>
        </a:p>
      </dgm:t>
    </dgm:pt>
    <dgm:pt modelId="{7C134E1C-941F-4582-8901-3A6BBF43EBC6}" type="sibTrans" cxnId="{B4AF47BA-7B52-4BBF-8DC6-61CE7AE194F9}">
      <dgm:prSet/>
      <dgm:spPr/>
      <dgm:t>
        <a:bodyPr/>
        <a:lstStyle/>
        <a:p>
          <a:endParaRPr lang="en-IN"/>
        </a:p>
      </dgm:t>
    </dgm:pt>
    <dgm:pt modelId="{C56E064B-8774-40AD-91EB-20D6DBD0A57F}">
      <dgm:prSet phldrT="[Text]" phldr="0"/>
      <dgm:spPr/>
      <dgm:t>
        <a:bodyPr/>
        <a:lstStyle/>
        <a:p>
          <a:r>
            <a:rPr lang="en-GB" b="1" dirty="0"/>
            <a:t>Python</a:t>
          </a:r>
          <a:endParaRPr lang="en-IN" b="1" dirty="0"/>
        </a:p>
      </dgm:t>
    </dgm:pt>
    <dgm:pt modelId="{F96D8260-F05E-42A8-AF0C-5ECE761BC8E9}" type="parTrans" cxnId="{5CA93496-0369-4C4D-A2EA-C651A62B6248}">
      <dgm:prSet/>
      <dgm:spPr/>
      <dgm:t>
        <a:bodyPr/>
        <a:lstStyle/>
        <a:p>
          <a:endParaRPr lang="en-IN"/>
        </a:p>
      </dgm:t>
    </dgm:pt>
    <dgm:pt modelId="{05BEA482-8210-4590-A433-F37106F471CE}" type="sibTrans" cxnId="{5CA93496-0369-4C4D-A2EA-C651A62B6248}">
      <dgm:prSet/>
      <dgm:spPr/>
      <dgm:t>
        <a:bodyPr/>
        <a:lstStyle/>
        <a:p>
          <a:endParaRPr lang="en-IN"/>
        </a:p>
      </dgm:t>
    </dgm:pt>
    <dgm:pt modelId="{6630C3F2-629C-49B2-A298-16C9536D44A2}">
      <dgm:prSet/>
      <dgm:spPr/>
      <dgm:t>
        <a:bodyPr/>
        <a:lstStyle/>
        <a:p>
          <a:pPr>
            <a:buFont typeface="Arial" panose="020B0604020202020204" pitchFamily="34" charset="0"/>
            <a:buChar char="•"/>
          </a:pPr>
          <a:r>
            <a:rPr lang="en-IN"/>
            <a:t>Legal-domain </a:t>
          </a:r>
          <a:r>
            <a:rPr lang="en-IN" b="1"/>
            <a:t>structural chunking</a:t>
          </a:r>
          <a:r>
            <a:rPr lang="en-IN"/>
            <a:t> </a:t>
          </a:r>
        </a:p>
      </dgm:t>
    </dgm:pt>
    <dgm:pt modelId="{73BEF4A6-AF10-4148-984C-BA6D96A280B6}" type="parTrans" cxnId="{F228A1AE-B7E7-4513-B854-517ACB0C048C}">
      <dgm:prSet/>
      <dgm:spPr/>
      <dgm:t>
        <a:bodyPr/>
        <a:lstStyle/>
        <a:p>
          <a:endParaRPr lang="en-IN"/>
        </a:p>
      </dgm:t>
    </dgm:pt>
    <dgm:pt modelId="{EB2F7B50-1B86-4509-BA46-2B4D3823322A}" type="sibTrans" cxnId="{F228A1AE-B7E7-4513-B854-517ACB0C048C}">
      <dgm:prSet/>
      <dgm:spPr/>
      <dgm:t>
        <a:bodyPr/>
        <a:lstStyle/>
        <a:p>
          <a:endParaRPr lang="en-IN"/>
        </a:p>
      </dgm:t>
    </dgm:pt>
    <dgm:pt modelId="{E95D9B1D-0D37-41FE-AF9C-1CBBFC76CB54}">
      <dgm:prSet/>
      <dgm:spPr/>
      <dgm:t>
        <a:bodyPr/>
        <a:lstStyle/>
        <a:p>
          <a:pPr>
            <a:buFont typeface="Arial" panose="020B0604020202020204" pitchFamily="34" charset="0"/>
            <a:buChar char="•"/>
          </a:pPr>
          <a:r>
            <a:rPr lang="en-IN" b="1"/>
            <a:t>Dense + Sparse retrieval</a:t>
          </a:r>
          <a:r>
            <a:rPr lang="en-IN"/>
            <a:t> with fusion </a:t>
          </a:r>
        </a:p>
      </dgm:t>
    </dgm:pt>
    <dgm:pt modelId="{07C4F416-5897-46AC-9BAC-B573938EBABE}" type="parTrans" cxnId="{177B7FC9-3277-4658-86D4-DE94DBFB1D03}">
      <dgm:prSet/>
      <dgm:spPr/>
      <dgm:t>
        <a:bodyPr/>
        <a:lstStyle/>
        <a:p>
          <a:endParaRPr lang="en-IN"/>
        </a:p>
      </dgm:t>
    </dgm:pt>
    <dgm:pt modelId="{17EEDFD7-BFCC-4702-8682-7750A986F0CE}" type="sibTrans" cxnId="{177B7FC9-3277-4658-86D4-DE94DBFB1D03}">
      <dgm:prSet/>
      <dgm:spPr/>
      <dgm:t>
        <a:bodyPr/>
        <a:lstStyle/>
        <a:p>
          <a:endParaRPr lang="en-IN"/>
        </a:p>
      </dgm:t>
    </dgm:pt>
    <dgm:pt modelId="{9213802F-FFDC-487A-9EE3-85B3C26E4052}">
      <dgm:prSet/>
      <dgm:spPr/>
      <dgm:t>
        <a:bodyPr/>
        <a:lstStyle/>
        <a:p>
          <a:pPr>
            <a:buFont typeface="Arial" panose="020B0604020202020204" pitchFamily="34" charset="0"/>
            <a:buChar char="•"/>
          </a:pPr>
          <a:r>
            <a:rPr lang="en-IN" b="1"/>
            <a:t>Cross-encoder reranking</a:t>
          </a:r>
          <a:r>
            <a:rPr lang="en-IN"/>
            <a:t> </a:t>
          </a:r>
        </a:p>
      </dgm:t>
    </dgm:pt>
    <dgm:pt modelId="{A0EA0D9A-D229-496B-8638-D04D9315B3DB}" type="parTrans" cxnId="{F594A031-DF81-4AE7-833A-457AFD22CE7D}">
      <dgm:prSet/>
      <dgm:spPr/>
      <dgm:t>
        <a:bodyPr/>
        <a:lstStyle/>
        <a:p>
          <a:endParaRPr lang="en-IN"/>
        </a:p>
      </dgm:t>
    </dgm:pt>
    <dgm:pt modelId="{DC7D89D2-93E0-43CE-B8A1-1404FBACE72D}" type="sibTrans" cxnId="{F594A031-DF81-4AE7-833A-457AFD22CE7D}">
      <dgm:prSet/>
      <dgm:spPr/>
      <dgm:t>
        <a:bodyPr/>
        <a:lstStyle/>
        <a:p>
          <a:endParaRPr lang="en-IN"/>
        </a:p>
      </dgm:t>
    </dgm:pt>
    <dgm:pt modelId="{0017B798-125C-4D98-806F-5C81A6636527}">
      <dgm:prSet/>
      <dgm:spPr/>
      <dgm:t>
        <a:bodyPr/>
        <a:lstStyle/>
        <a:p>
          <a:pPr>
            <a:buFont typeface="Arial" panose="020B0604020202020204" pitchFamily="34" charset="0"/>
            <a:buChar char="•"/>
          </a:pPr>
          <a:r>
            <a:rPr lang="en-IN"/>
            <a:t>Holding extraction and </a:t>
          </a:r>
          <a:r>
            <a:rPr lang="en-IN" b="1"/>
            <a:t>Pro/Contra argument synthesis</a:t>
          </a:r>
          <a:r>
            <a:rPr lang="en-IN"/>
            <a:t> </a:t>
          </a:r>
        </a:p>
      </dgm:t>
    </dgm:pt>
    <dgm:pt modelId="{9E8C3BF6-356B-4202-B3C7-33E7BAD23D80}" type="parTrans" cxnId="{548BFDF6-77C7-431E-8A5C-5525D687B6AF}">
      <dgm:prSet/>
      <dgm:spPr/>
      <dgm:t>
        <a:bodyPr/>
        <a:lstStyle/>
        <a:p>
          <a:endParaRPr lang="en-IN"/>
        </a:p>
      </dgm:t>
    </dgm:pt>
    <dgm:pt modelId="{FC1CC867-11F4-41C4-B12A-D355C6CC71F9}" type="sibTrans" cxnId="{548BFDF6-77C7-431E-8A5C-5525D687B6AF}">
      <dgm:prSet/>
      <dgm:spPr/>
      <dgm:t>
        <a:bodyPr/>
        <a:lstStyle/>
        <a:p>
          <a:endParaRPr lang="en-IN"/>
        </a:p>
      </dgm:t>
    </dgm:pt>
    <dgm:pt modelId="{23A1A20E-5133-4407-BA8F-0CF6519FB7C7}">
      <dgm:prSet/>
      <dgm:spPr/>
      <dgm:t>
        <a:bodyPr/>
        <a:lstStyle/>
        <a:p>
          <a:pPr>
            <a:buFont typeface="Arial" panose="020B0604020202020204" pitchFamily="34" charset="0"/>
            <a:buChar char="•"/>
          </a:pPr>
          <a:r>
            <a:rPr lang="en-IN" dirty="0"/>
            <a:t>Evidence-first </a:t>
          </a:r>
          <a:r>
            <a:rPr lang="en-IN" b="1" dirty="0"/>
            <a:t>citation verification</a:t>
          </a:r>
          <a:endParaRPr lang="en-IN" dirty="0"/>
        </a:p>
      </dgm:t>
    </dgm:pt>
    <dgm:pt modelId="{DED64683-841E-4F65-9E6A-7B9A3A8EC186}" type="parTrans" cxnId="{FFFB60AF-9A60-40CB-A0A2-E2EBF62C4CBE}">
      <dgm:prSet/>
      <dgm:spPr/>
      <dgm:t>
        <a:bodyPr/>
        <a:lstStyle/>
        <a:p>
          <a:endParaRPr lang="en-IN"/>
        </a:p>
      </dgm:t>
    </dgm:pt>
    <dgm:pt modelId="{6AE32386-FE23-462E-81DF-711F10297245}" type="sibTrans" cxnId="{FFFB60AF-9A60-40CB-A0A2-E2EBF62C4CBE}">
      <dgm:prSet/>
      <dgm:spPr/>
      <dgm:t>
        <a:bodyPr/>
        <a:lstStyle/>
        <a:p>
          <a:endParaRPr lang="en-IN"/>
        </a:p>
      </dgm:t>
    </dgm:pt>
    <dgm:pt modelId="{09BE0447-9ADD-47B4-93E7-43168EBB3BA2}">
      <dgm:prSet/>
      <dgm:spPr/>
      <dgm:t>
        <a:bodyPr/>
        <a:lstStyle/>
        <a:p>
          <a:pPr>
            <a:buFont typeface="Arial" panose="020B0604020202020204" pitchFamily="34" charset="0"/>
            <a:buChar char="•"/>
          </a:pPr>
          <a:r>
            <a:rPr lang="en-IN" b="1"/>
            <a:t>Sparse Retrieval:</a:t>
          </a:r>
          <a:r>
            <a:rPr lang="en-IN"/>
            <a:t> BM25 with legal-term weighting </a:t>
          </a:r>
        </a:p>
      </dgm:t>
    </dgm:pt>
    <dgm:pt modelId="{7F235B35-5E1F-4F26-9013-A95C4C108527}" type="parTrans" cxnId="{3D84AF48-EF82-43E1-BC5E-374C1FC83EC5}">
      <dgm:prSet/>
      <dgm:spPr/>
      <dgm:t>
        <a:bodyPr/>
        <a:lstStyle/>
        <a:p>
          <a:endParaRPr lang="en-IN"/>
        </a:p>
      </dgm:t>
    </dgm:pt>
    <dgm:pt modelId="{C97B3307-3B86-4E39-8EAD-2E274A493CE0}" type="sibTrans" cxnId="{3D84AF48-EF82-43E1-BC5E-374C1FC83EC5}">
      <dgm:prSet/>
      <dgm:spPr/>
      <dgm:t>
        <a:bodyPr/>
        <a:lstStyle/>
        <a:p>
          <a:endParaRPr lang="en-IN"/>
        </a:p>
      </dgm:t>
    </dgm:pt>
    <dgm:pt modelId="{655D8854-EB24-4B93-BC21-832269E39427}">
      <dgm:prSet/>
      <dgm:spPr/>
      <dgm:t>
        <a:bodyPr/>
        <a:lstStyle/>
        <a:p>
          <a:pPr>
            <a:buFont typeface="Arial" panose="020B0604020202020204" pitchFamily="34" charset="0"/>
            <a:buChar char="•"/>
          </a:pPr>
          <a:r>
            <a:rPr lang="en-IN" b="1"/>
            <a:t>Fusion:</a:t>
          </a:r>
          <a:r>
            <a:rPr lang="en-IN"/>
            <a:t> Reciprocal Rank Fusion (</a:t>
          </a:r>
          <a:r>
            <a:rPr lang="en-IN" b="1"/>
            <a:t>RRF</a:t>
          </a:r>
          <a:r>
            <a:rPr lang="en-IN"/>
            <a:t>) </a:t>
          </a:r>
        </a:p>
      </dgm:t>
    </dgm:pt>
    <dgm:pt modelId="{691009FF-3C82-4765-B261-22B61BD7B0FC}" type="parTrans" cxnId="{355D613D-D111-43F2-88A0-4C3E25C37C87}">
      <dgm:prSet/>
      <dgm:spPr/>
      <dgm:t>
        <a:bodyPr/>
        <a:lstStyle/>
        <a:p>
          <a:endParaRPr lang="en-IN"/>
        </a:p>
      </dgm:t>
    </dgm:pt>
    <dgm:pt modelId="{866144FE-5156-4093-93B9-9F7E00A48C58}" type="sibTrans" cxnId="{355D613D-D111-43F2-88A0-4C3E25C37C87}">
      <dgm:prSet/>
      <dgm:spPr/>
      <dgm:t>
        <a:bodyPr/>
        <a:lstStyle/>
        <a:p>
          <a:endParaRPr lang="en-IN"/>
        </a:p>
      </dgm:t>
    </dgm:pt>
    <dgm:pt modelId="{4C10F6A1-9BCA-4222-8CB7-4F5B92A78B75}">
      <dgm:prSet/>
      <dgm:spPr/>
      <dgm:t>
        <a:bodyPr/>
        <a:lstStyle/>
        <a:p>
          <a:pPr>
            <a:buFont typeface="Arial" panose="020B0604020202020204" pitchFamily="34" charset="0"/>
            <a:buChar char="•"/>
          </a:pPr>
          <a:r>
            <a:rPr lang="en-IN" b="1"/>
            <a:t>Reranking:</a:t>
          </a:r>
          <a:r>
            <a:rPr lang="en-IN"/>
            <a:t> Cross-Encoder + court-hierarchy weighting </a:t>
          </a:r>
        </a:p>
      </dgm:t>
    </dgm:pt>
    <dgm:pt modelId="{3B9D14D7-2E70-42BD-ACFF-4C372899361C}" type="parTrans" cxnId="{12D7D731-C7B8-415C-875F-2BB274C2A3D8}">
      <dgm:prSet/>
      <dgm:spPr/>
      <dgm:t>
        <a:bodyPr/>
        <a:lstStyle/>
        <a:p>
          <a:endParaRPr lang="en-IN"/>
        </a:p>
      </dgm:t>
    </dgm:pt>
    <dgm:pt modelId="{AAA642FE-B309-481B-949A-12C4B7F6D2CB}" type="sibTrans" cxnId="{12D7D731-C7B8-415C-875F-2BB274C2A3D8}">
      <dgm:prSet/>
      <dgm:spPr/>
      <dgm:t>
        <a:bodyPr/>
        <a:lstStyle/>
        <a:p>
          <a:endParaRPr lang="en-IN"/>
        </a:p>
      </dgm:t>
    </dgm:pt>
    <dgm:pt modelId="{94C784D0-FDCA-4F1F-BB51-C993FFEE299B}">
      <dgm:prSet/>
      <dgm:spPr/>
      <dgm:t>
        <a:bodyPr/>
        <a:lstStyle/>
        <a:p>
          <a:pPr>
            <a:buFont typeface="Arial" panose="020B0604020202020204" pitchFamily="34" charset="0"/>
            <a:buChar char="•"/>
          </a:pPr>
          <a:r>
            <a:rPr lang="en-IN" b="1"/>
            <a:t>Generation:</a:t>
          </a:r>
          <a:r>
            <a:rPr lang="en-IN"/>
            <a:t> Ratio Decidendi vs Obiter Dicta extraction </a:t>
          </a:r>
        </a:p>
      </dgm:t>
    </dgm:pt>
    <dgm:pt modelId="{C2EE1281-8D42-4559-B1B9-68A529A629E4}" type="parTrans" cxnId="{7574F297-0785-4A55-9D98-323E3D74F437}">
      <dgm:prSet/>
      <dgm:spPr/>
      <dgm:t>
        <a:bodyPr/>
        <a:lstStyle/>
        <a:p>
          <a:endParaRPr lang="en-IN"/>
        </a:p>
      </dgm:t>
    </dgm:pt>
    <dgm:pt modelId="{DCB44693-2FC0-439D-AEE9-8326DF9A6162}" type="sibTrans" cxnId="{7574F297-0785-4A55-9D98-323E3D74F437}">
      <dgm:prSet/>
      <dgm:spPr/>
      <dgm:t>
        <a:bodyPr/>
        <a:lstStyle/>
        <a:p>
          <a:endParaRPr lang="en-IN"/>
        </a:p>
      </dgm:t>
    </dgm:pt>
    <dgm:pt modelId="{CD29A105-6FC4-45DD-9982-5274A064896B}">
      <dgm:prSet/>
      <dgm:spPr/>
      <dgm:t>
        <a:bodyPr/>
        <a:lstStyle/>
        <a:p>
          <a:pPr>
            <a:buFont typeface="Arial" panose="020B0604020202020204" pitchFamily="34" charset="0"/>
            <a:buChar char="•"/>
          </a:pPr>
          <a:r>
            <a:rPr lang="en-IN" b="1" dirty="0"/>
            <a:t>Validation:</a:t>
          </a:r>
          <a:r>
            <a:rPr lang="en-IN" dirty="0"/>
            <a:t> Citation-to-chunk verification</a:t>
          </a:r>
        </a:p>
      </dgm:t>
    </dgm:pt>
    <dgm:pt modelId="{FC2D2891-7B14-4AE0-9AD3-8DE786D483EE}" type="parTrans" cxnId="{13C10D59-81BC-4275-927C-A2722F9BD5EE}">
      <dgm:prSet/>
      <dgm:spPr/>
      <dgm:t>
        <a:bodyPr/>
        <a:lstStyle/>
        <a:p>
          <a:endParaRPr lang="en-IN"/>
        </a:p>
      </dgm:t>
    </dgm:pt>
    <dgm:pt modelId="{63E397A2-2E96-4E34-9E00-777FD3E77EB3}" type="sibTrans" cxnId="{13C10D59-81BC-4275-927C-A2722F9BD5EE}">
      <dgm:prSet/>
      <dgm:spPr/>
      <dgm:t>
        <a:bodyPr/>
        <a:lstStyle/>
        <a:p>
          <a:endParaRPr lang="en-IN"/>
        </a:p>
      </dgm:t>
    </dgm:pt>
    <dgm:pt modelId="{4EDC0E0A-E061-42CC-8E7D-E57FB75AF41E}">
      <dgm:prSet/>
      <dgm:spPr/>
      <dgm:t>
        <a:bodyPr/>
        <a:lstStyle/>
        <a:p>
          <a:pPr>
            <a:buFont typeface="Arial" panose="020B0604020202020204" pitchFamily="34" charset="0"/>
            <a:buChar char="•"/>
          </a:pPr>
          <a:r>
            <a:rPr lang="en-IN" b="1"/>
            <a:t>Ollama</a:t>
          </a:r>
          <a:r>
            <a:rPr lang="en-IN"/>
            <a:t> — local LLM inference </a:t>
          </a:r>
        </a:p>
      </dgm:t>
    </dgm:pt>
    <dgm:pt modelId="{E411A15F-8865-40AE-9949-00FD956F0ECC}" type="parTrans" cxnId="{8375DF56-8367-4AE5-BE0D-A23BF8C5BEE1}">
      <dgm:prSet/>
      <dgm:spPr/>
      <dgm:t>
        <a:bodyPr/>
        <a:lstStyle/>
        <a:p>
          <a:endParaRPr lang="en-IN"/>
        </a:p>
      </dgm:t>
    </dgm:pt>
    <dgm:pt modelId="{3F7FDFA2-33B3-4442-B933-E9E84971C774}" type="sibTrans" cxnId="{8375DF56-8367-4AE5-BE0D-A23BF8C5BEE1}">
      <dgm:prSet/>
      <dgm:spPr/>
      <dgm:t>
        <a:bodyPr/>
        <a:lstStyle/>
        <a:p>
          <a:endParaRPr lang="en-IN"/>
        </a:p>
      </dgm:t>
    </dgm:pt>
    <dgm:pt modelId="{DBC9F2E1-336D-47E7-9C2B-4A915A59B156}">
      <dgm:prSet/>
      <dgm:spPr/>
      <dgm:t>
        <a:bodyPr/>
        <a:lstStyle/>
        <a:p>
          <a:pPr>
            <a:buFont typeface="Arial" panose="020B0604020202020204" pitchFamily="34" charset="0"/>
            <a:buChar char="•"/>
          </a:pPr>
          <a:r>
            <a:rPr lang="en-IN" b="1"/>
            <a:t>FastAPI</a:t>
          </a:r>
          <a:r>
            <a:rPr lang="en-IN"/>
            <a:t> — backend APIs </a:t>
          </a:r>
        </a:p>
      </dgm:t>
    </dgm:pt>
    <dgm:pt modelId="{A6ABAC5D-C940-4240-A9B1-67BD0367C7BC}" type="parTrans" cxnId="{A3BD9592-DB14-427E-B2C3-2E89459FC183}">
      <dgm:prSet/>
      <dgm:spPr/>
      <dgm:t>
        <a:bodyPr/>
        <a:lstStyle/>
        <a:p>
          <a:endParaRPr lang="en-IN"/>
        </a:p>
      </dgm:t>
    </dgm:pt>
    <dgm:pt modelId="{036962C2-79E9-48E2-85E0-DC654CBED69B}" type="sibTrans" cxnId="{A3BD9592-DB14-427E-B2C3-2E89459FC183}">
      <dgm:prSet/>
      <dgm:spPr/>
      <dgm:t>
        <a:bodyPr/>
        <a:lstStyle/>
        <a:p>
          <a:endParaRPr lang="en-IN"/>
        </a:p>
      </dgm:t>
    </dgm:pt>
    <dgm:pt modelId="{6788D295-629F-4726-B783-86C243EC2536}">
      <dgm:prSet/>
      <dgm:spPr/>
      <dgm:t>
        <a:bodyPr/>
        <a:lstStyle/>
        <a:p>
          <a:pPr>
            <a:buFont typeface="Arial" panose="020B0604020202020204" pitchFamily="34" charset="0"/>
            <a:buChar char="•"/>
          </a:pPr>
          <a:r>
            <a:rPr lang="en-IN" b="1"/>
            <a:t>Streamlit</a:t>
          </a:r>
          <a:r>
            <a:rPr lang="en-IN"/>
            <a:t> — Legal Research Terminal </a:t>
          </a:r>
        </a:p>
      </dgm:t>
    </dgm:pt>
    <dgm:pt modelId="{76682E14-499E-45DD-8486-70A789699B8D}" type="parTrans" cxnId="{C3068920-1DD3-42AE-B972-3CFBC3B50045}">
      <dgm:prSet/>
      <dgm:spPr/>
      <dgm:t>
        <a:bodyPr/>
        <a:lstStyle/>
        <a:p>
          <a:endParaRPr lang="en-IN"/>
        </a:p>
      </dgm:t>
    </dgm:pt>
    <dgm:pt modelId="{353B044E-7347-47B7-91FA-797759867BBC}" type="sibTrans" cxnId="{C3068920-1DD3-42AE-B972-3CFBC3B50045}">
      <dgm:prSet/>
      <dgm:spPr/>
      <dgm:t>
        <a:bodyPr/>
        <a:lstStyle/>
        <a:p>
          <a:endParaRPr lang="en-IN"/>
        </a:p>
      </dgm:t>
    </dgm:pt>
    <dgm:pt modelId="{EFA3541E-D3B1-480A-82B3-4C67C843BAEA}">
      <dgm:prSet/>
      <dgm:spPr/>
      <dgm:t>
        <a:bodyPr/>
        <a:lstStyle/>
        <a:p>
          <a:pPr>
            <a:buFont typeface="Arial" panose="020B0604020202020204" pitchFamily="34" charset="0"/>
            <a:buChar char="•"/>
          </a:pPr>
          <a:r>
            <a:rPr lang="en-IN" b="1"/>
            <a:t>Sentence-Transformers</a:t>
          </a:r>
          <a:r>
            <a:rPr lang="en-IN"/>
            <a:t> — embeddings &amp; reranking </a:t>
          </a:r>
        </a:p>
      </dgm:t>
    </dgm:pt>
    <dgm:pt modelId="{27F5E54C-B40A-4022-BE89-E4EC928361EB}" type="parTrans" cxnId="{BE8CF7FA-B1E8-4CBB-856A-447284571CD7}">
      <dgm:prSet/>
      <dgm:spPr/>
      <dgm:t>
        <a:bodyPr/>
        <a:lstStyle/>
        <a:p>
          <a:endParaRPr lang="en-IN"/>
        </a:p>
      </dgm:t>
    </dgm:pt>
    <dgm:pt modelId="{241FC0AD-36AC-4187-89A0-684648D78CCB}" type="sibTrans" cxnId="{BE8CF7FA-B1E8-4CBB-856A-447284571CD7}">
      <dgm:prSet/>
      <dgm:spPr/>
      <dgm:t>
        <a:bodyPr/>
        <a:lstStyle/>
        <a:p>
          <a:endParaRPr lang="en-IN"/>
        </a:p>
      </dgm:t>
    </dgm:pt>
    <dgm:pt modelId="{8FFBE04F-C143-4B2A-90DB-B54B014D9925}">
      <dgm:prSet/>
      <dgm:spPr/>
      <dgm:t>
        <a:bodyPr/>
        <a:lstStyle/>
        <a:p>
          <a:pPr>
            <a:buFont typeface="Arial" panose="020B0604020202020204" pitchFamily="34" charset="0"/>
            <a:buChar char="•"/>
          </a:pPr>
          <a:r>
            <a:rPr lang="en-IN" b="1"/>
            <a:t>BM25</a:t>
          </a:r>
          <a:r>
            <a:rPr lang="en-IN"/>
            <a:t> — lexical retrieval </a:t>
          </a:r>
        </a:p>
      </dgm:t>
    </dgm:pt>
    <dgm:pt modelId="{7C14ABE3-B8FE-4D01-AA11-1BFE15C0DAF2}" type="parTrans" cxnId="{725CBFF5-F0D9-4038-9DE7-7679CAE4AAED}">
      <dgm:prSet/>
      <dgm:spPr/>
      <dgm:t>
        <a:bodyPr/>
        <a:lstStyle/>
        <a:p>
          <a:endParaRPr lang="en-IN"/>
        </a:p>
      </dgm:t>
    </dgm:pt>
    <dgm:pt modelId="{EE527645-0FBD-4B24-B90A-671C9E020AD4}" type="sibTrans" cxnId="{725CBFF5-F0D9-4038-9DE7-7679CAE4AAED}">
      <dgm:prSet/>
      <dgm:spPr/>
      <dgm:t>
        <a:bodyPr/>
        <a:lstStyle/>
        <a:p>
          <a:endParaRPr lang="en-IN"/>
        </a:p>
      </dgm:t>
    </dgm:pt>
    <dgm:pt modelId="{BF01908C-926D-4658-97F7-7D23B5B4922A}">
      <dgm:prSet/>
      <dgm:spPr/>
      <dgm:t>
        <a:bodyPr/>
        <a:lstStyle/>
        <a:p>
          <a:pPr>
            <a:buFont typeface="Arial" panose="020B0604020202020204" pitchFamily="34" charset="0"/>
            <a:buChar char="•"/>
          </a:pPr>
          <a:r>
            <a:rPr lang="en-IN" b="1" dirty="0"/>
            <a:t>Microsoft Word / DOCX</a:t>
          </a:r>
          <a:r>
            <a:rPr lang="en-IN" dirty="0"/>
            <a:t> — chamber brief export </a:t>
          </a:r>
        </a:p>
      </dgm:t>
    </dgm:pt>
    <dgm:pt modelId="{2AAE64BD-914C-4525-9FFB-06FA4176E933}" type="parTrans" cxnId="{04595259-FD93-4B44-BB51-335A41B5910E}">
      <dgm:prSet/>
      <dgm:spPr/>
      <dgm:t>
        <a:bodyPr/>
        <a:lstStyle/>
        <a:p>
          <a:endParaRPr lang="en-IN"/>
        </a:p>
      </dgm:t>
    </dgm:pt>
    <dgm:pt modelId="{71830659-2EF8-453D-A898-30A6CB2125D7}" type="sibTrans" cxnId="{04595259-FD93-4B44-BB51-335A41B5910E}">
      <dgm:prSet/>
      <dgm:spPr/>
      <dgm:t>
        <a:bodyPr/>
        <a:lstStyle/>
        <a:p>
          <a:endParaRPr lang="en-IN"/>
        </a:p>
      </dgm:t>
    </dgm:pt>
    <dgm:pt modelId="{12056E2B-5AE2-4B0B-AB12-34E58537010A}">
      <dgm:prSet/>
      <dgm:spPr/>
      <dgm:t>
        <a:bodyPr/>
        <a:lstStyle/>
        <a:p>
          <a:pPr>
            <a:buNone/>
          </a:pPr>
          <a:endParaRPr lang="en-IN" dirty="0"/>
        </a:p>
      </dgm:t>
    </dgm:pt>
    <dgm:pt modelId="{FB13BAD8-E20F-4CE6-AA74-D2545EFE7FF1}" type="parTrans" cxnId="{00634061-F765-4D60-A1A7-D0B2AB9D588E}">
      <dgm:prSet/>
      <dgm:spPr/>
      <dgm:t>
        <a:bodyPr/>
        <a:lstStyle/>
        <a:p>
          <a:endParaRPr lang="en-IN"/>
        </a:p>
      </dgm:t>
    </dgm:pt>
    <dgm:pt modelId="{7F7B6035-7920-46EE-9994-2842FE040098}" type="sibTrans" cxnId="{00634061-F765-4D60-A1A7-D0B2AB9D588E}">
      <dgm:prSet/>
      <dgm:spPr/>
      <dgm:t>
        <a:bodyPr/>
        <a:lstStyle/>
        <a:p>
          <a:endParaRPr lang="en-IN"/>
        </a:p>
      </dgm:t>
    </dgm:pt>
    <dgm:pt modelId="{5C658B84-7FB1-467E-BC75-768FA41095B0}">
      <dgm:prSet phldrT="[Text]" phldr="0"/>
      <dgm:spPr/>
      <dgm:t>
        <a:bodyPr/>
        <a:lstStyle/>
        <a:p>
          <a:r>
            <a:rPr lang="en-IN" b="1" dirty="0" err="1"/>
            <a:t>Qdrant</a:t>
          </a:r>
          <a:r>
            <a:rPr lang="en-IN" dirty="0"/>
            <a:t> — vector indexing/retrieval </a:t>
          </a:r>
        </a:p>
      </dgm:t>
    </dgm:pt>
    <dgm:pt modelId="{F2924E67-A4E8-4CDC-B576-D795B80F4944}" type="parTrans" cxnId="{D47EB7F4-F4FD-4E6C-963A-A649433B9E80}">
      <dgm:prSet/>
      <dgm:spPr/>
      <dgm:t>
        <a:bodyPr/>
        <a:lstStyle/>
        <a:p>
          <a:endParaRPr lang="en-IN"/>
        </a:p>
      </dgm:t>
    </dgm:pt>
    <dgm:pt modelId="{7512B7EC-6DB6-4D0F-975C-E7135808FB69}" type="sibTrans" cxnId="{D47EB7F4-F4FD-4E6C-963A-A649433B9E80}">
      <dgm:prSet/>
      <dgm:spPr/>
      <dgm:t>
        <a:bodyPr/>
        <a:lstStyle/>
        <a:p>
          <a:endParaRPr lang="en-IN"/>
        </a:p>
      </dgm:t>
    </dgm:pt>
    <dgm:pt modelId="{1EDAD6E9-FB43-44E5-A560-CBA7DC566850}" type="pres">
      <dgm:prSet presAssocID="{CD0B6374-6A57-44C8-B410-B9234FA21073}" presName="Name0" presStyleCnt="0">
        <dgm:presLayoutVars>
          <dgm:dir/>
          <dgm:animLvl val="lvl"/>
          <dgm:resizeHandles val="exact"/>
        </dgm:presLayoutVars>
      </dgm:prSet>
      <dgm:spPr/>
    </dgm:pt>
    <dgm:pt modelId="{3D1F7820-B8B6-494F-A013-BFF46B6E65F6}" type="pres">
      <dgm:prSet presAssocID="{96A4EFE6-F5D4-4389-A288-C50FAECA79F5}" presName="composite" presStyleCnt="0"/>
      <dgm:spPr/>
    </dgm:pt>
    <dgm:pt modelId="{0BC904A0-DE4E-4155-828F-0F15F04B820C}" type="pres">
      <dgm:prSet presAssocID="{96A4EFE6-F5D4-4389-A288-C50FAECA79F5}" presName="parTx" presStyleLbl="alignNode1" presStyleIdx="0" presStyleCnt="3">
        <dgm:presLayoutVars>
          <dgm:chMax val="0"/>
          <dgm:chPref val="0"/>
          <dgm:bulletEnabled val="1"/>
        </dgm:presLayoutVars>
      </dgm:prSet>
      <dgm:spPr/>
    </dgm:pt>
    <dgm:pt modelId="{513FEEED-930A-4D01-A8E2-79E86AF86B43}" type="pres">
      <dgm:prSet presAssocID="{96A4EFE6-F5D4-4389-A288-C50FAECA79F5}" presName="desTx" presStyleLbl="alignAccFollowNode1" presStyleIdx="0" presStyleCnt="3">
        <dgm:presLayoutVars>
          <dgm:bulletEnabled val="1"/>
        </dgm:presLayoutVars>
      </dgm:prSet>
      <dgm:spPr/>
    </dgm:pt>
    <dgm:pt modelId="{427D8EA1-38C2-4F66-8FCB-25BFCE6F2463}" type="pres">
      <dgm:prSet presAssocID="{C912C858-1B3E-4FCD-9B3C-FAF0223C5304}" presName="space" presStyleCnt="0"/>
      <dgm:spPr/>
    </dgm:pt>
    <dgm:pt modelId="{0CBB0BE4-F1D7-4E96-B424-7D564739403B}" type="pres">
      <dgm:prSet presAssocID="{5BD0711F-201A-4D63-964C-D9059C6529DA}" presName="composite" presStyleCnt="0"/>
      <dgm:spPr/>
    </dgm:pt>
    <dgm:pt modelId="{4DD9260A-DF6C-4489-9250-1B488D49A380}" type="pres">
      <dgm:prSet presAssocID="{5BD0711F-201A-4D63-964C-D9059C6529DA}" presName="parTx" presStyleLbl="alignNode1" presStyleIdx="1" presStyleCnt="3">
        <dgm:presLayoutVars>
          <dgm:chMax val="0"/>
          <dgm:chPref val="0"/>
          <dgm:bulletEnabled val="1"/>
        </dgm:presLayoutVars>
      </dgm:prSet>
      <dgm:spPr/>
    </dgm:pt>
    <dgm:pt modelId="{58C3EAD0-B7C8-4957-8ED8-B20434F04BF9}" type="pres">
      <dgm:prSet presAssocID="{5BD0711F-201A-4D63-964C-D9059C6529DA}" presName="desTx" presStyleLbl="alignAccFollowNode1" presStyleIdx="1" presStyleCnt="3">
        <dgm:presLayoutVars>
          <dgm:bulletEnabled val="1"/>
        </dgm:presLayoutVars>
      </dgm:prSet>
      <dgm:spPr/>
    </dgm:pt>
    <dgm:pt modelId="{CECF9C59-72AE-437C-B667-6ED6F8981F84}" type="pres">
      <dgm:prSet presAssocID="{1D7AB5D3-F48B-404F-8F15-D9F9EE52D998}" presName="space" presStyleCnt="0"/>
      <dgm:spPr/>
    </dgm:pt>
    <dgm:pt modelId="{AB5A1811-5727-4C82-BE3C-7A7BA20C7EC8}" type="pres">
      <dgm:prSet presAssocID="{A02B926E-6B10-420F-9605-01679CA08D42}" presName="composite" presStyleCnt="0"/>
      <dgm:spPr/>
    </dgm:pt>
    <dgm:pt modelId="{BF5ED462-ED40-43C0-90E0-4C209893455A}" type="pres">
      <dgm:prSet presAssocID="{A02B926E-6B10-420F-9605-01679CA08D42}" presName="parTx" presStyleLbl="alignNode1" presStyleIdx="2" presStyleCnt="3">
        <dgm:presLayoutVars>
          <dgm:chMax val="0"/>
          <dgm:chPref val="0"/>
          <dgm:bulletEnabled val="1"/>
        </dgm:presLayoutVars>
      </dgm:prSet>
      <dgm:spPr/>
    </dgm:pt>
    <dgm:pt modelId="{74D15CF5-BCE1-4EF8-AF8D-388DF5BAF1AB}" type="pres">
      <dgm:prSet presAssocID="{A02B926E-6B10-420F-9605-01679CA08D42}" presName="desTx" presStyleLbl="alignAccFollowNode1" presStyleIdx="2" presStyleCnt="3">
        <dgm:presLayoutVars>
          <dgm:bulletEnabled val="1"/>
        </dgm:presLayoutVars>
      </dgm:prSet>
      <dgm:spPr/>
    </dgm:pt>
  </dgm:ptLst>
  <dgm:cxnLst>
    <dgm:cxn modelId="{F8763201-C676-406D-ADFA-A86F3AEF8BD9}" type="presOf" srcId="{CD0B6374-6A57-44C8-B410-B9234FA21073}" destId="{1EDAD6E9-FB43-44E5-A560-CBA7DC566850}" srcOrd="0" destOrd="0" presId="urn:microsoft.com/office/officeart/2005/8/layout/hList1"/>
    <dgm:cxn modelId="{14E3700C-56E4-419F-86DF-F09CA0AE9562}" type="presOf" srcId="{BF01908C-926D-4658-97F7-7D23B5B4922A}" destId="{74D15CF5-BCE1-4EF8-AF8D-388DF5BAF1AB}" srcOrd="0" destOrd="7" presId="urn:microsoft.com/office/officeart/2005/8/layout/hList1"/>
    <dgm:cxn modelId="{C7C01F16-49C2-4697-B824-8E3B03E29BFF}" type="presOf" srcId="{5C658B84-7FB1-467E-BC75-768FA41095B0}" destId="{74D15CF5-BCE1-4EF8-AF8D-388DF5BAF1AB}" srcOrd="0" destOrd="1" presId="urn:microsoft.com/office/officeart/2005/8/layout/hList1"/>
    <dgm:cxn modelId="{C3068920-1DD3-42AE-B972-3CFBC3B50045}" srcId="{A02B926E-6B10-420F-9605-01679CA08D42}" destId="{6788D295-629F-4726-B783-86C243EC2536}" srcOrd="4" destOrd="0" parTransId="{76682E14-499E-45DD-8486-70A789699B8D}" sibTransId="{353B044E-7347-47B7-91FA-797759867BBC}"/>
    <dgm:cxn modelId="{14A2FD22-B9D8-4F67-829F-EB41E2430659}" type="presOf" srcId="{96A4EFE6-F5D4-4389-A288-C50FAECA79F5}" destId="{0BC904A0-DE4E-4155-828F-0F15F04B820C}" srcOrd="0" destOrd="0" presId="urn:microsoft.com/office/officeart/2005/8/layout/hList1"/>
    <dgm:cxn modelId="{D2C82523-3528-43EF-8A71-AEF37FD7D906}" type="presOf" srcId="{12056E2B-5AE2-4B0B-AB12-34E58537010A}" destId="{74D15CF5-BCE1-4EF8-AF8D-388DF5BAF1AB}" srcOrd="0" destOrd="8" presId="urn:microsoft.com/office/officeart/2005/8/layout/hList1"/>
    <dgm:cxn modelId="{9BF24D25-5FE6-472A-81B3-5D39E30E0ADB}" type="presOf" srcId="{CD29A105-6FC4-45DD-9982-5274A064896B}" destId="{58C3EAD0-B7C8-4957-8ED8-B20434F04BF9}" srcOrd="0" destOrd="5" presId="urn:microsoft.com/office/officeart/2005/8/layout/hList1"/>
    <dgm:cxn modelId="{F594A031-DF81-4AE7-833A-457AFD22CE7D}" srcId="{96A4EFE6-F5D4-4389-A288-C50FAECA79F5}" destId="{9213802F-FFDC-487A-9EE3-85B3C26E4052}" srcOrd="3" destOrd="0" parTransId="{A0EA0D9A-D229-496B-8638-D04D9315B3DB}" sibTransId="{DC7D89D2-93E0-43CE-B8A1-1404FBACE72D}"/>
    <dgm:cxn modelId="{B3A8C531-0443-4192-9AEC-17546A042ADA}" type="presOf" srcId="{DE7A7BE8-4C5E-42DC-AC00-1BC0E8220A6C}" destId="{58C3EAD0-B7C8-4957-8ED8-B20434F04BF9}" srcOrd="0" destOrd="0" presId="urn:microsoft.com/office/officeart/2005/8/layout/hList1"/>
    <dgm:cxn modelId="{12D7D731-C7B8-415C-875F-2BB274C2A3D8}" srcId="{5BD0711F-201A-4D63-964C-D9059C6529DA}" destId="{4C10F6A1-9BCA-4222-8CB7-4F5B92A78B75}" srcOrd="3" destOrd="0" parTransId="{3B9D14D7-2E70-42BD-ACFF-4C372899361C}" sibTransId="{AAA642FE-B309-481B-949A-12C4B7F6D2CB}"/>
    <dgm:cxn modelId="{ADD4E53B-26D8-4575-88E5-F41802175FD8}" type="presOf" srcId="{A02B926E-6B10-420F-9605-01679CA08D42}" destId="{BF5ED462-ED40-43C0-90E0-4C209893455A}" srcOrd="0" destOrd="0" presId="urn:microsoft.com/office/officeart/2005/8/layout/hList1"/>
    <dgm:cxn modelId="{355D613D-D111-43F2-88A0-4C3E25C37C87}" srcId="{5BD0711F-201A-4D63-964C-D9059C6529DA}" destId="{655D8854-EB24-4B93-BC21-832269E39427}" srcOrd="2" destOrd="0" parTransId="{691009FF-3C82-4765-B261-22B61BD7B0FC}" sibTransId="{866144FE-5156-4093-93B9-9F7E00A48C58}"/>
    <dgm:cxn modelId="{FAAF913D-87D2-4856-8A5F-FFC8F5A47CC9}" type="presOf" srcId="{DBC9F2E1-336D-47E7-9C2B-4A915A59B156}" destId="{74D15CF5-BCE1-4EF8-AF8D-388DF5BAF1AB}" srcOrd="0" destOrd="3" presId="urn:microsoft.com/office/officeart/2005/8/layout/hList1"/>
    <dgm:cxn modelId="{7CD1A440-3B51-4953-B19F-30CFBC77E518}" type="presOf" srcId="{0017B798-125C-4D98-806F-5C81A6636527}" destId="{513FEEED-930A-4D01-A8E2-79E86AF86B43}" srcOrd="0" destOrd="4" presId="urn:microsoft.com/office/officeart/2005/8/layout/hList1"/>
    <dgm:cxn modelId="{00634061-F765-4D60-A1A7-D0B2AB9D588E}" srcId="{A02B926E-6B10-420F-9605-01679CA08D42}" destId="{12056E2B-5AE2-4B0B-AB12-34E58537010A}" srcOrd="8" destOrd="0" parTransId="{FB13BAD8-E20F-4CE6-AA74-D2545EFE7FF1}" sibTransId="{7F7B6035-7920-46EE-9994-2842FE040098}"/>
    <dgm:cxn modelId="{0F9F4643-4410-4F3D-903D-C460EB9B4DD6}" srcId="{CD0B6374-6A57-44C8-B410-B9234FA21073}" destId="{5BD0711F-201A-4D63-964C-D9059C6529DA}" srcOrd="1" destOrd="0" parTransId="{3EFD386D-7E59-4D04-A6A3-89F322241F5F}" sibTransId="{1D7AB5D3-F48B-404F-8F15-D9F9EE52D998}"/>
    <dgm:cxn modelId="{3D84AF48-EF82-43E1-BC5E-374C1FC83EC5}" srcId="{5BD0711F-201A-4D63-964C-D9059C6529DA}" destId="{09BE0447-9ADD-47B4-93E7-43168EBB3BA2}" srcOrd="1" destOrd="0" parTransId="{7F235B35-5E1F-4F26-9013-A95C4C108527}" sibTransId="{C97B3307-3B86-4E39-8EAD-2E274A493CE0}"/>
    <dgm:cxn modelId="{050A456E-C951-4C2E-9A24-B6131EDB1B04}" type="presOf" srcId="{C56E064B-8774-40AD-91EB-20D6DBD0A57F}" destId="{74D15CF5-BCE1-4EF8-AF8D-388DF5BAF1AB}" srcOrd="0" destOrd="0" presId="urn:microsoft.com/office/officeart/2005/8/layout/hList1"/>
    <dgm:cxn modelId="{8706FF4E-3E33-493F-92E8-F4A3F2E432D8}" type="presOf" srcId="{655D8854-EB24-4B93-BC21-832269E39427}" destId="{58C3EAD0-B7C8-4957-8ED8-B20434F04BF9}" srcOrd="0" destOrd="2" presId="urn:microsoft.com/office/officeart/2005/8/layout/hList1"/>
    <dgm:cxn modelId="{8375DF56-8367-4AE5-BE0D-A23BF8C5BEE1}" srcId="{A02B926E-6B10-420F-9605-01679CA08D42}" destId="{4EDC0E0A-E061-42CC-8E7D-E57FB75AF41E}" srcOrd="2" destOrd="0" parTransId="{E411A15F-8865-40AE-9949-00FD956F0ECC}" sibTransId="{3F7FDFA2-33B3-4442-B933-E9E84971C774}"/>
    <dgm:cxn modelId="{A9076378-7CC4-42DF-9122-09CA68D9488B}" srcId="{5BD0711F-201A-4D63-964C-D9059C6529DA}" destId="{DE7A7BE8-4C5E-42DC-AC00-1BC0E8220A6C}" srcOrd="0" destOrd="0" parTransId="{AF6DE9FD-EBDF-49E3-8E30-6589EFA02A5A}" sibTransId="{1561DD7A-3648-482A-AAE7-ABB3E8F13719}"/>
    <dgm:cxn modelId="{13C10D59-81BC-4275-927C-A2722F9BD5EE}" srcId="{5BD0711F-201A-4D63-964C-D9059C6529DA}" destId="{CD29A105-6FC4-45DD-9982-5274A064896B}" srcOrd="5" destOrd="0" parTransId="{FC2D2891-7B14-4AE0-9AD3-8DE786D483EE}" sibTransId="{63E397A2-2E96-4E34-9E00-777FD3E77EB3}"/>
    <dgm:cxn modelId="{04595259-FD93-4B44-BB51-335A41B5910E}" srcId="{A02B926E-6B10-420F-9605-01679CA08D42}" destId="{BF01908C-926D-4658-97F7-7D23B5B4922A}" srcOrd="7" destOrd="0" parTransId="{2AAE64BD-914C-4525-9FFB-06FA4176E933}" sibTransId="{71830659-2EF8-453D-A898-30A6CB2125D7}"/>
    <dgm:cxn modelId="{BC4F1E8C-461B-4633-A7B6-3E582069067F}" type="presOf" srcId="{6630C3F2-629C-49B2-A298-16C9536D44A2}" destId="{513FEEED-930A-4D01-A8E2-79E86AF86B43}" srcOrd="0" destOrd="1" presId="urn:microsoft.com/office/officeart/2005/8/layout/hList1"/>
    <dgm:cxn modelId="{A3BD9592-DB14-427E-B2C3-2E89459FC183}" srcId="{A02B926E-6B10-420F-9605-01679CA08D42}" destId="{DBC9F2E1-336D-47E7-9C2B-4A915A59B156}" srcOrd="3" destOrd="0" parTransId="{A6ABAC5D-C940-4240-A9B1-67BD0367C7BC}" sibTransId="{036962C2-79E9-48E2-85E0-DC654CBED69B}"/>
    <dgm:cxn modelId="{5CA93496-0369-4C4D-A2EA-C651A62B6248}" srcId="{A02B926E-6B10-420F-9605-01679CA08D42}" destId="{C56E064B-8774-40AD-91EB-20D6DBD0A57F}" srcOrd="0" destOrd="0" parTransId="{F96D8260-F05E-42A8-AF0C-5ECE761BC8E9}" sibTransId="{05BEA482-8210-4590-A433-F37106F471CE}"/>
    <dgm:cxn modelId="{7574F297-0785-4A55-9D98-323E3D74F437}" srcId="{5BD0711F-201A-4D63-964C-D9059C6529DA}" destId="{94C784D0-FDCA-4F1F-BB51-C993FFEE299B}" srcOrd="4" destOrd="0" parTransId="{C2EE1281-8D42-4559-B1B9-68A529A629E4}" sibTransId="{DCB44693-2FC0-439D-AEE9-8326DF9A6162}"/>
    <dgm:cxn modelId="{3B069A9B-2DB7-4BE9-8A72-382F004413E6}" type="presOf" srcId="{09BE0447-9ADD-47B4-93E7-43168EBB3BA2}" destId="{58C3EAD0-B7C8-4957-8ED8-B20434F04BF9}" srcOrd="0" destOrd="1" presId="urn:microsoft.com/office/officeart/2005/8/layout/hList1"/>
    <dgm:cxn modelId="{E1BF1C9F-26B5-46F6-9103-6801B7A897A2}" type="presOf" srcId="{8FFBE04F-C143-4B2A-90DB-B54B014D9925}" destId="{74D15CF5-BCE1-4EF8-AF8D-388DF5BAF1AB}" srcOrd="0" destOrd="6" presId="urn:microsoft.com/office/officeart/2005/8/layout/hList1"/>
    <dgm:cxn modelId="{4AF1C8A4-2DB7-4E86-8CC2-10EF2A756DB0}" srcId="{CD0B6374-6A57-44C8-B410-B9234FA21073}" destId="{96A4EFE6-F5D4-4389-A288-C50FAECA79F5}" srcOrd="0" destOrd="0" parTransId="{B4057ACC-B856-40F8-8A5B-CC3F7F5750DC}" sibTransId="{C912C858-1B3E-4FCD-9B3C-FAF0223C5304}"/>
    <dgm:cxn modelId="{F228A1AE-B7E7-4513-B854-517ACB0C048C}" srcId="{96A4EFE6-F5D4-4389-A288-C50FAECA79F5}" destId="{6630C3F2-629C-49B2-A298-16C9536D44A2}" srcOrd="1" destOrd="0" parTransId="{73BEF4A6-AF10-4148-984C-BA6D96A280B6}" sibTransId="{EB2F7B50-1B86-4509-BA46-2B4D3823322A}"/>
    <dgm:cxn modelId="{FFFB60AF-9A60-40CB-A0A2-E2EBF62C4CBE}" srcId="{96A4EFE6-F5D4-4389-A288-C50FAECA79F5}" destId="{23A1A20E-5133-4407-BA8F-0CF6519FB7C7}" srcOrd="5" destOrd="0" parTransId="{DED64683-841E-4F65-9E6A-7B9A3A8EC186}" sibTransId="{6AE32386-FE23-462E-81DF-711F10297245}"/>
    <dgm:cxn modelId="{B2B3D5B9-80C8-41C2-9806-6112651A3414}" type="presOf" srcId="{4C10F6A1-9BCA-4222-8CB7-4F5B92A78B75}" destId="{58C3EAD0-B7C8-4957-8ED8-B20434F04BF9}" srcOrd="0" destOrd="3" presId="urn:microsoft.com/office/officeart/2005/8/layout/hList1"/>
    <dgm:cxn modelId="{B4AF47BA-7B52-4BBF-8DC6-61CE7AE194F9}" srcId="{CD0B6374-6A57-44C8-B410-B9234FA21073}" destId="{A02B926E-6B10-420F-9605-01679CA08D42}" srcOrd="2" destOrd="0" parTransId="{2427E752-4913-422A-BAB4-C26A5C62B338}" sibTransId="{7C134E1C-941F-4582-8901-3A6BBF43EBC6}"/>
    <dgm:cxn modelId="{E88D94C3-A017-469D-86B3-6C4A05A458AF}" type="presOf" srcId="{5BD0711F-201A-4D63-964C-D9059C6529DA}" destId="{4DD9260A-DF6C-4489-9250-1B488D49A380}" srcOrd="0" destOrd="0" presId="urn:microsoft.com/office/officeart/2005/8/layout/hList1"/>
    <dgm:cxn modelId="{ED2217C5-4A2E-474B-B21D-C9DA07A5FD49}" type="presOf" srcId="{23A1A20E-5133-4407-BA8F-0CF6519FB7C7}" destId="{513FEEED-930A-4D01-A8E2-79E86AF86B43}" srcOrd="0" destOrd="5" presId="urn:microsoft.com/office/officeart/2005/8/layout/hList1"/>
    <dgm:cxn modelId="{8F1932C7-360E-4B85-AAFC-125EB33AF5C2}" type="presOf" srcId="{8537A488-F87D-406C-BED8-DD576B913707}" destId="{513FEEED-930A-4D01-A8E2-79E86AF86B43}" srcOrd="0" destOrd="0" presId="urn:microsoft.com/office/officeart/2005/8/layout/hList1"/>
    <dgm:cxn modelId="{177B7FC9-3277-4658-86D4-DE94DBFB1D03}" srcId="{96A4EFE6-F5D4-4389-A288-C50FAECA79F5}" destId="{E95D9B1D-0D37-41FE-AF9C-1CBBFC76CB54}" srcOrd="2" destOrd="0" parTransId="{07C4F416-5897-46AC-9BAC-B573938EBABE}" sibTransId="{17EEDFD7-BFCC-4702-8682-7750A986F0CE}"/>
    <dgm:cxn modelId="{5FEB53D0-C2FF-4C80-8FD1-CA26DBDBAE00}" type="presOf" srcId="{E95D9B1D-0D37-41FE-AF9C-1CBBFC76CB54}" destId="{513FEEED-930A-4D01-A8E2-79E86AF86B43}" srcOrd="0" destOrd="2" presId="urn:microsoft.com/office/officeart/2005/8/layout/hList1"/>
    <dgm:cxn modelId="{EAC141D1-4E82-4068-9F2B-72926D8087E4}" type="presOf" srcId="{4EDC0E0A-E061-42CC-8E7D-E57FB75AF41E}" destId="{74D15CF5-BCE1-4EF8-AF8D-388DF5BAF1AB}" srcOrd="0" destOrd="2" presId="urn:microsoft.com/office/officeart/2005/8/layout/hList1"/>
    <dgm:cxn modelId="{12E52ED4-D36C-42B6-AE5B-E146CE7F085C}" type="presOf" srcId="{EFA3541E-D3B1-480A-82B3-4C67C843BAEA}" destId="{74D15CF5-BCE1-4EF8-AF8D-388DF5BAF1AB}" srcOrd="0" destOrd="5" presId="urn:microsoft.com/office/officeart/2005/8/layout/hList1"/>
    <dgm:cxn modelId="{86A572DF-8132-4F98-98CF-D2A7E4BA716C}" type="presOf" srcId="{9213802F-FFDC-487A-9EE3-85B3C26E4052}" destId="{513FEEED-930A-4D01-A8E2-79E86AF86B43}" srcOrd="0" destOrd="3" presId="urn:microsoft.com/office/officeart/2005/8/layout/hList1"/>
    <dgm:cxn modelId="{55CD5CF2-EBBC-4BEC-A621-5EA979AC8201}" type="presOf" srcId="{94C784D0-FDCA-4F1F-BB51-C993FFEE299B}" destId="{58C3EAD0-B7C8-4957-8ED8-B20434F04BF9}" srcOrd="0" destOrd="4" presId="urn:microsoft.com/office/officeart/2005/8/layout/hList1"/>
    <dgm:cxn modelId="{D47EB7F4-F4FD-4E6C-963A-A649433B9E80}" srcId="{A02B926E-6B10-420F-9605-01679CA08D42}" destId="{5C658B84-7FB1-467E-BC75-768FA41095B0}" srcOrd="1" destOrd="0" parTransId="{F2924E67-A4E8-4CDC-B576-D795B80F4944}" sibTransId="{7512B7EC-6DB6-4D0F-975C-E7135808FB69}"/>
    <dgm:cxn modelId="{725CBFF5-F0D9-4038-9DE7-7679CAE4AAED}" srcId="{A02B926E-6B10-420F-9605-01679CA08D42}" destId="{8FFBE04F-C143-4B2A-90DB-B54B014D9925}" srcOrd="6" destOrd="0" parTransId="{7C14ABE3-B8FE-4D01-AA11-1BFE15C0DAF2}" sibTransId="{EE527645-0FBD-4B24-B90A-671C9E020AD4}"/>
    <dgm:cxn modelId="{F9AAC6F6-B229-4FD7-A5C8-F549C4B00707}" srcId="{96A4EFE6-F5D4-4389-A288-C50FAECA79F5}" destId="{8537A488-F87D-406C-BED8-DD576B913707}" srcOrd="0" destOrd="0" parTransId="{742FF4E4-F97A-4EF3-AD91-04AFEFB96656}" sibTransId="{BF2422F5-8C68-43B5-BAC0-3A7628C97226}"/>
    <dgm:cxn modelId="{548BFDF6-77C7-431E-8A5C-5525D687B6AF}" srcId="{96A4EFE6-F5D4-4389-A288-C50FAECA79F5}" destId="{0017B798-125C-4D98-806F-5C81A6636527}" srcOrd="4" destOrd="0" parTransId="{9E8C3BF6-356B-4202-B3C7-33E7BAD23D80}" sibTransId="{FC1CC867-11F4-41C4-B12A-D355C6CC71F9}"/>
    <dgm:cxn modelId="{BE8CF7FA-B1E8-4CBB-856A-447284571CD7}" srcId="{A02B926E-6B10-420F-9605-01679CA08D42}" destId="{EFA3541E-D3B1-480A-82B3-4C67C843BAEA}" srcOrd="5" destOrd="0" parTransId="{27F5E54C-B40A-4022-BE89-E4EC928361EB}" sibTransId="{241FC0AD-36AC-4187-89A0-684648D78CCB}"/>
    <dgm:cxn modelId="{6AE197FF-86B1-4809-8C34-2F23A0B5F42C}" type="presOf" srcId="{6788D295-629F-4726-B783-86C243EC2536}" destId="{74D15CF5-BCE1-4EF8-AF8D-388DF5BAF1AB}" srcOrd="0" destOrd="4" presId="urn:microsoft.com/office/officeart/2005/8/layout/hList1"/>
    <dgm:cxn modelId="{C76E612E-1CB3-4DD3-A658-D676FD1C0450}" type="presParOf" srcId="{1EDAD6E9-FB43-44E5-A560-CBA7DC566850}" destId="{3D1F7820-B8B6-494F-A013-BFF46B6E65F6}" srcOrd="0" destOrd="0" presId="urn:microsoft.com/office/officeart/2005/8/layout/hList1"/>
    <dgm:cxn modelId="{18BD100A-A16F-4A32-BD4F-694256C3DC19}" type="presParOf" srcId="{3D1F7820-B8B6-494F-A013-BFF46B6E65F6}" destId="{0BC904A0-DE4E-4155-828F-0F15F04B820C}" srcOrd="0" destOrd="0" presId="urn:microsoft.com/office/officeart/2005/8/layout/hList1"/>
    <dgm:cxn modelId="{B4A22500-6BD4-4DE5-AC56-61ACD072EC8E}" type="presParOf" srcId="{3D1F7820-B8B6-494F-A013-BFF46B6E65F6}" destId="{513FEEED-930A-4D01-A8E2-79E86AF86B43}" srcOrd="1" destOrd="0" presId="urn:microsoft.com/office/officeart/2005/8/layout/hList1"/>
    <dgm:cxn modelId="{E175C2F3-2E52-4CAF-BB43-10B9ECB1CF0F}" type="presParOf" srcId="{1EDAD6E9-FB43-44E5-A560-CBA7DC566850}" destId="{427D8EA1-38C2-4F66-8FCB-25BFCE6F2463}" srcOrd="1" destOrd="0" presId="urn:microsoft.com/office/officeart/2005/8/layout/hList1"/>
    <dgm:cxn modelId="{DEA49AA8-B43B-44BD-A896-8B416805B3F6}" type="presParOf" srcId="{1EDAD6E9-FB43-44E5-A560-CBA7DC566850}" destId="{0CBB0BE4-F1D7-4E96-B424-7D564739403B}" srcOrd="2" destOrd="0" presId="urn:microsoft.com/office/officeart/2005/8/layout/hList1"/>
    <dgm:cxn modelId="{7444D1FE-7329-4B00-8B9E-421225EB93AF}" type="presParOf" srcId="{0CBB0BE4-F1D7-4E96-B424-7D564739403B}" destId="{4DD9260A-DF6C-4489-9250-1B488D49A380}" srcOrd="0" destOrd="0" presId="urn:microsoft.com/office/officeart/2005/8/layout/hList1"/>
    <dgm:cxn modelId="{703661BC-ABD4-4935-A5D1-9D7EA9341739}" type="presParOf" srcId="{0CBB0BE4-F1D7-4E96-B424-7D564739403B}" destId="{58C3EAD0-B7C8-4957-8ED8-B20434F04BF9}" srcOrd="1" destOrd="0" presId="urn:microsoft.com/office/officeart/2005/8/layout/hList1"/>
    <dgm:cxn modelId="{44F51659-C4D8-48E2-80C9-DB99A83E654D}" type="presParOf" srcId="{1EDAD6E9-FB43-44E5-A560-CBA7DC566850}" destId="{CECF9C59-72AE-437C-B667-6ED6F8981F84}" srcOrd="3" destOrd="0" presId="urn:microsoft.com/office/officeart/2005/8/layout/hList1"/>
    <dgm:cxn modelId="{AA04F988-180F-4B5B-921F-0FDF9BD7D3C0}" type="presParOf" srcId="{1EDAD6E9-FB43-44E5-A560-CBA7DC566850}" destId="{AB5A1811-5727-4C82-BE3C-7A7BA20C7EC8}" srcOrd="4" destOrd="0" presId="urn:microsoft.com/office/officeart/2005/8/layout/hList1"/>
    <dgm:cxn modelId="{073FC803-CF8A-4F74-9C78-0BEEC028D23F}" type="presParOf" srcId="{AB5A1811-5727-4C82-BE3C-7A7BA20C7EC8}" destId="{BF5ED462-ED40-43C0-90E0-4C209893455A}" srcOrd="0" destOrd="0" presId="urn:microsoft.com/office/officeart/2005/8/layout/hList1"/>
    <dgm:cxn modelId="{1E99A7E8-0A12-4148-8467-8497DA66988E}" type="presParOf" srcId="{AB5A1811-5727-4C82-BE3C-7A7BA20C7EC8}" destId="{74D15CF5-BCE1-4EF8-AF8D-388DF5BAF1A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F52803-24A7-4C7B-AD89-B7E10E2D1E45}">
      <dsp:nvSpPr>
        <dsp:cNvPr id="0" name=""/>
        <dsp:cNvSpPr/>
      </dsp:nvSpPr>
      <dsp:spPr>
        <a:xfrm>
          <a:off x="0" y="412057"/>
          <a:ext cx="3276747" cy="1966048"/>
        </a:xfrm>
        <a:prstGeom prst="rect">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Font typeface="Arial" panose="020B0604020202020204" pitchFamily="34" charset="0"/>
            <a:buNone/>
          </a:pPr>
          <a:r>
            <a:rPr lang="en-IN" sz="1700" b="1" kern="1200" dirty="0">
              <a:latin typeface="Times New Roman" panose="02020603050405020304" pitchFamily="18" charset="0"/>
              <a:cs typeface="Times New Roman" panose="02020603050405020304" pitchFamily="18" charset="0"/>
            </a:rPr>
            <a:t>1. Document Parsing</a:t>
          </a:r>
          <a:endParaRPr lang="en-IN" sz="1700" kern="1200" dirty="0">
            <a:latin typeface="Times New Roman" panose="02020603050405020304" pitchFamily="18" charset="0"/>
            <a:cs typeface="Times New Roman" panose="02020603050405020304" pitchFamily="18" charset="0"/>
          </a:endParaRPr>
        </a:p>
        <a:p>
          <a:pPr marL="0" lvl="0" indent="0" algn="ctr" defTabSz="755650">
            <a:lnSpc>
              <a:spcPct val="90000"/>
            </a:lnSpc>
            <a:spcBef>
              <a:spcPct val="0"/>
            </a:spcBef>
            <a:spcAft>
              <a:spcPct val="35000"/>
            </a:spcAft>
            <a:buFont typeface="Arial" panose="020B0604020202020204" pitchFamily="34" charset="0"/>
            <a:buNone/>
          </a:pPr>
          <a:r>
            <a:rPr lang="en-IN" sz="1700" kern="1200" dirty="0">
              <a:latin typeface="Times New Roman" panose="02020603050405020304" pitchFamily="18" charset="0"/>
              <a:cs typeface="Times New Roman" panose="02020603050405020304" pitchFamily="18" charset="0"/>
            </a:rPr>
            <a:t>Process Supreme Court &amp; High Court judgments </a:t>
          </a:r>
        </a:p>
        <a:p>
          <a:pPr marL="0" lvl="0" indent="0" algn="ctr" defTabSz="755650">
            <a:lnSpc>
              <a:spcPct val="90000"/>
            </a:lnSpc>
            <a:spcBef>
              <a:spcPct val="0"/>
            </a:spcBef>
            <a:spcAft>
              <a:spcPct val="35000"/>
            </a:spcAft>
            <a:buFont typeface="Arial" panose="020B0604020202020204" pitchFamily="34" charset="0"/>
            <a:buNone/>
          </a:pPr>
          <a:r>
            <a:rPr lang="en-IN" sz="1700" kern="1200" dirty="0">
              <a:latin typeface="Times New Roman" panose="02020603050405020304" pitchFamily="18" charset="0"/>
              <a:cs typeface="Times New Roman" panose="02020603050405020304" pitchFamily="18" charset="0"/>
            </a:rPr>
            <a:t>Extract textual content from source documents</a:t>
          </a:r>
        </a:p>
      </dsp:txBody>
      <dsp:txXfrm>
        <a:off x="0" y="412057"/>
        <a:ext cx="3276747" cy="1966048"/>
      </dsp:txXfrm>
    </dsp:sp>
    <dsp:sp modelId="{5512FD13-5D71-48FA-8A32-7F6850AB38C4}">
      <dsp:nvSpPr>
        <dsp:cNvPr id="0" name=""/>
        <dsp:cNvSpPr/>
      </dsp:nvSpPr>
      <dsp:spPr>
        <a:xfrm>
          <a:off x="3632176" y="419037"/>
          <a:ext cx="3276747" cy="1966048"/>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Font typeface="Arial" panose="020B0604020202020204" pitchFamily="34" charset="0"/>
            <a:buNone/>
          </a:pPr>
          <a:r>
            <a:rPr lang="en-IN" sz="1700" b="1" kern="1200" dirty="0">
              <a:latin typeface="Times New Roman" panose="02020603050405020304" pitchFamily="18" charset="0"/>
              <a:cs typeface="Times New Roman" panose="02020603050405020304" pitchFamily="18" charset="0"/>
            </a:rPr>
            <a:t>2. Text Normalization</a:t>
          </a:r>
          <a:endParaRPr lang="en-IN" sz="1700" kern="1200" dirty="0">
            <a:latin typeface="Times New Roman" panose="02020603050405020304" pitchFamily="18" charset="0"/>
            <a:cs typeface="Times New Roman" panose="02020603050405020304" pitchFamily="18" charset="0"/>
          </a:endParaRPr>
        </a:p>
        <a:p>
          <a:pPr marL="0" lvl="0" indent="0" algn="ctr" defTabSz="755650">
            <a:lnSpc>
              <a:spcPct val="90000"/>
            </a:lnSpc>
            <a:spcBef>
              <a:spcPct val="0"/>
            </a:spcBef>
            <a:spcAft>
              <a:spcPct val="35000"/>
            </a:spcAft>
            <a:buFont typeface="Arial" panose="020B0604020202020204" pitchFamily="34" charset="0"/>
            <a:buNone/>
          </a:pPr>
          <a:r>
            <a:rPr lang="en-IN" sz="1700" kern="1200" dirty="0">
              <a:latin typeface="Times New Roman" panose="02020603050405020304" pitchFamily="18" charset="0"/>
              <a:cs typeface="Times New Roman" panose="02020603050405020304" pitchFamily="18" charset="0"/>
            </a:rPr>
            <a:t>Normalize legal terminology and citation formats </a:t>
          </a:r>
        </a:p>
        <a:p>
          <a:pPr marL="0" lvl="0" indent="0" algn="ctr" defTabSz="755650">
            <a:lnSpc>
              <a:spcPct val="90000"/>
            </a:lnSpc>
            <a:spcBef>
              <a:spcPct val="0"/>
            </a:spcBef>
            <a:spcAft>
              <a:spcPct val="35000"/>
            </a:spcAft>
            <a:buFont typeface="Arial" panose="020B0604020202020204" pitchFamily="34" charset="0"/>
            <a:buNone/>
          </a:pPr>
          <a:r>
            <a:rPr lang="en-IN" sz="1700" kern="1200" dirty="0">
              <a:latin typeface="Times New Roman" panose="02020603050405020304" pitchFamily="18" charset="0"/>
              <a:cs typeface="Times New Roman" panose="02020603050405020304" pitchFamily="18" charset="0"/>
            </a:rPr>
            <a:t>Handle variations such as </a:t>
          </a:r>
          <a:r>
            <a:rPr lang="en-IN" sz="1700" b="1" kern="1200" dirty="0">
              <a:latin typeface="Times New Roman" panose="02020603050405020304" pitchFamily="18" charset="0"/>
              <a:cs typeface="Times New Roman" panose="02020603050405020304" pitchFamily="18" charset="0"/>
            </a:rPr>
            <a:t>“S. 138” / “Section 138”</a:t>
          </a:r>
          <a:endParaRPr lang="en-IN" sz="1700" kern="1200" dirty="0">
            <a:latin typeface="Times New Roman" panose="02020603050405020304" pitchFamily="18" charset="0"/>
            <a:cs typeface="Times New Roman" panose="02020603050405020304" pitchFamily="18" charset="0"/>
          </a:endParaRPr>
        </a:p>
      </dsp:txBody>
      <dsp:txXfrm>
        <a:off x="3632176" y="419037"/>
        <a:ext cx="3276747" cy="1966048"/>
      </dsp:txXfrm>
    </dsp:sp>
    <dsp:sp modelId="{E0AF59AC-9A21-46D7-8A08-27EFDF5B181D}">
      <dsp:nvSpPr>
        <dsp:cNvPr id="0" name=""/>
        <dsp:cNvSpPr/>
      </dsp:nvSpPr>
      <dsp:spPr>
        <a:xfrm>
          <a:off x="7208845" y="497226"/>
          <a:ext cx="3276747" cy="1966048"/>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Font typeface="Arial" panose="020B0604020202020204" pitchFamily="34" charset="0"/>
            <a:buNone/>
          </a:pPr>
          <a:r>
            <a:rPr lang="en-IN" sz="1700" b="1" kern="1200" dirty="0">
              <a:latin typeface="Times New Roman" panose="02020603050405020304" pitchFamily="18" charset="0"/>
              <a:cs typeface="Times New Roman" panose="02020603050405020304" pitchFamily="18" charset="0"/>
            </a:rPr>
            <a:t>3. Legal-Domain Structural Chunking</a:t>
          </a:r>
          <a:endParaRPr lang="en-IN" sz="1700" kern="1200" dirty="0">
            <a:latin typeface="Times New Roman" panose="02020603050405020304" pitchFamily="18" charset="0"/>
            <a:cs typeface="Times New Roman" panose="02020603050405020304" pitchFamily="18" charset="0"/>
          </a:endParaRPr>
        </a:p>
        <a:p>
          <a:pPr marL="0" lvl="0" indent="0" algn="ctr" defTabSz="755650">
            <a:lnSpc>
              <a:spcPct val="90000"/>
            </a:lnSpc>
            <a:spcBef>
              <a:spcPct val="0"/>
            </a:spcBef>
            <a:spcAft>
              <a:spcPct val="35000"/>
            </a:spcAft>
            <a:buFont typeface="Arial" panose="020B0604020202020204" pitchFamily="34" charset="0"/>
            <a:buNone/>
          </a:pPr>
          <a:r>
            <a:rPr lang="en-IN" sz="1700" kern="1200" dirty="0">
              <a:latin typeface="Times New Roman" panose="02020603050405020304" pitchFamily="18" charset="0"/>
              <a:cs typeface="Times New Roman" panose="02020603050405020304" pitchFamily="18" charset="0"/>
            </a:rPr>
            <a:t>Segment judgments based on legal structure </a:t>
          </a:r>
        </a:p>
        <a:p>
          <a:pPr marL="0" lvl="0" indent="0" algn="ctr" defTabSz="755650">
            <a:lnSpc>
              <a:spcPct val="90000"/>
            </a:lnSpc>
            <a:spcBef>
              <a:spcPct val="0"/>
            </a:spcBef>
            <a:spcAft>
              <a:spcPct val="35000"/>
            </a:spcAft>
            <a:buFont typeface="Arial" panose="020B0604020202020204" pitchFamily="34" charset="0"/>
            <a:buNone/>
          </a:pPr>
          <a:r>
            <a:rPr lang="en-IN" sz="1700" kern="1200" dirty="0">
              <a:latin typeface="Times New Roman" panose="02020603050405020304" pitchFamily="18" charset="0"/>
              <a:cs typeface="Times New Roman" panose="02020603050405020304" pitchFamily="18" charset="0"/>
            </a:rPr>
            <a:t>Identify </a:t>
          </a:r>
          <a:r>
            <a:rPr lang="en-IN" sz="1700" b="1" kern="1200" dirty="0">
              <a:latin typeface="Times New Roman" panose="02020603050405020304" pitchFamily="18" charset="0"/>
              <a:cs typeface="Times New Roman" panose="02020603050405020304" pitchFamily="18" charset="0"/>
            </a:rPr>
            <a:t>Facts, Issues, Submissions, Reasoning, Ratio Decidendi, Obiter Dicta &amp; Order</a:t>
          </a:r>
          <a:endParaRPr lang="en-IN" sz="1700" kern="1200" dirty="0">
            <a:latin typeface="Times New Roman" panose="02020603050405020304" pitchFamily="18" charset="0"/>
            <a:cs typeface="Times New Roman" panose="02020603050405020304" pitchFamily="18" charset="0"/>
          </a:endParaRPr>
        </a:p>
      </dsp:txBody>
      <dsp:txXfrm>
        <a:off x="7208845" y="497226"/>
        <a:ext cx="3276747" cy="1966048"/>
      </dsp:txXfrm>
    </dsp:sp>
    <dsp:sp modelId="{265D4BD8-DAF4-43F0-AA18-B28AE53E6B46}">
      <dsp:nvSpPr>
        <dsp:cNvPr id="0" name=""/>
        <dsp:cNvSpPr/>
      </dsp:nvSpPr>
      <dsp:spPr>
        <a:xfrm>
          <a:off x="1802211" y="2873170"/>
          <a:ext cx="3276747" cy="1966048"/>
        </a:xfrm>
        <a:prstGeom prst="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Font typeface="Arial" panose="020B0604020202020204" pitchFamily="34" charset="0"/>
            <a:buNone/>
          </a:pPr>
          <a:r>
            <a:rPr lang="en-IN" sz="1700" b="1" kern="1200" dirty="0">
              <a:latin typeface="Times New Roman" panose="02020603050405020304" pitchFamily="18" charset="0"/>
              <a:cs typeface="Times New Roman" panose="02020603050405020304" pitchFamily="18" charset="0"/>
            </a:rPr>
            <a:t>4. Chunk Preparation</a:t>
          </a:r>
          <a:endParaRPr lang="en-IN" sz="1700" kern="1200" dirty="0">
            <a:latin typeface="Times New Roman" panose="02020603050405020304" pitchFamily="18" charset="0"/>
            <a:cs typeface="Times New Roman" panose="02020603050405020304" pitchFamily="18" charset="0"/>
          </a:endParaRPr>
        </a:p>
        <a:p>
          <a:pPr marL="0" lvl="0" indent="0" algn="ctr" defTabSz="755650">
            <a:lnSpc>
              <a:spcPct val="90000"/>
            </a:lnSpc>
            <a:spcBef>
              <a:spcPct val="0"/>
            </a:spcBef>
            <a:spcAft>
              <a:spcPct val="35000"/>
            </a:spcAft>
            <a:buFont typeface="Arial" panose="020B0604020202020204" pitchFamily="34" charset="0"/>
            <a:buNone/>
          </a:pPr>
          <a:r>
            <a:rPr lang="en-IN" sz="1700" kern="1200" dirty="0">
              <a:latin typeface="Times New Roman" panose="02020603050405020304" pitchFamily="18" charset="0"/>
              <a:cs typeface="Times New Roman" panose="02020603050405020304" pitchFamily="18" charset="0"/>
            </a:rPr>
            <a:t>Preserve legal-semantic boundaries </a:t>
          </a:r>
        </a:p>
        <a:p>
          <a:pPr marL="0" lvl="0" indent="0" algn="ctr" defTabSz="755650">
            <a:lnSpc>
              <a:spcPct val="90000"/>
            </a:lnSpc>
            <a:spcBef>
              <a:spcPct val="0"/>
            </a:spcBef>
            <a:spcAft>
              <a:spcPct val="35000"/>
            </a:spcAft>
            <a:buFont typeface="Arial" panose="020B0604020202020204" pitchFamily="34" charset="0"/>
            <a:buNone/>
          </a:pPr>
          <a:r>
            <a:rPr lang="en-IN" sz="1700" kern="1200" dirty="0">
              <a:latin typeface="Times New Roman" panose="02020603050405020304" pitchFamily="18" charset="0"/>
              <a:cs typeface="Times New Roman" panose="02020603050405020304" pitchFamily="18" charset="0"/>
            </a:rPr>
            <a:t>Generate structured chunks for downstream retrieval and generation</a:t>
          </a:r>
        </a:p>
      </dsp:txBody>
      <dsp:txXfrm>
        <a:off x="1802211" y="2873170"/>
        <a:ext cx="3276747" cy="1966048"/>
      </dsp:txXfrm>
    </dsp:sp>
    <dsp:sp modelId="{78EAF492-FFB8-427E-A3B1-950E0B97A2FB}">
      <dsp:nvSpPr>
        <dsp:cNvPr id="0" name=""/>
        <dsp:cNvSpPr/>
      </dsp:nvSpPr>
      <dsp:spPr>
        <a:xfrm>
          <a:off x="5406633" y="2873170"/>
          <a:ext cx="3276747" cy="1966048"/>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Font typeface="Arial" panose="020B0604020202020204" pitchFamily="34" charset="0"/>
            <a:buNone/>
          </a:pPr>
          <a:r>
            <a:rPr lang="en-IN" sz="1700" b="1" kern="1200" dirty="0">
              <a:latin typeface="Times New Roman" panose="02020603050405020304" pitchFamily="18" charset="0"/>
              <a:cs typeface="Times New Roman" panose="02020603050405020304" pitchFamily="18" charset="0"/>
            </a:rPr>
            <a:t>5. Metadata Preparation</a:t>
          </a:r>
        </a:p>
        <a:p>
          <a:pPr marL="0" lvl="0" indent="0" algn="ctr" defTabSz="755650">
            <a:lnSpc>
              <a:spcPct val="90000"/>
            </a:lnSpc>
            <a:spcBef>
              <a:spcPct val="0"/>
            </a:spcBef>
            <a:spcAft>
              <a:spcPct val="35000"/>
            </a:spcAft>
            <a:buFont typeface="Arial" panose="020B0604020202020204" pitchFamily="34" charset="0"/>
            <a:buNone/>
          </a:pPr>
          <a:r>
            <a:rPr lang="en-IN" sz="1700" kern="1200" dirty="0">
              <a:latin typeface="Times New Roman" panose="02020603050405020304" pitchFamily="18" charset="0"/>
              <a:cs typeface="Times New Roman" panose="02020603050405020304" pitchFamily="18" charset="0"/>
            </a:rPr>
            <a:t>Associate chunks with </a:t>
          </a:r>
          <a:r>
            <a:rPr lang="en-IN" sz="1700" b="1" kern="1200" dirty="0">
              <a:latin typeface="Times New Roman" panose="02020603050405020304" pitchFamily="18" charset="0"/>
              <a:cs typeface="Times New Roman" panose="02020603050405020304" pitchFamily="18" charset="0"/>
            </a:rPr>
            <a:t>Court, Year &amp; Legal Section</a:t>
          </a:r>
          <a:r>
            <a:rPr lang="en-IN" sz="1700" kern="1200" dirty="0">
              <a:latin typeface="Times New Roman" panose="02020603050405020304" pitchFamily="18" charset="0"/>
              <a:cs typeface="Times New Roman" panose="02020603050405020304" pitchFamily="18" charset="0"/>
            </a:rPr>
            <a:t> </a:t>
          </a:r>
        </a:p>
        <a:p>
          <a:pPr marL="0" lvl="0" indent="0" algn="ctr" defTabSz="755650">
            <a:lnSpc>
              <a:spcPct val="90000"/>
            </a:lnSpc>
            <a:spcBef>
              <a:spcPct val="0"/>
            </a:spcBef>
            <a:spcAft>
              <a:spcPct val="35000"/>
            </a:spcAft>
            <a:buFont typeface="Arial" panose="020B0604020202020204" pitchFamily="34" charset="0"/>
            <a:buNone/>
          </a:pPr>
          <a:r>
            <a:rPr lang="en-IN" sz="1700" kern="1200" dirty="0">
              <a:latin typeface="Times New Roman" panose="02020603050405020304" pitchFamily="18" charset="0"/>
              <a:cs typeface="Times New Roman" panose="02020603050405020304" pitchFamily="18" charset="0"/>
            </a:rPr>
            <a:t>Support filtering during retrieval</a:t>
          </a:r>
        </a:p>
      </dsp:txBody>
      <dsp:txXfrm>
        <a:off x="5406633" y="2873170"/>
        <a:ext cx="3276747" cy="19660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C904A0-DE4E-4155-828F-0F15F04B820C}">
      <dsp:nvSpPr>
        <dsp:cNvPr id="0" name=""/>
        <dsp:cNvSpPr/>
      </dsp:nvSpPr>
      <dsp:spPr>
        <a:xfrm>
          <a:off x="3277" y="172341"/>
          <a:ext cx="3195225" cy="518400"/>
        </a:xfrm>
        <a:prstGeom prst="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kern="1200" dirty="0"/>
            <a:t>Approach</a:t>
          </a:r>
        </a:p>
      </dsp:txBody>
      <dsp:txXfrm>
        <a:off x="3277" y="172341"/>
        <a:ext cx="3195225" cy="518400"/>
      </dsp:txXfrm>
    </dsp:sp>
    <dsp:sp modelId="{513FEEED-930A-4D01-A8E2-79E86AF86B43}">
      <dsp:nvSpPr>
        <dsp:cNvPr id="0" name=""/>
        <dsp:cNvSpPr/>
      </dsp:nvSpPr>
      <dsp:spPr>
        <a:xfrm>
          <a:off x="3277" y="690741"/>
          <a:ext cx="3195225" cy="3897985"/>
        </a:xfrm>
        <a:prstGeom prst="rect">
          <a:avLst/>
        </a:prstGeom>
        <a:solidFill>
          <a:schemeClr val="accent2">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IN" sz="1800" b="1" kern="1200" dirty="0"/>
            <a:t>Hybrid Retrieval-Augmented Generation (RAG)</a:t>
          </a:r>
          <a:r>
            <a:rPr lang="en-IN" sz="1800" kern="1200" dirty="0"/>
            <a:t> </a:t>
          </a:r>
        </a:p>
        <a:p>
          <a:pPr marL="171450" lvl="1" indent="-171450" algn="l" defTabSz="800100">
            <a:lnSpc>
              <a:spcPct val="90000"/>
            </a:lnSpc>
            <a:spcBef>
              <a:spcPct val="0"/>
            </a:spcBef>
            <a:spcAft>
              <a:spcPct val="15000"/>
            </a:spcAft>
            <a:buFont typeface="Arial" panose="020B0604020202020204" pitchFamily="34" charset="0"/>
            <a:buChar char="•"/>
          </a:pPr>
          <a:r>
            <a:rPr lang="en-IN" sz="1800" kern="1200"/>
            <a:t>Legal-domain </a:t>
          </a:r>
          <a:r>
            <a:rPr lang="en-IN" sz="1800" b="1" kern="1200"/>
            <a:t>structural chunking</a:t>
          </a:r>
          <a:r>
            <a:rPr lang="en-IN" sz="1800" kern="1200"/>
            <a:t>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Dense + Sparse retrieval</a:t>
          </a:r>
          <a:r>
            <a:rPr lang="en-IN" sz="1800" kern="1200"/>
            <a:t> with fusion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Cross-encoder reranking</a:t>
          </a:r>
          <a:r>
            <a:rPr lang="en-IN" sz="1800" kern="1200"/>
            <a:t> </a:t>
          </a:r>
        </a:p>
        <a:p>
          <a:pPr marL="171450" lvl="1" indent="-171450" algn="l" defTabSz="800100">
            <a:lnSpc>
              <a:spcPct val="90000"/>
            </a:lnSpc>
            <a:spcBef>
              <a:spcPct val="0"/>
            </a:spcBef>
            <a:spcAft>
              <a:spcPct val="15000"/>
            </a:spcAft>
            <a:buFont typeface="Arial" panose="020B0604020202020204" pitchFamily="34" charset="0"/>
            <a:buChar char="•"/>
          </a:pPr>
          <a:r>
            <a:rPr lang="en-IN" sz="1800" kern="1200"/>
            <a:t>Holding extraction and </a:t>
          </a:r>
          <a:r>
            <a:rPr lang="en-IN" sz="1800" b="1" kern="1200"/>
            <a:t>Pro/Contra argument synthesis</a:t>
          </a:r>
          <a:r>
            <a:rPr lang="en-IN" sz="1800" kern="1200"/>
            <a:t> </a:t>
          </a:r>
        </a:p>
        <a:p>
          <a:pPr marL="171450" lvl="1" indent="-171450" algn="l" defTabSz="800100">
            <a:lnSpc>
              <a:spcPct val="90000"/>
            </a:lnSpc>
            <a:spcBef>
              <a:spcPct val="0"/>
            </a:spcBef>
            <a:spcAft>
              <a:spcPct val="15000"/>
            </a:spcAft>
            <a:buFont typeface="Arial" panose="020B0604020202020204" pitchFamily="34" charset="0"/>
            <a:buChar char="•"/>
          </a:pPr>
          <a:r>
            <a:rPr lang="en-IN" sz="1800" kern="1200" dirty="0"/>
            <a:t>Evidence-first </a:t>
          </a:r>
          <a:r>
            <a:rPr lang="en-IN" sz="1800" b="1" kern="1200" dirty="0"/>
            <a:t>citation verification</a:t>
          </a:r>
          <a:endParaRPr lang="en-IN" sz="1800" kern="1200" dirty="0"/>
        </a:p>
      </dsp:txBody>
      <dsp:txXfrm>
        <a:off x="3277" y="690741"/>
        <a:ext cx="3195225" cy="3897985"/>
      </dsp:txXfrm>
    </dsp:sp>
    <dsp:sp modelId="{4DD9260A-DF6C-4489-9250-1B488D49A380}">
      <dsp:nvSpPr>
        <dsp:cNvPr id="0" name=""/>
        <dsp:cNvSpPr/>
      </dsp:nvSpPr>
      <dsp:spPr>
        <a:xfrm>
          <a:off x="3645834" y="172341"/>
          <a:ext cx="3195225" cy="518400"/>
        </a:xfrm>
        <a:prstGeom prst="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kern="1200" dirty="0"/>
            <a:t>Algorithms</a:t>
          </a:r>
        </a:p>
      </dsp:txBody>
      <dsp:txXfrm>
        <a:off x="3645834" y="172341"/>
        <a:ext cx="3195225" cy="518400"/>
      </dsp:txXfrm>
    </dsp:sp>
    <dsp:sp modelId="{58C3EAD0-B7C8-4957-8ED8-B20434F04BF9}">
      <dsp:nvSpPr>
        <dsp:cNvPr id="0" name=""/>
        <dsp:cNvSpPr/>
      </dsp:nvSpPr>
      <dsp:spPr>
        <a:xfrm>
          <a:off x="3645834" y="690741"/>
          <a:ext cx="3195225" cy="3897985"/>
        </a:xfrm>
        <a:prstGeom prst="rect">
          <a:avLst/>
        </a:prstGeom>
        <a:solidFill>
          <a:schemeClr val="accent3">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IN" sz="1800" b="1" kern="1200" dirty="0"/>
            <a:t>Dense Retrieval:</a:t>
          </a:r>
          <a:r>
            <a:rPr lang="en-IN" sz="1800" kern="1200" dirty="0"/>
            <a:t> Sentence-Transformers / </a:t>
          </a:r>
          <a:r>
            <a:rPr lang="en-IN" sz="1800" kern="1200" dirty="0" err="1"/>
            <a:t>MiniLM</a:t>
          </a:r>
          <a:r>
            <a:rPr lang="en-IN" sz="1800" kern="1200" dirty="0"/>
            <a:t> / Nomic embeddings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Sparse Retrieval:</a:t>
          </a:r>
          <a:r>
            <a:rPr lang="en-IN" sz="1800" kern="1200"/>
            <a:t> BM25 with legal-term weighting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Fusion:</a:t>
          </a:r>
          <a:r>
            <a:rPr lang="en-IN" sz="1800" kern="1200"/>
            <a:t> Reciprocal Rank Fusion (</a:t>
          </a:r>
          <a:r>
            <a:rPr lang="en-IN" sz="1800" b="1" kern="1200"/>
            <a:t>RRF</a:t>
          </a:r>
          <a:r>
            <a:rPr lang="en-IN" sz="1800" kern="1200"/>
            <a:t>)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Reranking:</a:t>
          </a:r>
          <a:r>
            <a:rPr lang="en-IN" sz="1800" kern="1200"/>
            <a:t> Cross-Encoder + court-hierarchy weighting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Generation:</a:t>
          </a:r>
          <a:r>
            <a:rPr lang="en-IN" sz="1800" kern="1200"/>
            <a:t> Ratio Decidendi vs Obiter Dicta extraction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dirty="0"/>
            <a:t>Validation:</a:t>
          </a:r>
          <a:r>
            <a:rPr lang="en-IN" sz="1800" kern="1200" dirty="0"/>
            <a:t> Citation-to-chunk verification</a:t>
          </a:r>
        </a:p>
      </dsp:txBody>
      <dsp:txXfrm>
        <a:off x="3645834" y="690741"/>
        <a:ext cx="3195225" cy="3897985"/>
      </dsp:txXfrm>
    </dsp:sp>
    <dsp:sp modelId="{BF5ED462-ED40-43C0-90E0-4C209893455A}">
      <dsp:nvSpPr>
        <dsp:cNvPr id="0" name=""/>
        <dsp:cNvSpPr/>
      </dsp:nvSpPr>
      <dsp:spPr>
        <a:xfrm>
          <a:off x="7288392" y="172341"/>
          <a:ext cx="3195225" cy="518400"/>
        </a:xfrm>
        <a:prstGeom prst="rect">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kern="1200" dirty="0"/>
            <a:t>Tools / Technologies</a:t>
          </a:r>
        </a:p>
      </dsp:txBody>
      <dsp:txXfrm>
        <a:off x="7288392" y="172341"/>
        <a:ext cx="3195225" cy="518400"/>
      </dsp:txXfrm>
    </dsp:sp>
    <dsp:sp modelId="{74D15CF5-BCE1-4EF8-AF8D-388DF5BAF1AB}">
      <dsp:nvSpPr>
        <dsp:cNvPr id="0" name=""/>
        <dsp:cNvSpPr/>
      </dsp:nvSpPr>
      <dsp:spPr>
        <a:xfrm>
          <a:off x="7288392" y="690741"/>
          <a:ext cx="3195225" cy="3897985"/>
        </a:xfrm>
        <a:prstGeom prst="rect">
          <a:avLst/>
        </a:prstGeom>
        <a:solidFill>
          <a:schemeClr val="accent4">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GB" sz="1800" b="1" kern="1200" dirty="0"/>
            <a:t>Python</a:t>
          </a:r>
          <a:endParaRPr lang="en-IN" sz="1800" b="1" kern="1200" dirty="0"/>
        </a:p>
        <a:p>
          <a:pPr marL="171450" lvl="1" indent="-171450" algn="l" defTabSz="800100">
            <a:lnSpc>
              <a:spcPct val="90000"/>
            </a:lnSpc>
            <a:spcBef>
              <a:spcPct val="0"/>
            </a:spcBef>
            <a:spcAft>
              <a:spcPct val="15000"/>
            </a:spcAft>
            <a:buChar char="•"/>
          </a:pPr>
          <a:r>
            <a:rPr lang="en-IN" sz="1800" b="1" kern="1200" dirty="0" err="1"/>
            <a:t>Qdrant</a:t>
          </a:r>
          <a:r>
            <a:rPr lang="en-IN" sz="1800" kern="1200" dirty="0"/>
            <a:t> — vector indexing/retrieval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Ollama</a:t>
          </a:r>
          <a:r>
            <a:rPr lang="en-IN" sz="1800" kern="1200"/>
            <a:t> — local LLM inference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FastAPI</a:t>
          </a:r>
          <a:r>
            <a:rPr lang="en-IN" sz="1800" kern="1200"/>
            <a:t> — backend APIs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Streamlit</a:t>
          </a:r>
          <a:r>
            <a:rPr lang="en-IN" sz="1800" kern="1200"/>
            <a:t> — Legal Research Terminal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Sentence-Transformers</a:t>
          </a:r>
          <a:r>
            <a:rPr lang="en-IN" sz="1800" kern="1200"/>
            <a:t> — embeddings &amp; reranking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a:t>BM25</a:t>
          </a:r>
          <a:r>
            <a:rPr lang="en-IN" sz="1800" kern="1200"/>
            <a:t> — lexical retrieval </a:t>
          </a:r>
        </a:p>
        <a:p>
          <a:pPr marL="171450" lvl="1" indent="-171450" algn="l" defTabSz="800100">
            <a:lnSpc>
              <a:spcPct val="90000"/>
            </a:lnSpc>
            <a:spcBef>
              <a:spcPct val="0"/>
            </a:spcBef>
            <a:spcAft>
              <a:spcPct val="15000"/>
            </a:spcAft>
            <a:buFont typeface="Arial" panose="020B0604020202020204" pitchFamily="34" charset="0"/>
            <a:buChar char="•"/>
          </a:pPr>
          <a:r>
            <a:rPr lang="en-IN" sz="1800" b="1" kern="1200" dirty="0"/>
            <a:t>Microsoft Word / DOCX</a:t>
          </a:r>
          <a:r>
            <a:rPr lang="en-IN" sz="1800" kern="1200" dirty="0"/>
            <a:t> — chamber brief export </a:t>
          </a:r>
        </a:p>
        <a:p>
          <a:pPr marL="171450" lvl="1" indent="-171450" algn="l" defTabSz="800100">
            <a:lnSpc>
              <a:spcPct val="90000"/>
            </a:lnSpc>
            <a:spcBef>
              <a:spcPct val="0"/>
            </a:spcBef>
            <a:spcAft>
              <a:spcPct val="15000"/>
            </a:spcAft>
            <a:buNone/>
          </a:pPr>
          <a:endParaRPr lang="en-IN" sz="1800" kern="1200" dirty="0"/>
        </a:p>
      </dsp:txBody>
      <dsp:txXfrm>
        <a:off x="7288392" y="690741"/>
        <a:ext cx="3195225" cy="389798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DC2996-32A3-490B-B720-0D5447E23B6E}"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A280-470D-422C-BAC2-63E78DFCB490}" type="slidenum">
              <a:rPr lang="en-IN" smtClean="0"/>
              <a:t>‹#›</a:t>
            </a:fld>
            <a:endParaRPr lang="en-IN"/>
          </a:p>
        </p:txBody>
      </p:sp>
    </p:spTree>
    <p:extLst>
      <p:ext uri="{BB962C8B-B14F-4D97-AF65-F5344CB8AC3E}">
        <p14:creationId xmlns:p14="http://schemas.microsoft.com/office/powerpoint/2010/main" val="3983725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E45A280-470D-422C-BAC2-63E78DFCB490}" type="slidenum">
              <a:rPr lang="en-IN" smtClean="0"/>
              <a:t>6</a:t>
            </a:fld>
            <a:endParaRPr lang="en-IN"/>
          </a:p>
        </p:txBody>
      </p:sp>
    </p:spTree>
    <p:extLst>
      <p:ext uri="{BB962C8B-B14F-4D97-AF65-F5344CB8AC3E}">
        <p14:creationId xmlns:p14="http://schemas.microsoft.com/office/powerpoint/2010/main" val="724263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9093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a:t>
            </a:r>
            <a:endParaRPr lang="en-US" sz="3600" b="1" dirty="0">
              <a:solidFill>
                <a:schemeClr val="bg1"/>
              </a:solidFill>
              <a:cs typeface="Calibri" panose="020F0502020204030204" pitchFamily="34" charset="0"/>
            </a:endParaRPr>
          </a:p>
          <a:p>
            <a:pPr algn="ctr">
              <a:defRPr/>
            </a:pPr>
            <a:r>
              <a:rPr lang="en-US" sz="3600" b="1" dirty="0">
                <a:solidFill>
                  <a:schemeClr val="bg1"/>
                </a:solidFill>
                <a:ea typeface="Times New Roman" pitchFamily="34" charset="-122"/>
                <a:cs typeface="Times New Roman" pitchFamily="34" charset="-120"/>
              </a:rPr>
              <a:t>A Hybrid Retrieval-Augmented Framework for Precedent Discovery and Argument Synthesis over Indian Case Law</a:t>
            </a:r>
          </a:p>
          <a:p>
            <a:pPr algn="ctr">
              <a:defRPr/>
            </a:pPr>
            <a:r>
              <a:rPr lang="en-US" sz="3600" b="1" dirty="0" err="1">
                <a:solidFill>
                  <a:schemeClr val="bg1"/>
                </a:solidFill>
                <a:latin typeface="Times New Roman" pitchFamily="34" charset="0"/>
                <a:ea typeface="Times New Roman" pitchFamily="34" charset="-122"/>
                <a:cs typeface="Times New Roman" pitchFamily="34" charset="-120"/>
              </a:rPr>
              <a:t>PrecedentIQ</a:t>
            </a:r>
            <a:endParaRPr lang="en-US" sz="3600" dirty="0">
              <a:solidFill>
                <a:schemeClr val="bg1"/>
              </a:solidFill>
            </a:endParaRPr>
          </a:p>
          <a:p>
            <a:pPr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Presented By</a:t>
            </a:r>
          </a:p>
          <a:p>
            <a:pPr algn="ctr">
              <a:defRPr/>
            </a:pPr>
            <a:r>
              <a:rPr lang="en-US" sz="2400" b="1" dirty="0" err="1">
                <a:solidFill>
                  <a:prstClr val="white"/>
                </a:solidFill>
                <a:cs typeface="Calibri" panose="020F0502020204030204" pitchFamily="34" charset="0"/>
              </a:rPr>
              <a:t>Krithana</a:t>
            </a:r>
            <a:r>
              <a:rPr lang="en-US" sz="2400" b="1" dirty="0">
                <a:solidFill>
                  <a:prstClr val="white"/>
                </a:solidFill>
                <a:cs typeface="Calibri" panose="020F0502020204030204" pitchFamily="34" charset="0"/>
              </a:rPr>
              <a:t> A</a:t>
            </a:r>
          </a:p>
          <a:p>
            <a:pPr algn="ctr">
              <a:defRPr/>
            </a:pPr>
            <a:r>
              <a:rPr lang="en-US" sz="2400" b="1" dirty="0">
                <a:solidFill>
                  <a:prstClr val="white"/>
                </a:solidFill>
                <a:cs typeface="Calibri" panose="020F0502020204030204" pitchFamily="34" charset="0"/>
              </a:rPr>
              <a:t>VIT Vellore</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16" y="536381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sp>
        <p:nvSpPr>
          <p:cNvPr id="10" name="Rectangle 9">
            <a:extLst>
              <a:ext uri="{FF2B5EF4-FFF2-40B4-BE49-F238E27FC236}">
                <a16:creationId xmlns:a16="http://schemas.microsoft.com/office/drawing/2014/main" id="{3AAB143E-200F-E7B5-3F72-2292EF28BF3A}"/>
              </a:ext>
            </a:extLst>
          </p:cNvPr>
          <p:cNvSpPr/>
          <p:nvPr/>
        </p:nvSpPr>
        <p:spPr>
          <a:xfrm>
            <a:off x="148893" y="5841952"/>
            <a:ext cx="2072639" cy="9185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Image 13">
            <a:extLst>
              <a:ext uri="{FF2B5EF4-FFF2-40B4-BE49-F238E27FC236}">
                <a16:creationId xmlns:a16="http://schemas.microsoft.com/office/drawing/2014/main" id="{47C3C0A0-AC2F-25F0-4BA5-4214795F8614}"/>
              </a:ext>
            </a:extLst>
          </p:cNvPr>
          <p:cNvPicPr>
            <a:picLocks/>
          </p:cNvPicPr>
          <p:nvPr/>
        </p:nvPicPr>
        <p:blipFill>
          <a:blip r:embed="rId3" cstate="print"/>
          <a:stretch>
            <a:fillRect/>
          </a:stretch>
        </p:blipFill>
        <p:spPr>
          <a:xfrm>
            <a:off x="245907" y="5903157"/>
            <a:ext cx="1878609" cy="786275"/>
          </a:xfrm>
          <a:prstGeom prst="rect">
            <a:avLst/>
          </a:prstGeom>
        </p:spPr>
      </p:pic>
    </p:spTree>
    <p:extLst>
      <p:ext uri="{BB962C8B-B14F-4D97-AF65-F5344CB8AC3E}">
        <p14:creationId xmlns:p14="http://schemas.microsoft.com/office/powerpoint/2010/main" val="1277689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8032871" cy="4142989"/>
          </a:xfrm>
        </p:spPr>
        <p:txBody>
          <a:bodyPr wrap="square"/>
          <a:lstStyle/>
          <a:p>
            <a:pPr marL="256032" indent="-256032" algn="just">
              <a:lnSpc>
                <a:spcPct val="100000"/>
              </a:lnSpc>
              <a:spcAft>
                <a:spcPts val="1000"/>
              </a:spcAft>
              <a:buNone/>
            </a:pPr>
            <a:r>
              <a:rPr sz="1800" b="1" dirty="0">
                <a:solidFill>
                  <a:srgbClr val="13294B"/>
                </a:solidFill>
                <a:latin typeface="Calibri"/>
              </a:rPr>
              <a:t>• The problem: </a:t>
            </a:r>
            <a:r>
              <a:rPr sz="1800" b="0" dirty="0">
                <a:solidFill>
                  <a:srgbClr val="1A1A1A"/>
                </a:solidFill>
                <a:latin typeface="Calibri"/>
              </a:rPr>
              <a:t>Junior advocates and small law firms in India spend weeks manually searching thousands of Supreme Court and High Court judgments to locate relevant precedents — a slow, incomplete process.</a:t>
            </a:r>
            <a:endParaRPr lang="en-US" sz="2400" b="0" dirty="0">
              <a:solidFill>
                <a:srgbClr val="5583D1"/>
              </a:solidFill>
            </a:endParaRPr>
          </a:p>
          <a:p>
            <a:pPr marL="256032" indent="-256032" algn="just">
              <a:lnSpc>
                <a:spcPct val="100000"/>
              </a:lnSpc>
              <a:spcAft>
                <a:spcPts val="1000"/>
              </a:spcAft>
              <a:buNone/>
            </a:pPr>
            <a:r>
              <a:rPr sz="1800" b="1" dirty="0">
                <a:solidFill>
                  <a:srgbClr val="13294B"/>
                </a:solidFill>
                <a:latin typeface="Calibri"/>
              </a:rPr>
              <a:t>• The scale: </a:t>
            </a:r>
            <a:r>
              <a:rPr sz="1800" b="0" dirty="0">
                <a:solidFill>
                  <a:srgbClr val="1A1A1A"/>
                </a:solidFill>
                <a:latin typeface="Calibri"/>
              </a:rPr>
              <a:t>Indian courts carry over 5.4 crore pending cases (NJDG, 2025); senior lawyer research time costs ₹2,000–10,000 per hour, pricing thorough research out of reach for smaller practices.</a:t>
            </a:r>
          </a:p>
          <a:p>
            <a:pPr marL="256032" indent="-256032" algn="just">
              <a:lnSpc>
                <a:spcPct val="100000"/>
              </a:lnSpc>
              <a:spcAft>
                <a:spcPts val="1000"/>
              </a:spcAft>
              <a:buNone/>
            </a:pPr>
            <a:r>
              <a:rPr sz="1800" b="1" dirty="0">
                <a:solidFill>
                  <a:srgbClr val="13294B"/>
                </a:solidFill>
                <a:latin typeface="Calibri"/>
              </a:rPr>
              <a:t>• Beyond search: </a:t>
            </a:r>
            <a:r>
              <a:rPr sz="1800" b="0" dirty="0">
                <a:solidFill>
                  <a:srgbClr val="1A1A1A"/>
                </a:solidFill>
                <a:latin typeface="Calibri"/>
              </a:rPr>
              <a:t>Even after finding a precedent, an advocate must manually separate the binding ratio decidendi from non-binding obiter dicta, then hand-draft a pro/contra argument with citations.</a:t>
            </a:r>
          </a:p>
          <a:p>
            <a:pPr marL="256032" indent="-256032" algn="just">
              <a:lnSpc>
                <a:spcPct val="100000"/>
              </a:lnSpc>
              <a:spcAft>
                <a:spcPts val="1000"/>
              </a:spcAft>
              <a:buNone/>
            </a:pPr>
            <a:r>
              <a:rPr sz="1800" b="1" dirty="0">
                <a:solidFill>
                  <a:srgbClr val="13294B"/>
                </a:solidFill>
                <a:latin typeface="Calibri"/>
              </a:rPr>
              <a:t>•</a:t>
            </a:r>
            <a:r>
              <a:rPr sz="1800" dirty="0">
                <a:solidFill>
                  <a:srgbClr val="13294B"/>
                </a:solidFill>
                <a:latin typeface="Calibri"/>
              </a:rPr>
              <a:t> </a:t>
            </a:r>
            <a:r>
              <a:rPr sz="1800" b="1" dirty="0">
                <a:solidFill>
                  <a:srgbClr val="13294B"/>
                </a:solidFill>
                <a:latin typeface="Calibri"/>
              </a:rPr>
              <a:t>Our approach: </a:t>
            </a:r>
            <a:r>
              <a:rPr sz="1800" b="0" dirty="0" err="1">
                <a:solidFill>
                  <a:srgbClr val="1A1A1A"/>
                </a:solidFill>
                <a:latin typeface="Calibri"/>
              </a:rPr>
              <a:t>PrecedentIQ</a:t>
            </a:r>
            <a:r>
              <a:rPr sz="1800" b="0" dirty="0">
                <a:solidFill>
                  <a:srgbClr val="1A1A1A"/>
                </a:solidFill>
                <a:latin typeface="Calibri"/>
              </a:rPr>
              <a:t> is a Retrieval-Augmented Generation (RAG) framework that automates this entire chain — retrieval, holding extraction, and citation-linked argument synthesis — grounded strictly in real Indian case law, not open-ended LLM generation.</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pic>
        <p:nvPicPr>
          <p:cNvPr id="7" name="Picture 6" descr="The image depicts a professional, likely a lawyer, engrossed in work, using a laptop to manage and search through extensive legal documents, highlighting the struggle against information overload, and the transformative impact of an AI tool that enhances their research capabilities.&#10;&#10;AI-generated content may be incorrect.">
            <a:extLst>
              <a:ext uri="{FF2B5EF4-FFF2-40B4-BE49-F238E27FC236}">
                <a16:creationId xmlns:a16="http://schemas.microsoft.com/office/drawing/2014/main" id="{BDE2A9B0-0C11-A25D-ACD2-C7A9197CE289}"/>
              </a:ext>
            </a:extLst>
          </p:cNvPr>
          <p:cNvPicPr>
            <a:picLocks noChangeAspect="1"/>
          </p:cNvPicPr>
          <p:nvPr/>
        </p:nvPicPr>
        <p:blipFill>
          <a:blip r:embed="rId2">
            <a:extLst>
              <a:ext uri="{28A0092B-C50C-407E-A947-70E740481C1C}">
                <a14:useLocalDpi xmlns:a14="http://schemas.microsoft.com/office/drawing/2010/main" val="0"/>
              </a:ext>
            </a:extLst>
          </a:blip>
          <a:srcRect l="43747" t="6419" r="1293" b="9383"/>
          <a:stretch>
            <a:fillRect/>
          </a:stretch>
        </p:blipFill>
        <p:spPr>
          <a:xfrm>
            <a:off x="8439269" y="884768"/>
            <a:ext cx="3496735" cy="508846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456036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5456749" y="1357505"/>
            <a:ext cx="6479255" cy="4696149"/>
          </a:xfrm>
        </p:spPr>
        <p:txBody>
          <a:bodyPr wrap="square"/>
          <a:lstStyle/>
          <a:p>
            <a:pPr marL="256032" indent="-256032" algn="just">
              <a:lnSpc>
                <a:spcPct val="100000"/>
              </a:lnSpc>
              <a:spcAft>
                <a:spcPts val="1000"/>
              </a:spcAft>
              <a:buNone/>
            </a:pPr>
            <a:r>
              <a:rPr sz="1600" b="1" dirty="0">
                <a:solidFill>
                  <a:srgbClr val="13294B"/>
                </a:solidFill>
                <a:latin typeface="Calibri"/>
              </a:rPr>
              <a:t>•  </a:t>
            </a:r>
            <a:r>
              <a:rPr lang="en-US" sz="1600" dirty="0">
                <a:solidFill>
                  <a:srgbClr val="13294B"/>
                </a:solidFill>
                <a:latin typeface="Calibri"/>
              </a:rPr>
              <a:t>O1: </a:t>
            </a:r>
            <a:r>
              <a:rPr lang="en-US" sz="1600" b="0" dirty="0">
                <a:solidFill>
                  <a:srgbClr val="1A1A1A"/>
                </a:solidFill>
                <a:latin typeface="Calibri"/>
              </a:rPr>
              <a:t>Build a legal-domain hybrid retrieval pipeline (dense + sparse, RRF-fused) achieving measurable nDCG@10 / MRR on a held-out precedent-relevance query set.</a:t>
            </a:r>
            <a:endParaRPr lang="en-US" sz="2000" b="0" dirty="0">
              <a:solidFill>
                <a:srgbClr val="5583D1"/>
              </a:solidFill>
            </a:endParaRPr>
          </a:p>
          <a:p>
            <a:pPr marL="256032" indent="-256032" algn="just">
              <a:lnSpc>
                <a:spcPct val="100000"/>
              </a:lnSpc>
              <a:spcAft>
                <a:spcPts val="1000"/>
              </a:spcAft>
              <a:buNone/>
            </a:pPr>
            <a:r>
              <a:rPr lang="en-US" sz="1600" dirty="0">
                <a:solidFill>
                  <a:srgbClr val="13294B"/>
                </a:solidFill>
                <a:latin typeface="Calibri"/>
              </a:rPr>
              <a:t>•  </a:t>
            </a:r>
            <a:r>
              <a:rPr sz="1600" b="1" dirty="0">
                <a:solidFill>
                  <a:srgbClr val="13294B"/>
                </a:solidFill>
                <a:latin typeface="Calibri"/>
              </a:rPr>
              <a:t>O2: </a:t>
            </a:r>
            <a:r>
              <a:rPr sz="1600" b="0" dirty="0">
                <a:solidFill>
                  <a:srgbClr val="1A1A1A"/>
                </a:solidFill>
                <a:latin typeface="Calibri"/>
              </a:rPr>
              <a:t>Implement structural chunking (Facts / Issues / Ratio / Obiter / Order) and an LLM-based holding </a:t>
            </a:r>
            <a:r>
              <a:rPr sz="1600" b="0" dirty="0" err="1">
                <a:solidFill>
                  <a:srgbClr val="1A1A1A"/>
                </a:solidFill>
                <a:latin typeface="Calibri"/>
              </a:rPr>
              <a:t>summariser</a:t>
            </a:r>
            <a:r>
              <a:rPr sz="1600" b="0" dirty="0">
                <a:solidFill>
                  <a:srgbClr val="1A1A1A"/>
                </a:solidFill>
                <a:latin typeface="Calibri"/>
              </a:rPr>
              <a:t>, validated against gold-annotated judgments (IL-TUR).</a:t>
            </a:r>
          </a:p>
          <a:p>
            <a:pPr marL="256032" indent="-256032" algn="just">
              <a:lnSpc>
                <a:spcPct val="100000"/>
              </a:lnSpc>
              <a:spcAft>
                <a:spcPts val="1000"/>
              </a:spcAft>
              <a:buNone/>
            </a:pPr>
            <a:r>
              <a:rPr sz="1600" b="1" dirty="0">
                <a:solidFill>
                  <a:srgbClr val="13294B"/>
                </a:solidFill>
                <a:latin typeface="Calibri"/>
              </a:rPr>
              <a:t>•  O3: </a:t>
            </a:r>
            <a:r>
              <a:rPr sz="1600" b="0" dirty="0">
                <a:solidFill>
                  <a:srgbClr val="1A1A1A"/>
                </a:solidFill>
                <a:latin typeface="Calibri"/>
              </a:rPr>
              <a:t>Deliver a citation-linked pro/contra argument-outline drafter where every generated claim traces back to a retrieved source judgment.</a:t>
            </a:r>
          </a:p>
          <a:p>
            <a:pPr marL="256032" indent="-256032" algn="just">
              <a:lnSpc>
                <a:spcPct val="100000"/>
              </a:lnSpc>
              <a:spcAft>
                <a:spcPts val="1000"/>
              </a:spcAft>
              <a:buNone/>
            </a:pPr>
            <a:r>
              <a:rPr sz="1600" b="1" dirty="0">
                <a:solidFill>
                  <a:srgbClr val="13294B"/>
                </a:solidFill>
                <a:latin typeface="Calibri"/>
              </a:rPr>
              <a:t>•  O4: </a:t>
            </a:r>
            <a:r>
              <a:rPr sz="1600" b="0" dirty="0">
                <a:solidFill>
                  <a:srgbClr val="1A1A1A"/>
                </a:solidFill>
                <a:latin typeface="Calibri"/>
              </a:rPr>
              <a:t>Support session-specific retrieval grounded in an advocate's own uploaded case file, alongside the corpus-wide index.</a:t>
            </a:r>
          </a:p>
          <a:p>
            <a:pPr marL="256032" indent="-256032" algn="just">
              <a:lnSpc>
                <a:spcPct val="100000"/>
              </a:lnSpc>
              <a:spcAft>
                <a:spcPts val="1000"/>
              </a:spcAft>
              <a:buNone/>
            </a:pPr>
            <a:r>
              <a:rPr sz="1600" b="1" dirty="0">
                <a:solidFill>
                  <a:srgbClr val="13294B"/>
                </a:solidFill>
                <a:latin typeface="Calibri"/>
              </a:rPr>
              <a:t>•  O5: </a:t>
            </a:r>
            <a:r>
              <a:rPr sz="1600" b="0" dirty="0">
                <a:solidFill>
                  <a:srgbClr val="1A1A1A"/>
                </a:solidFill>
                <a:latin typeface="Calibri"/>
              </a:rPr>
              <a:t>Statistically validate retrieval quality and holding-extraction accuracy using nDCG@10, MRR, bootstrap confidence intervals, and ROUGE-L against gold data.</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Objectives</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grpSp>
        <p:nvGrpSpPr>
          <p:cNvPr id="11" name="Group 10">
            <a:extLst>
              <a:ext uri="{FF2B5EF4-FFF2-40B4-BE49-F238E27FC236}">
                <a16:creationId xmlns:a16="http://schemas.microsoft.com/office/drawing/2014/main" id="{0C8484FE-E691-6B48-6AE5-A668EDA9B26F}"/>
              </a:ext>
            </a:extLst>
          </p:cNvPr>
          <p:cNvGrpSpPr/>
          <p:nvPr/>
        </p:nvGrpSpPr>
        <p:grpSpPr>
          <a:xfrm>
            <a:off x="221274" y="1774421"/>
            <a:ext cx="5200753" cy="3288644"/>
            <a:chOff x="221274" y="1774421"/>
            <a:chExt cx="5200753" cy="3288644"/>
          </a:xfrm>
        </p:grpSpPr>
        <p:pic>
          <p:nvPicPr>
            <p:cNvPr id="7" name="Picture 6" descr="The diagram illustrates a six-step process for hybrid retrieval, starting with a pipeline, followed by LO, nDCG@10, and MRR metrics, then moving on to fact verification, issues analysis, and ratio validation. The final steps involve chunking, order validation, session grounding, and argument synthesis, leading to the project objectives and a university branding tag.&#10;&#10;AI-generated content may be incorrect.">
              <a:extLst>
                <a:ext uri="{FF2B5EF4-FFF2-40B4-BE49-F238E27FC236}">
                  <a16:creationId xmlns:a16="http://schemas.microsoft.com/office/drawing/2014/main" id="{A907313A-528D-530C-B89E-FC55AA932A99}"/>
                </a:ext>
              </a:extLst>
            </p:cNvPr>
            <p:cNvPicPr>
              <a:picLocks noChangeAspect="1"/>
            </p:cNvPicPr>
            <p:nvPr/>
          </p:nvPicPr>
          <p:blipFill>
            <a:blip r:embed="rId2">
              <a:extLst>
                <a:ext uri="{28A0092B-C50C-407E-A947-70E740481C1C}">
                  <a14:useLocalDpi xmlns:a14="http://schemas.microsoft.com/office/drawing/2010/main" val="0"/>
                </a:ext>
              </a:extLst>
            </a:blip>
            <a:srcRect l="8911" t="5309" r="6063" b="-39"/>
            <a:stretch>
              <a:fillRect/>
            </a:stretch>
          </p:blipFill>
          <p:spPr>
            <a:xfrm>
              <a:off x="255996" y="1774421"/>
              <a:ext cx="5166031" cy="3212446"/>
            </a:xfrm>
            <a:prstGeom prst="rect">
              <a:avLst/>
            </a:prstGeom>
          </p:spPr>
        </p:pic>
        <p:sp>
          <p:nvSpPr>
            <p:cNvPr id="8" name="Rectangle 7">
              <a:extLst>
                <a:ext uri="{FF2B5EF4-FFF2-40B4-BE49-F238E27FC236}">
                  <a16:creationId xmlns:a16="http://schemas.microsoft.com/office/drawing/2014/main" id="{926B01F6-45D3-E265-507F-291FC50BF7F5}"/>
                </a:ext>
              </a:extLst>
            </p:cNvPr>
            <p:cNvSpPr/>
            <p:nvPr/>
          </p:nvSpPr>
          <p:spPr>
            <a:xfrm>
              <a:off x="221274" y="4588933"/>
              <a:ext cx="1048726" cy="3979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85E61474-0598-287C-CB18-4E1E19B305D2}"/>
                </a:ext>
              </a:extLst>
            </p:cNvPr>
            <p:cNvSpPr/>
            <p:nvPr/>
          </p:nvSpPr>
          <p:spPr>
            <a:xfrm>
              <a:off x="4373301" y="4665134"/>
              <a:ext cx="1048726" cy="3979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004378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5995" y="1271219"/>
            <a:ext cx="11936005" cy="444565"/>
          </a:xfrm>
        </p:spPr>
        <p:txBody>
          <a:bodyPr wrap="square" lIns="73152" rIns="73152">
            <a:noAutofit/>
          </a:bodyPr>
          <a:lstStyle/>
          <a:p>
            <a:pPr lvl="0">
              <a:lnSpc>
                <a:spcPct val="150000"/>
              </a:lnSpc>
            </a:pPr>
            <a:r>
              <a:rPr lang="en-IN" sz="2400" dirty="0"/>
              <a:t>Module 1: Data Ingestion, Legal-Domain Chunking &amp; Embedding/Indexing </a:t>
            </a:r>
          </a:p>
          <a:p>
            <a:pPr lvl="0">
              <a:lnSpc>
                <a:spcPct val="150000"/>
              </a:lnSpc>
            </a:pPr>
            <a:r>
              <a:rPr lang="en-IN" sz="2400" dirty="0"/>
              <a:t>Module 2: Hybrid Retrieval Engine (Core RAG Component) </a:t>
            </a:r>
          </a:p>
          <a:p>
            <a:pPr lvl="0">
              <a:lnSpc>
                <a:spcPct val="150000"/>
              </a:lnSpc>
            </a:pPr>
            <a:r>
              <a:rPr lang="en-IN" sz="2400" dirty="0"/>
              <a:t>Module 3: Generation Layer — Holding Extraction &amp; Argument Synthesis </a:t>
            </a:r>
          </a:p>
          <a:p>
            <a:pPr lvl="0">
              <a:lnSpc>
                <a:spcPct val="150000"/>
              </a:lnSpc>
            </a:pPr>
            <a:r>
              <a:rPr lang="en-IN" sz="2400" dirty="0"/>
              <a:t>Module 4: Evaluation &amp; Statistical Validation </a:t>
            </a:r>
          </a:p>
          <a:p>
            <a:pPr lvl="0">
              <a:lnSpc>
                <a:spcPct val="150000"/>
              </a:lnSpc>
            </a:pPr>
            <a:r>
              <a:rPr lang="en-IN" sz="2400" dirty="0"/>
              <a:t>Module 5: Application / Delivery Layer: </a:t>
            </a:r>
            <a:r>
              <a:rPr lang="en-IN" sz="2400" dirty="0" err="1"/>
              <a:t>FastAPI</a:t>
            </a:r>
            <a:r>
              <a:rPr lang="en-IN" sz="2400" dirty="0"/>
              <a:t> Backend, </a:t>
            </a:r>
            <a:r>
              <a:rPr lang="en-IN" sz="2400" dirty="0" err="1"/>
              <a:t>Streamlit</a:t>
            </a:r>
            <a:r>
              <a:rPr lang="en-IN" sz="2400" dirty="0"/>
              <a:t> Legal Research Terminal &amp; Word Export</a:t>
            </a:r>
          </a:p>
          <a:p>
            <a:pPr marL="0" indent="0">
              <a:lnSpc>
                <a:spcPct val="150000"/>
              </a:lnSpc>
              <a:buNone/>
              <a:defRPr sz="1800" b="0">
                <a:latin typeface="Calibri"/>
              </a:defRPr>
            </a:pPr>
            <a:endParaRPr sz="2400" dirty="0"/>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lIns="73152" rIns="73152" rtlCol="0">
            <a:spAutoFit/>
          </a:bodyPr>
          <a:lstStyle/>
          <a:p>
            <a:pPr algn="r">
              <a:defRPr sz="1800" b="1">
                <a:latin typeface="Calibri"/>
              </a:defRPr>
            </a:pPr>
            <a:r>
              <a:t>PrecedentIQ</a:t>
            </a:r>
          </a:p>
        </p:txBody>
      </p:sp>
      <p:sp>
        <p:nvSpPr>
          <p:cNvPr id="7" name="TextBox 6">
            <a:extLst>
              <a:ext uri="{FF2B5EF4-FFF2-40B4-BE49-F238E27FC236}">
                <a16:creationId xmlns:a16="http://schemas.microsoft.com/office/drawing/2014/main" id="{14997296-0B68-DCCF-15F5-73C62E79C2A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System 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8144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21274" y="1880968"/>
            <a:ext cx="6476706" cy="1730906"/>
          </a:xfrm>
        </p:spPr>
        <p:txBody>
          <a:bodyPr/>
          <a:lstStyle/>
          <a:p>
            <a:pPr marL="0" indent="0">
              <a:buNone/>
            </a:pPr>
            <a:r>
              <a:rPr lang="en-IN" dirty="0"/>
              <a:t>Data Ingestion &amp; Chunking</a:t>
            </a:r>
            <a:endParaRPr lang="en-US" dirty="0">
              <a:solidFill>
                <a:srgbClr val="5583D1"/>
              </a:solidFill>
              <a:latin typeface="+mn-lt"/>
            </a:endParaRPr>
          </a:p>
          <a:p>
            <a:pPr lvl="0"/>
            <a:r>
              <a:rPr lang="en-IN" sz="2400" b="0" dirty="0">
                <a:solidFill>
                  <a:schemeClr val="tx1"/>
                </a:solidFill>
                <a:highlight>
                  <a:srgbClr val="FFFFFF"/>
                </a:highlight>
              </a:rPr>
              <a:t>Process SC &amp; HC judgments. </a:t>
            </a:r>
          </a:p>
          <a:p>
            <a:pPr lvl="0"/>
            <a:r>
              <a:rPr lang="en-IN" sz="2400" b="0" dirty="0">
                <a:solidFill>
                  <a:schemeClr val="tx1"/>
                </a:solidFill>
                <a:highlight>
                  <a:srgbClr val="FFFFFF"/>
                </a:highlight>
              </a:rPr>
              <a:t>Segment into Facts, Issues, Ratio, Obiter and Order. </a:t>
            </a:r>
          </a:p>
          <a:p>
            <a:pPr lvl="0"/>
            <a:r>
              <a:rPr lang="en-IN" sz="2400" b="0" dirty="0">
                <a:solidFill>
                  <a:schemeClr val="tx1"/>
                </a:solidFill>
                <a:highlight>
                  <a:srgbClr val="FFFFFF"/>
                </a:highlight>
              </a:rPr>
              <a:t>Preserve legal-semantic boundaries.</a:t>
            </a:r>
          </a:p>
          <a:p>
            <a:pPr marL="0" lvl="0" indent="0">
              <a:buNone/>
            </a:pPr>
            <a:endParaRPr lang="en-US" sz="2400" b="0" dirty="0">
              <a:solidFill>
                <a:srgbClr val="242424"/>
              </a:solidFill>
              <a:latin typeface="source-serif-pro"/>
            </a:endParaRPr>
          </a:p>
          <a:p>
            <a:pPr marL="0" indent="0">
              <a:lnSpc>
                <a:spcPct val="150000"/>
              </a:lnSpc>
              <a:buNone/>
            </a:pPr>
            <a:endParaRPr lang="en-US" sz="2400" b="0" i="0" dirty="0">
              <a:solidFill>
                <a:srgbClr val="242424"/>
              </a:solidFill>
              <a:effectLst/>
              <a:highlight>
                <a:srgbClr val="FFFFFF"/>
              </a:highlight>
              <a:latin typeface="source-serif-pro"/>
            </a:endParaRPr>
          </a:p>
          <a:p>
            <a:pPr lvl="1"/>
            <a:endParaRPr lang="en-US"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1200329"/>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1: Data Ingestion, Legal-Domain Chunking &amp; Embedding/Indexing</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55996" y="1733487"/>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 Placeholder 1">
            <a:extLst>
              <a:ext uri="{FF2B5EF4-FFF2-40B4-BE49-F238E27FC236}">
                <a16:creationId xmlns:a16="http://schemas.microsoft.com/office/drawing/2014/main" id="{69D68D3D-D041-5688-5E2D-31020053F4EC}"/>
              </a:ext>
            </a:extLst>
          </p:cNvPr>
          <p:cNvSpPr txBox="1">
            <a:spLocks/>
          </p:cNvSpPr>
          <p:nvPr/>
        </p:nvSpPr>
        <p:spPr>
          <a:xfrm>
            <a:off x="255996" y="4057383"/>
            <a:ext cx="10624338" cy="444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Embedding &amp; Indexing</a:t>
            </a:r>
            <a:endParaRPr lang="en-GB" dirty="0">
              <a:solidFill>
                <a:srgbClr val="5583D1"/>
              </a:solidFill>
              <a:latin typeface="+mn-lt"/>
            </a:endParaRPr>
          </a:p>
          <a:p>
            <a:pPr lvl="0"/>
            <a:r>
              <a:rPr lang="en-IN" sz="2400" b="0" dirty="0">
                <a:solidFill>
                  <a:schemeClr val="tx1"/>
                </a:solidFill>
                <a:highlight>
                  <a:srgbClr val="FFFFFF"/>
                </a:highlight>
              </a:rPr>
              <a:t>Generate dense legal embeddings. </a:t>
            </a:r>
          </a:p>
          <a:p>
            <a:pPr lvl="0"/>
            <a:r>
              <a:rPr lang="en-IN" sz="2400" b="0" dirty="0">
                <a:solidFill>
                  <a:schemeClr val="tx1"/>
                </a:solidFill>
                <a:highlight>
                  <a:srgbClr val="FFFFFF"/>
                </a:highlight>
              </a:rPr>
              <a:t>Create sparse lexical representations. </a:t>
            </a:r>
          </a:p>
          <a:p>
            <a:pPr lvl="0"/>
            <a:r>
              <a:rPr lang="en-IN" sz="2400" b="0" dirty="0">
                <a:solidFill>
                  <a:schemeClr val="tx1"/>
                </a:solidFill>
                <a:highlight>
                  <a:srgbClr val="FFFFFF"/>
                </a:highlight>
              </a:rPr>
              <a:t>Index vectors and metadata for retrieval.</a:t>
            </a:r>
          </a:p>
          <a:p>
            <a:endParaRPr lang="en-GB" sz="2400" b="0" dirty="0">
              <a:solidFill>
                <a:srgbClr val="242424"/>
              </a:solidFill>
              <a:latin typeface="source-serif-pro"/>
            </a:endParaRPr>
          </a:p>
          <a:p>
            <a:pPr marL="0" indent="0">
              <a:lnSpc>
                <a:spcPct val="150000"/>
              </a:lnSpc>
              <a:buFont typeface="Arial" panose="020B0604020202020204" pitchFamily="34" charset="0"/>
              <a:buNone/>
            </a:pPr>
            <a:endParaRPr lang="en-GB" sz="2400" b="0" dirty="0">
              <a:solidFill>
                <a:srgbClr val="242424"/>
              </a:solidFill>
              <a:highlight>
                <a:srgbClr val="FFFFFF"/>
              </a:highlight>
              <a:latin typeface="source-serif-pro"/>
            </a:endParaRPr>
          </a:p>
          <a:p>
            <a:pPr lvl="1"/>
            <a:endParaRPr lang="en-GB" dirty="0">
              <a:solidFill>
                <a:srgbClr val="1C3898"/>
              </a:solidFill>
            </a:endParaRPr>
          </a:p>
        </p:txBody>
      </p:sp>
      <p:pic>
        <p:nvPicPr>
          <p:cNvPr id="11" name="Picture 10">
            <a:extLst>
              <a:ext uri="{FF2B5EF4-FFF2-40B4-BE49-F238E27FC236}">
                <a16:creationId xmlns:a16="http://schemas.microsoft.com/office/drawing/2014/main" id="{C071C34E-2E82-19CA-1FFE-05F4400B183A}"/>
              </a:ext>
            </a:extLst>
          </p:cNvPr>
          <p:cNvPicPr>
            <a:picLocks noChangeAspect="1"/>
          </p:cNvPicPr>
          <p:nvPr/>
        </p:nvPicPr>
        <p:blipFill>
          <a:blip r:embed="rId2">
            <a:extLst>
              <a:ext uri="{28A0092B-C50C-407E-A947-70E740481C1C}">
                <a14:useLocalDpi xmlns:a14="http://schemas.microsoft.com/office/drawing/2010/main" val="0"/>
              </a:ext>
            </a:extLst>
          </a:blip>
          <a:srcRect l="519" t="10000" r="66785" b="66945"/>
          <a:stretch>
            <a:fillRect/>
          </a:stretch>
        </p:blipFill>
        <p:spPr>
          <a:xfrm>
            <a:off x="6093893" y="2148383"/>
            <a:ext cx="5801250" cy="3223710"/>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12A70B50-5F2F-3B5C-9B18-0DB47B325093}"/>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76E48-18A5-B146-40BF-2CFDE21247F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CEC8461-C65D-2D7C-C582-58CB76B2F529}"/>
              </a:ext>
            </a:extLst>
          </p:cNvPr>
          <p:cNvSpPr>
            <a:spLocks noGrp="1"/>
          </p:cNvSpPr>
          <p:nvPr>
            <p:ph type="body" sz="quarter" idx="13"/>
          </p:nvPr>
        </p:nvSpPr>
        <p:spPr>
          <a:xfrm>
            <a:off x="221274" y="1880968"/>
            <a:ext cx="10624338" cy="444565"/>
          </a:xfrm>
        </p:spPr>
        <p:txBody>
          <a:bodyPr/>
          <a:lstStyle/>
          <a:p>
            <a:pPr marL="0" indent="0">
              <a:buNone/>
            </a:pPr>
            <a:r>
              <a:rPr lang="en-IN" dirty="0"/>
              <a:t>Hybrid Retrieval</a:t>
            </a:r>
            <a:endParaRPr lang="en-US" dirty="0">
              <a:solidFill>
                <a:srgbClr val="5583D1"/>
              </a:solidFill>
              <a:latin typeface="+mn-lt"/>
            </a:endParaRPr>
          </a:p>
          <a:p>
            <a:pPr lvl="0"/>
            <a:r>
              <a:rPr lang="en-IN" sz="2400" b="0" dirty="0">
                <a:solidFill>
                  <a:schemeClr val="tx1"/>
                </a:solidFill>
              </a:rPr>
              <a:t>Dense semantic retrieval. </a:t>
            </a:r>
          </a:p>
          <a:p>
            <a:pPr lvl="0"/>
            <a:r>
              <a:rPr lang="en-IN" sz="2400" b="0" dirty="0">
                <a:solidFill>
                  <a:schemeClr val="tx1"/>
                </a:solidFill>
              </a:rPr>
              <a:t>BM25 sparse retrieval. </a:t>
            </a:r>
          </a:p>
          <a:p>
            <a:pPr lvl="0"/>
            <a:r>
              <a:rPr lang="en-IN" sz="2400" b="0" dirty="0">
                <a:solidFill>
                  <a:schemeClr val="tx1"/>
                </a:solidFill>
              </a:rPr>
              <a:t>Legal term and citation normalization.</a:t>
            </a:r>
            <a:endParaRPr lang="en-IN" sz="2400" dirty="0"/>
          </a:p>
          <a:p>
            <a:pPr marL="0" lvl="0" indent="0">
              <a:buNone/>
            </a:pPr>
            <a:endParaRPr lang="en-US" sz="2400" b="0" dirty="0">
              <a:solidFill>
                <a:srgbClr val="242424"/>
              </a:solidFill>
              <a:latin typeface="source-serif-pro"/>
            </a:endParaRPr>
          </a:p>
          <a:p>
            <a:pPr marL="0" indent="0">
              <a:lnSpc>
                <a:spcPct val="150000"/>
              </a:lnSpc>
              <a:buNone/>
            </a:pPr>
            <a:endParaRPr lang="en-US" sz="2400" b="0" i="0" dirty="0">
              <a:solidFill>
                <a:srgbClr val="242424"/>
              </a:solidFill>
              <a:effectLst/>
              <a:highlight>
                <a:srgbClr val="FFFFFF"/>
              </a:highlight>
              <a:latin typeface="source-serif-pro"/>
            </a:endParaRPr>
          </a:p>
          <a:p>
            <a:pPr lvl="1"/>
            <a:endParaRPr lang="en-US" dirty="0">
              <a:solidFill>
                <a:srgbClr val="1C3898"/>
              </a:solidFill>
            </a:endParaRPr>
          </a:p>
        </p:txBody>
      </p:sp>
      <p:sp>
        <p:nvSpPr>
          <p:cNvPr id="3" name="TextBox 2">
            <a:extLst>
              <a:ext uri="{FF2B5EF4-FFF2-40B4-BE49-F238E27FC236}">
                <a16:creationId xmlns:a16="http://schemas.microsoft.com/office/drawing/2014/main" id="{BF305A9B-B94C-C1E6-A5BC-FE92A18E2C11}"/>
              </a:ext>
            </a:extLst>
          </p:cNvPr>
          <p:cNvSpPr txBox="1"/>
          <p:nvPr/>
        </p:nvSpPr>
        <p:spPr>
          <a:xfrm>
            <a:off x="255996" y="502545"/>
            <a:ext cx="10624338" cy="1200329"/>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a:t>
            </a:r>
            <a:r>
              <a:rPr lang="en-IN" sz="3600" b="1" dirty="0">
                <a:solidFill>
                  <a:srgbClr val="1F4E79"/>
                </a:solidFill>
              </a:rPr>
              <a:t>2: Hybrid Retrieval Engine (Core RAG Component)</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8F2F0099-08E1-04DA-8A24-836A3E2BB6BD}"/>
              </a:ext>
            </a:extLst>
          </p:cNvPr>
          <p:cNvCxnSpPr>
            <a:cxnSpLocks/>
          </p:cNvCxnSpPr>
          <p:nvPr/>
        </p:nvCxnSpPr>
        <p:spPr>
          <a:xfrm>
            <a:off x="255996" y="1733487"/>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 Placeholder 1">
            <a:extLst>
              <a:ext uri="{FF2B5EF4-FFF2-40B4-BE49-F238E27FC236}">
                <a16:creationId xmlns:a16="http://schemas.microsoft.com/office/drawing/2014/main" id="{524156A0-BBCD-5813-D55A-882C886C3734}"/>
              </a:ext>
            </a:extLst>
          </p:cNvPr>
          <p:cNvSpPr txBox="1">
            <a:spLocks/>
          </p:cNvSpPr>
          <p:nvPr/>
        </p:nvSpPr>
        <p:spPr>
          <a:xfrm>
            <a:off x="221274" y="3876682"/>
            <a:ext cx="10624338" cy="4445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Fusion &amp; Reranking</a:t>
            </a:r>
            <a:endParaRPr lang="en-GB" dirty="0">
              <a:solidFill>
                <a:srgbClr val="5583D1"/>
              </a:solidFill>
              <a:latin typeface="+mn-lt"/>
            </a:endParaRPr>
          </a:p>
          <a:p>
            <a:pPr lvl="0"/>
            <a:r>
              <a:rPr lang="en-IN" sz="2400" b="0" dirty="0">
                <a:solidFill>
                  <a:schemeClr val="tx1"/>
                </a:solidFill>
                <a:latin typeface="Calibri" panose="020F0502020204030204" pitchFamily="34" charset="0"/>
                <a:ea typeface="Calibri" panose="020F0502020204030204" pitchFamily="34" charset="0"/>
              </a:rPr>
              <a:t>Reciprocal Rank Fusion (RRF). </a:t>
            </a:r>
          </a:p>
          <a:p>
            <a:pPr lvl="0"/>
            <a:r>
              <a:rPr lang="en-IN" sz="2400" b="0" dirty="0">
                <a:solidFill>
                  <a:schemeClr val="tx1"/>
                </a:solidFill>
                <a:latin typeface="Calibri" panose="020F0502020204030204" pitchFamily="34" charset="0"/>
                <a:ea typeface="Calibri" panose="020F0502020204030204" pitchFamily="34" charset="0"/>
              </a:rPr>
              <a:t>Court hierarchy weighting. </a:t>
            </a:r>
          </a:p>
          <a:p>
            <a:pPr lvl="0"/>
            <a:r>
              <a:rPr lang="en-IN" sz="2400" b="0" dirty="0">
                <a:solidFill>
                  <a:schemeClr val="tx1"/>
                </a:solidFill>
                <a:latin typeface="Calibri" panose="020F0502020204030204" pitchFamily="34" charset="0"/>
                <a:ea typeface="Calibri" panose="020F0502020204030204" pitchFamily="34" charset="0"/>
              </a:rPr>
              <a:t>Cross-encoder reranking and metadata filtering.</a:t>
            </a:r>
            <a:endParaRPr lang="en-IN" sz="2400" dirty="0"/>
          </a:p>
          <a:p>
            <a:endParaRPr lang="en-GB" sz="2400" b="0" dirty="0">
              <a:solidFill>
                <a:srgbClr val="242424"/>
              </a:solidFill>
              <a:latin typeface="source-serif-pro"/>
            </a:endParaRPr>
          </a:p>
          <a:p>
            <a:pPr marL="0" indent="0">
              <a:lnSpc>
                <a:spcPct val="150000"/>
              </a:lnSpc>
              <a:buFont typeface="Arial" panose="020B0604020202020204" pitchFamily="34" charset="0"/>
              <a:buNone/>
            </a:pPr>
            <a:endParaRPr lang="en-GB" sz="2400" b="0" dirty="0">
              <a:solidFill>
                <a:srgbClr val="242424"/>
              </a:solidFill>
              <a:highlight>
                <a:srgbClr val="FFFFFF"/>
              </a:highlight>
              <a:latin typeface="source-serif-pro"/>
            </a:endParaRPr>
          </a:p>
          <a:p>
            <a:pPr lvl="1"/>
            <a:endParaRPr lang="en-GB" dirty="0">
              <a:solidFill>
                <a:srgbClr val="1C3898"/>
              </a:solidFill>
            </a:endParaRPr>
          </a:p>
        </p:txBody>
      </p:sp>
      <p:pic>
        <p:nvPicPr>
          <p:cNvPr id="8" name="Picture 7">
            <a:extLst>
              <a:ext uri="{FF2B5EF4-FFF2-40B4-BE49-F238E27FC236}">
                <a16:creationId xmlns:a16="http://schemas.microsoft.com/office/drawing/2014/main" id="{A25F53BE-7204-A0BC-CDC6-6550F2D25510}"/>
              </a:ext>
            </a:extLst>
          </p:cNvPr>
          <p:cNvPicPr>
            <a:picLocks noChangeAspect="1"/>
          </p:cNvPicPr>
          <p:nvPr/>
        </p:nvPicPr>
        <p:blipFill>
          <a:blip r:embed="rId3">
            <a:extLst>
              <a:ext uri="{28A0092B-C50C-407E-A947-70E740481C1C}">
                <a14:useLocalDpi xmlns:a14="http://schemas.microsoft.com/office/drawing/2010/main" val="0"/>
              </a:ext>
            </a:extLst>
          </a:blip>
          <a:srcRect l="34876" t="8550" r="34548" b="68395"/>
          <a:stretch>
            <a:fillRect/>
          </a:stretch>
        </p:blipFill>
        <p:spPr>
          <a:xfrm>
            <a:off x="6271693" y="1940164"/>
            <a:ext cx="5518954" cy="3279536"/>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F08759A0-5A9F-EF31-DBE0-71EC7533721E}"/>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15499435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7883A-9326-FA1F-BD49-D3CE22FBC0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D9F1100-9040-40BD-9F32-4D3A0E893092}"/>
              </a:ext>
            </a:extLst>
          </p:cNvPr>
          <p:cNvSpPr>
            <a:spLocks noGrp="1"/>
          </p:cNvSpPr>
          <p:nvPr>
            <p:ph type="body" sz="quarter" idx="13"/>
          </p:nvPr>
        </p:nvSpPr>
        <p:spPr>
          <a:xfrm>
            <a:off x="406460" y="2034588"/>
            <a:ext cx="10624338" cy="444565"/>
          </a:xfrm>
        </p:spPr>
        <p:txBody>
          <a:bodyPr/>
          <a:lstStyle/>
          <a:p>
            <a:pPr marL="0" indent="0">
              <a:buNone/>
            </a:pPr>
            <a:r>
              <a:rPr lang="en-IN" dirty="0"/>
              <a:t>Holding Extraction</a:t>
            </a:r>
            <a:endParaRPr lang="en-US" dirty="0">
              <a:solidFill>
                <a:srgbClr val="5583D1"/>
              </a:solidFill>
              <a:latin typeface="+mn-lt"/>
            </a:endParaRPr>
          </a:p>
          <a:p>
            <a:pPr lvl="0"/>
            <a:r>
              <a:rPr lang="en-IN" sz="2400" b="0" dirty="0">
                <a:solidFill>
                  <a:schemeClr val="tx1"/>
                </a:solidFill>
                <a:latin typeface="+mn-lt"/>
              </a:rPr>
              <a:t>Ratio Decidendi extraction. </a:t>
            </a:r>
          </a:p>
          <a:p>
            <a:pPr lvl="0"/>
            <a:r>
              <a:rPr lang="en-IN" sz="2400" b="0" dirty="0">
                <a:solidFill>
                  <a:schemeClr val="tx1"/>
                </a:solidFill>
                <a:latin typeface="+mn-lt"/>
              </a:rPr>
              <a:t>Obiter Dicta separation. </a:t>
            </a:r>
          </a:p>
          <a:p>
            <a:pPr lvl="0"/>
            <a:r>
              <a:rPr lang="en-IN" sz="2400" b="0" dirty="0">
                <a:solidFill>
                  <a:schemeClr val="tx1"/>
                </a:solidFill>
                <a:latin typeface="+mn-lt"/>
              </a:rPr>
              <a:t>Material facts and legal issues extraction. </a:t>
            </a:r>
          </a:p>
          <a:p>
            <a:pPr marL="0" indent="0">
              <a:buNone/>
            </a:pPr>
            <a:r>
              <a:rPr lang="en-IN" dirty="0">
                <a:latin typeface="+mn-lt"/>
              </a:rPr>
              <a:t>Argument Synthesis</a:t>
            </a:r>
          </a:p>
          <a:p>
            <a:pPr lvl="0"/>
            <a:r>
              <a:rPr lang="en-IN" sz="2400" b="0" dirty="0">
                <a:solidFill>
                  <a:schemeClr val="tx1"/>
                </a:solidFill>
                <a:latin typeface="Calibri" panose="020F0502020204030204" pitchFamily="34" charset="0"/>
                <a:ea typeface="Calibri" panose="020F0502020204030204" pitchFamily="34" charset="0"/>
              </a:rPr>
              <a:t>Pro/Contra argument generation. </a:t>
            </a:r>
          </a:p>
          <a:p>
            <a:pPr lvl="0"/>
            <a:r>
              <a:rPr lang="en-IN" sz="2400" b="0" dirty="0">
                <a:solidFill>
                  <a:schemeClr val="tx1"/>
                </a:solidFill>
                <a:latin typeface="Calibri" panose="020F0502020204030204" pitchFamily="34" charset="0"/>
                <a:ea typeface="Calibri" panose="020F0502020204030204" pitchFamily="34" charset="0"/>
              </a:rPr>
              <a:t>Factual distinctions. </a:t>
            </a:r>
          </a:p>
          <a:p>
            <a:pPr lvl="0"/>
            <a:r>
              <a:rPr lang="en-IN" sz="2400" b="0" dirty="0">
                <a:solidFill>
                  <a:schemeClr val="tx1"/>
                </a:solidFill>
                <a:latin typeface="Calibri" panose="020F0502020204030204" pitchFamily="34" charset="0"/>
                <a:ea typeface="Calibri" panose="020F0502020204030204" pitchFamily="34" charset="0"/>
              </a:rPr>
              <a:t>Citation and evidence linking.</a:t>
            </a:r>
          </a:p>
          <a:p>
            <a:pPr marL="0" lvl="0" indent="0">
              <a:buNone/>
            </a:pPr>
            <a:endParaRPr lang="en-US" sz="2400" b="0" dirty="0">
              <a:solidFill>
                <a:srgbClr val="242424"/>
              </a:solidFill>
              <a:latin typeface="source-serif-pro"/>
            </a:endParaRPr>
          </a:p>
          <a:p>
            <a:pPr marL="0" indent="0">
              <a:lnSpc>
                <a:spcPct val="150000"/>
              </a:lnSpc>
              <a:buNone/>
            </a:pPr>
            <a:endParaRPr lang="en-US" sz="2400" b="0" i="0" dirty="0">
              <a:solidFill>
                <a:srgbClr val="242424"/>
              </a:solidFill>
              <a:effectLst/>
              <a:highlight>
                <a:srgbClr val="FFFFFF"/>
              </a:highlight>
              <a:latin typeface="source-serif-pro"/>
            </a:endParaRPr>
          </a:p>
          <a:p>
            <a:pPr lvl="1"/>
            <a:endParaRPr lang="en-US" dirty="0">
              <a:solidFill>
                <a:srgbClr val="1C3898"/>
              </a:solidFill>
            </a:endParaRPr>
          </a:p>
        </p:txBody>
      </p:sp>
      <p:sp>
        <p:nvSpPr>
          <p:cNvPr id="3" name="TextBox 2">
            <a:extLst>
              <a:ext uri="{FF2B5EF4-FFF2-40B4-BE49-F238E27FC236}">
                <a16:creationId xmlns:a16="http://schemas.microsoft.com/office/drawing/2014/main" id="{CC0742F3-FBB1-9D85-944C-FC3B6DFBE48C}"/>
              </a:ext>
            </a:extLst>
          </p:cNvPr>
          <p:cNvSpPr txBox="1"/>
          <p:nvPr/>
        </p:nvSpPr>
        <p:spPr>
          <a:xfrm>
            <a:off x="255996" y="502545"/>
            <a:ext cx="11224804" cy="1754326"/>
          </a:xfrm>
          <a:prstGeom prst="rect">
            <a:avLst/>
          </a:prstGeom>
          <a:noFill/>
        </p:spPr>
        <p:txBody>
          <a:bodyPr wrap="square" rtlCol="0">
            <a:spAutoFit/>
          </a:bodyPr>
          <a:lstStyle/>
          <a:p>
            <a:r>
              <a:rPr lang="en-US" sz="3600" b="1" dirty="0">
                <a:solidFill>
                  <a:srgbClr val="5B9BD5">
                    <a:lumMod val="50000"/>
                  </a:srgbClr>
                </a:solidFill>
                <a:latin typeface="Calibri" panose="020F0502020204030204"/>
              </a:rPr>
              <a:t>Module 3: </a:t>
            </a:r>
            <a:r>
              <a:rPr lang="en-IN" sz="3600" b="1" dirty="0">
                <a:solidFill>
                  <a:srgbClr val="1F4E79"/>
                </a:solidFill>
              </a:rPr>
              <a:t>Generation Layer — Holding Extraction &amp;   Argument Synthesis Holding Extraction</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727EDE9-680B-AB08-9EA9-2AA608166818}"/>
              </a:ext>
            </a:extLst>
          </p:cNvPr>
          <p:cNvCxnSpPr>
            <a:cxnSpLocks/>
          </p:cNvCxnSpPr>
          <p:nvPr/>
        </p:nvCxnSpPr>
        <p:spPr>
          <a:xfrm>
            <a:off x="255996" y="1733487"/>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E1D756BE-8ECE-20DF-D5C9-7A45070A693B}"/>
              </a:ext>
            </a:extLst>
          </p:cNvPr>
          <p:cNvPicPr>
            <a:picLocks noChangeAspect="1"/>
          </p:cNvPicPr>
          <p:nvPr/>
        </p:nvPicPr>
        <p:blipFill>
          <a:blip r:embed="rId2">
            <a:extLst>
              <a:ext uri="{28A0092B-C50C-407E-A947-70E740481C1C}">
                <a14:useLocalDpi xmlns:a14="http://schemas.microsoft.com/office/drawing/2010/main" val="0"/>
              </a:ext>
            </a:extLst>
          </a:blip>
          <a:srcRect l="66592" t="11209" r="200" b="60972"/>
          <a:stretch>
            <a:fillRect/>
          </a:stretch>
        </p:blipFill>
        <p:spPr>
          <a:xfrm>
            <a:off x="6093893" y="1934310"/>
            <a:ext cx="5842112" cy="3856890"/>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D9CA7E11-6522-76D6-5919-CAAEE77A912E}"/>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36911071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C7EF6-DDB9-8E4F-6113-B3C115950D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EEDED6-0E55-5621-258C-5BF61F8A49D0}"/>
              </a:ext>
            </a:extLst>
          </p:cNvPr>
          <p:cNvSpPr>
            <a:spLocks noGrp="1"/>
          </p:cNvSpPr>
          <p:nvPr>
            <p:ph type="body" sz="quarter" idx="13"/>
          </p:nvPr>
        </p:nvSpPr>
        <p:spPr>
          <a:xfrm>
            <a:off x="377432" y="1594385"/>
            <a:ext cx="10624338" cy="444565"/>
          </a:xfrm>
        </p:spPr>
        <p:txBody>
          <a:bodyPr/>
          <a:lstStyle/>
          <a:p>
            <a:pPr marL="0" indent="0">
              <a:buNone/>
            </a:pPr>
            <a:r>
              <a:rPr lang="en-IN" dirty="0"/>
              <a:t>Retrieval Evaluation</a:t>
            </a:r>
            <a:endParaRPr lang="en-US" dirty="0">
              <a:solidFill>
                <a:srgbClr val="5583D1"/>
              </a:solidFill>
              <a:latin typeface="+mn-lt"/>
            </a:endParaRPr>
          </a:p>
          <a:p>
            <a:pPr lvl="0"/>
            <a:r>
              <a:rPr lang="en-IN" sz="2400" b="0" dirty="0">
                <a:solidFill>
                  <a:schemeClr val="tx1"/>
                </a:solidFill>
                <a:latin typeface="+mn-lt"/>
              </a:rPr>
              <a:t>nDCG@10 and MRR. </a:t>
            </a:r>
          </a:p>
          <a:p>
            <a:pPr lvl="0"/>
            <a:r>
              <a:rPr lang="en-IN" sz="2400" b="0" dirty="0">
                <a:solidFill>
                  <a:schemeClr val="tx1"/>
                </a:solidFill>
                <a:latin typeface="+mn-lt"/>
              </a:rPr>
              <a:t>Hybrid vs. BM25 vs. Dense comparison. </a:t>
            </a:r>
          </a:p>
          <a:p>
            <a:pPr lvl="0"/>
            <a:r>
              <a:rPr lang="en-IN" sz="2400" b="0" dirty="0">
                <a:solidFill>
                  <a:schemeClr val="tx1"/>
                </a:solidFill>
                <a:latin typeface="+mn-lt"/>
              </a:rPr>
              <a:t>95% bootstrap confidence intervals. </a:t>
            </a:r>
          </a:p>
          <a:p>
            <a:pPr marL="0" indent="0">
              <a:buNone/>
            </a:pPr>
            <a:r>
              <a:rPr lang="en-IN" dirty="0">
                <a:latin typeface="+mn-lt"/>
              </a:rPr>
              <a:t>Generation Evaluation</a:t>
            </a:r>
          </a:p>
          <a:p>
            <a:pPr lvl="0"/>
            <a:r>
              <a:rPr lang="en-IN" sz="2400" b="0" dirty="0">
                <a:solidFill>
                  <a:schemeClr val="tx1"/>
                </a:solidFill>
                <a:latin typeface="+mn-lt"/>
              </a:rPr>
              <a:t>ROUGE-L F1 for holding extraction. </a:t>
            </a:r>
          </a:p>
          <a:p>
            <a:pPr lvl="0"/>
            <a:r>
              <a:rPr lang="en-IN" sz="2400" b="0" dirty="0">
                <a:solidFill>
                  <a:schemeClr val="tx1"/>
                </a:solidFill>
                <a:latin typeface="+mn-lt"/>
              </a:rPr>
              <a:t>Wilcoxon signed-rank testing. </a:t>
            </a:r>
          </a:p>
          <a:p>
            <a:pPr lvl="0"/>
            <a:r>
              <a:rPr lang="en-IN" sz="2400" b="0" dirty="0">
                <a:solidFill>
                  <a:schemeClr val="tx1"/>
                </a:solidFill>
                <a:latin typeface="+mn-lt"/>
              </a:rPr>
              <a:t>Evidence and citation verification.</a:t>
            </a:r>
          </a:p>
          <a:p>
            <a:pPr marL="0" lvl="0" indent="0">
              <a:buNone/>
            </a:pPr>
            <a:endParaRPr lang="en-US" sz="2400" b="0" dirty="0">
              <a:solidFill>
                <a:srgbClr val="242424"/>
              </a:solidFill>
              <a:latin typeface="source-serif-pro"/>
            </a:endParaRPr>
          </a:p>
          <a:p>
            <a:pPr marL="0" indent="0">
              <a:lnSpc>
                <a:spcPct val="150000"/>
              </a:lnSpc>
              <a:buNone/>
            </a:pPr>
            <a:endParaRPr lang="en-US" sz="2400" b="0" i="0" dirty="0">
              <a:solidFill>
                <a:srgbClr val="242424"/>
              </a:solidFill>
              <a:effectLst/>
              <a:highlight>
                <a:srgbClr val="FFFFFF"/>
              </a:highlight>
              <a:latin typeface="source-serif-pro"/>
            </a:endParaRPr>
          </a:p>
          <a:p>
            <a:pPr lvl="1"/>
            <a:endParaRPr lang="en-US" dirty="0">
              <a:solidFill>
                <a:srgbClr val="1C3898"/>
              </a:solidFill>
            </a:endParaRPr>
          </a:p>
        </p:txBody>
      </p:sp>
      <p:sp>
        <p:nvSpPr>
          <p:cNvPr id="3" name="TextBox 2">
            <a:extLst>
              <a:ext uri="{FF2B5EF4-FFF2-40B4-BE49-F238E27FC236}">
                <a16:creationId xmlns:a16="http://schemas.microsoft.com/office/drawing/2014/main" id="{4E9044CA-5D54-2572-5EE3-0979F96212A2}"/>
              </a:ext>
            </a:extLst>
          </p:cNvPr>
          <p:cNvSpPr txBox="1"/>
          <p:nvPr/>
        </p:nvSpPr>
        <p:spPr>
          <a:xfrm>
            <a:off x="255996" y="502545"/>
            <a:ext cx="11224804" cy="646331"/>
          </a:xfrm>
          <a:prstGeom prst="rect">
            <a:avLst/>
          </a:prstGeom>
          <a:noFill/>
        </p:spPr>
        <p:txBody>
          <a:bodyPr wrap="square" rtlCol="0">
            <a:spAutoFit/>
          </a:bodyPr>
          <a:lstStyle/>
          <a:p>
            <a:r>
              <a:rPr lang="en-US" sz="3600" b="1" dirty="0">
                <a:solidFill>
                  <a:srgbClr val="5B9BD5">
                    <a:lumMod val="50000"/>
                  </a:srgbClr>
                </a:solidFill>
                <a:latin typeface="Calibri" panose="020F0502020204030204"/>
              </a:rPr>
              <a:t>Module 4: </a:t>
            </a:r>
            <a:r>
              <a:rPr lang="en-IN" sz="3600" b="1" dirty="0">
                <a:solidFill>
                  <a:srgbClr val="1F4E79"/>
                </a:solidFill>
              </a:rPr>
              <a:t>Evaluation &amp; Statistical Validation</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76909F14-E855-3B16-DD35-7C866362E3AE}"/>
              </a:ext>
            </a:extLst>
          </p:cNvPr>
          <p:cNvCxnSpPr>
            <a:cxnSpLocks/>
          </p:cNvCxnSpPr>
          <p:nvPr/>
        </p:nvCxnSpPr>
        <p:spPr>
          <a:xfrm>
            <a:off x="255996" y="119870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E118217-7F97-B3C2-467E-D2445BFAE33D}"/>
              </a:ext>
            </a:extLst>
          </p:cNvPr>
          <p:cNvPicPr>
            <a:picLocks noChangeAspect="1"/>
          </p:cNvPicPr>
          <p:nvPr/>
        </p:nvPicPr>
        <p:blipFill>
          <a:blip r:embed="rId2">
            <a:extLst>
              <a:ext uri="{28A0092B-C50C-407E-A947-70E740481C1C}">
                <a14:useLocalDpi xmlns:a14="http://schemas.microsoft.com/office/drawing/2010/main" val="0"/>
              </a:ext>
            </a:extLst>
          </a:blip>
          <a:srcRect l="1661" t="56016" r="52881" b="5454"/>
          <a:stretch>
            <a:fillRect/>
          </a:stretch>
        </p:blipFill>
        <p:spPr>
          <a:xfrm>
            <a:off x="5689601" y="1594385"/>
            <a:ext cx="6313655" cy="4217327"/>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6A12E434-EBE9-0061-4C58-437CBADBD0F4}"/>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32926233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3EAE8-A9C9-96BA-9AAC-807492A6D5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AA5B485-6DE5-1A32-FF4F-C1874F10CAA7}"/>
              </a:ext>
            </a:extLst>
          </p:cNvPr>
          <p:cNvSpPr>
            <a:spLocks noGrp="1"/>
          </p:cNvSpPr>
          <p:nvPr>
            <p:ph type="body" sz="quarter" idx="13"/>
          </p:nvPr>
        </p:nvSpPr>
        <p:spPr>
          <a:xfrm>
            <a:off x="377432" y="1372102"/>
            <a:ext cx="10624338" cy="444565"/>
          </a:xfrm>
        </p:spPr>
        <p:txBody>
          <a:bodyPr/>
          <a:lstStyle/>
          <a:p>
            <a:pPr marL="0" indent="0">
              <a:buNone/>
            </a:pPr>
            <a:r>
              <a:rPr lang="en-IN" sz="2000" dirty="0" err="1"/>
              <a:t>FastAPI</a:t>
            </a:r>
            <a:r>
              <a:rPr lang="en-IN" sz="2000" dirty="0"/>
              <a:t> Backend</a:t>
            </a:r>
          </a:p>
          <a:p>
            <a:pPr lvl="0"/>
            <a:r>
              <a:rPr lang="en-IN" sz="2000" b="0" dirty="0">
                <a:solidFill>
                  <a:schemeClr val="tx1"/>
                </a:solidFill>
                <a:latin typeface="+mn-lt"/>
              </a:rPr>
              <a:t>Research, upload, export and health APIs. </a:t>
            </a:r>
          </a:p>
          <a:p>
            <a:pPr lvl="0"/>
            <a:r>
              <a:rPr lang="en-IN" sz="2000" b="0" dirty="0">
                <a:solidFill>
                  <a:schemeClr val="tx1"/>
                </a:solidFill>
                <a:latin typeface="+mn-lt"/>
              </a:rPr>
              <a:t>Case-file based automated research. </a:t>
            </a:r>
          </a:p>
          <a:p>
            <a:pPr marL="0" indent="0">
              <a:buNone/>
            </a:pPr>
            <a:r>
              <a:rPr lang="en-IN" sz="2000" dirty="0" err="1"/>
              <a:t>Streamlit</a:t>
            </a:r>
            <a:r>
              <a:rPr lang="en-IN" sz="2000" dirty="0"/>
              <a:t> Legal Research Terminal</a:t>
            </a:r>
          </a:p>
          <a:p>
            <a:pPr lvl="0"/>
            <a:r>
              <a:rPr lang="en-IN" sz="2000" b="0" dirty="0">
                <a:solidFill>
                  <a:schemeClr val="tx1"/>
                </a:solidFill>
                <a:latin typeface="+mn-lt"/>
              </a:rPr>
              <a:t>Interactive query and case upload. </a:t>
            </a:r>
          </a:p>
          <a:p>
            <a:pPr lvl="0"/>
            <a:r>
              <a:rPr lang="en-IN" sz="2000" b="0" dirty="0">
                <a:solidFill>
                  <a:schemeClr val="tx1"/>
                </a:solidFill>
                <a:latin typeface="+mn-lt"/>
              </a:rPr>
              <a:t>Filters and precedent discovery. </a:t>
            </a:r>
          </a:p>
          <a:p>
            <a:pPr lvl="0"/>
            <a:r>
              <a:rPr lang="en-IN" sz="2000" b="0" dirty="0">
                <a:solidFill>
                  <a:schemeClr val="tx1"/>
                </a:solidFill>
                <a:latin typeface="+mn-lt"/>
              </a:rPr>
              <a:t>Ratio/Obiter and Pro/Contra views. </a:t>
            </a:r>
          </a:p>
          <a:p>
            <a:pPr marL="0" indent="0">
              <a:buNone/>
            </a:pPr>
            <a:r>
              <a:rPr lang="en-IN" sz="2000" dirty="0"/>
              <a:t>Word Export</a:t>
            </a:r>
          </a:p>
          <a:p>
            <a:pPr lvl="0"/>
            <a:r>
              <a:rPr lang="en-IN" sz="2000" b="0" dirty="0">
                <a:solidFill>
                  <a:schemeClr val="tx1"/>
                </a:solidFill>
                <a:latin typeface="Calibri" panose="020F0502020204030204" pitchFamily="34" charset="0"/>
                <a:ea typeface="Calibri" panose="020F0502020204030204" pitchFamily="34" charset="0"/>
              </a:rPr>
              <a:t>Structured Chamber Brief. </a:t>
            </a:r>
          </a:p>
          <a:p>
            <a:pPr lvl="0"/>
            <a:r>
              <a:rPr lang="en-IN" sz="2000" b="0" dirty="0">
                <a:solidFill>
                  <a:schemeClr val="tx1"/>
                </a:solidFill>
                <a:latin typeface="Calibri" panose="020F0502020204030204" pitchFamily="34" charset="0"/>
                <a:ea typeface="Calibri" panose="020F0502020204030204" pitchFamily="34" charset="0"/>
              </a:rPr>
              <a:t>Precedent Matrix and arguments. </a:t>
            </a:r>
          </a:p>
          <a:p>
            <a:pPr lvl="0"/>
            <a:r>
              <a:rPr lang="en-IN" sz="2000" b="0" dirty="0">
                <a:solidFill>
                  <a:schemeClr val="tx1"/>
                </a:solidFill>
                <a:latin typeface="Calibri" panose="020F0502020204030204" pitchFamily="34" charset="0"/>
                <a:ea typeface="Calibri" panose="020F0502020204030204" pitchFamily="34" charset="0"/>
              </a:rPr>
              <a:t>Verified Evidence Appendix.</a:t>
            </a:r>
          </a:p>
          <a:p>
            <a:pPr marL="0" lvl="0" indent="0">
              <a:buNone/>
            </a:pPr>
            <a:endParaRPr lang="en-US" sz="2000" b="0" dirty="0">
              <a:solidFill>
                <a:srgbClr val="242424"/>
              </a:solidFill>
              <a:latin typeface="source-serif-pro"/>
            </a:endParaRPr>
          </a:p>
          <a:p>
            <a:pPr marL="0" indent="0">
              <a:lnSpc>
                <a:spcPct val="150000"/>
              </a:lnSpc>
              <a:buNone/>
            </a:pPr>
            <a:endParaRPr lang="en-US" sz="2000" b="0" i="0" dirty="0">
              <a:solidFill>
                <a:srgbClr val="242424"/>
              </a:solidFill>
              <a:effectLst/>
              <a:highlight>
                <a:srgbClr val="FFFFFF"/>
              </a:highlight>
              <a:latin typeface="source-serif-pro"/>
            </a:endParaRPr>
          </a:p>
          <a:p>
            <a:pPr lvl="1"/>
            <a:endParaRPr lang="en-US" sz="2000" dirty="0">
              <a:solidFill>
                <a:srgbClr val="1C3898"/>
              </a:solidFill>
            </a:endParaRPr>
          </a:p>
        </p:txBody>
      </p:sp>
      <p:sp>
        <p:nvSpPr>
          <p:cNvPr id="3" name="TextBox 2">
            <a:extLst>
              <a:ext uri="{FF2B5EF4-FFF2-40B4-BE49-F238E27FC236}">
                <a16:creationId xmlns:a16="http://schemas.microsoft.com/office/drawing/2014/main" id="{028B8234-E5E0-28CA-6D77-0B45C5539A48}"/>
              </a:ext>
            </a:extLst>
          </p:cNvPr>
          <p:cNvSpPr txBox="1"/>
          <p:nvPr/>
        </p:nvSpPr>
        <p:spPr>
          <a:xfrm>
            <a:off x="255996" y="502545"/>
            <a:ext cx="11224804" cy="646331"/>
          </a:xfrm>
          <a:prstGeom prst="rect">
            <a:avLst/>
          </a:prstGeom>
          <a:noFill/>
        </p:spPr>
        <p:txBody>
          <a:bodyPr wrap="square" rtlCol="0">
            <a:spAutoFit/>
          </a:bodyPr>
          <a:lstStyle/>
          <a:p>
            <a:r>
              <a:rPr lang="en-US" sz="3600" b="1" dirty="0">
                <a:solidFill>
                  <a:srgbClr val="5B9BD5">
                    <a:lumMod val="50000"/>
                  </a:srgbClr>
                </a:solidFill>
                <a:latin typeface="Calibri" panose="020F0502020204030204"/>
              </a:rPr>
              <a:t>Module 5: </a:t>
            </a:r>
            <a:r>
              <a:rPr lang="en-IN" sz="3600" b="1" dirty="0">
                <a:solidFill>
                  <a:srgbClr val="1F4E79"/>
                </a:solidFill>
              </a:rPr>
              <a:t>Application Delivery</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E46D1C52-D1F9-E71B-E1A5-90F153BC662C}"/>
              </a:ext>
            </a:extLst>
          </p:cNvPr>
          <p:cNvCxnSpPr>
            <a:cxnSpLocks/>
          </p:cNvCxnSpPr>
          <p:nvPr/>
        </p:nvCxnSpPr>
        <p:spPr>
          <a:xfrm>
            <a:off x="255996" y="119870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5E091FA9-52A5-8A61-D708-42E4943D5C7E}"/>
              </a:ext>
            </a:extLst>
          </p:cNvPr>
          <p:cNvPicPr>
            <a:picLocks noChangeAspect="1"/>
          </p:cNvPicPr>
          <p:nvPr/>
        </p:nvPicPr>
        <p:blipFill>
          <a:blip r:embed="rId2">
            <a:extLst>
              <a:ext uri="{28A0092B-C50C-407E-A947-70E740481C1C}">
                <a14:useLocalDpi xmlns:a14="http://schemas.microsoft.com/office/drawing/2010/main" val="0"/>
              </a:ext>
            </a:extLst>
          </a:blip>
          <a:srcRect l="48972" t="57033" r="907" b="5732"/>
          <a:stretch>
            <a:fillRect/>
          </a:stretch>
        </p:blipFill>
        <p:spPr>
          <a:xfrm>
            <a:off x="5198014" y="1816667"/>
            <a:ext cx="6646815" cy="3891514"/>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07E0EA67-A0F2-992E-FB1E-753103E50B23}"/>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32551489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lgn="l">
              <a:defRPr/>
            </a:pPr>
            <a:r>
              <a:rPr sz="3600" b="1">
                <a:solidFill>
                  <a:srgbClr val="1F4E79"/>
                </a:solidFill>
                <a:latin typeface="Calibri"/>
              </a:rPr>
              <a:t>Methodology / Modeling Plan</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F300DE65-A23F-E3F2-F37A-3A03195FA9F8}"/>
              </a:ext>
            </a:extLst>
          </p:cNvPr>
          <p:cNvGrpSpPr/>
          <p:nvPr/>
        </p:nvGrpSpPr>
        <p:grpSpPr>
          <a:xfrm>
            <a:off x="255996" y="1885044"/>
            <a:ext cx="11787492" cy="3781200"/>
            <a:chOff x="411480" y="1499154"/>
            <a:chExt cx="10561320" cy="2798526"/>
          </a:xfrm>
        </p:grpSpPr>
        <p:sp>
          <p:nvSpPr>
            <p:cNvPr id="7" name="Rounded Rectangle 6"/>
            <p:cNvSpPr/>
            <p:nvPr/>
          </p:nvSpPr>
          <p:spPr>
            <a:xfrm>
              <a:off x="411480" y="1499154"/>
              <a:ext cx="1417320" cy="1188720"/>
            </a:xfrm>
            <a:prstGeom prst="roundRect">
              <a:avLst/>
            </a:prstGeom>
            <a:solidFill>
              <a:srgbClr val="DDEBF7"/>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b="1" dirty="0">
                  <a:solidFill>
                    <a:srgbClr val="4472C4"/>
                  </a:solidFill>
                  <a:latin typeface="Amasis MT Pro" panose="02040504050005020304" pitchFamily="18" charset="0"/>
                </a:rPr>
                <a:t>1. INPUT</a:t>
              </a:r>
            </a:p>
            <a:p>
              <a:pPr algn="ctr">
                <a:spcAft>
                  <a:spcPts val="200"/>
                </a:spcAft>
                <a:defRPr sz="1050">
                  <a:solidFill>
                    <a:srgbClr val="2D2D2D"/>
                  </a:solidFill>
                  <a:latin typeface="Calibri"/>
                </a:defRPr>
              </a:pPr>
              <a:r>
                <a:rPr sz="1400" b="1" dirty="0">
                  <a:latin typeface="Amasis MT Pro" panose="02040504050005020304" pitchFamily="18" charset="0"/>
                </a:rPr>
                <a:t>Judgments</a:t>
              </a:r>
            </a:p>
            <a:p>
              <a:pPr algn="ctr">
                <a:spcAft>
                  <a:spcPts val="200"/>
                </a:spcAft>
                <a:defRPr sz="1050">
                  <a:solidFill>
                    <a:srgbClr val="2D2D2D"/>
                  </a:solidFill>
                  <a:latin typeface="Calibri"/>
                </a:defRPr>
              </a:pPr>
              <a:r>
                <a:rPr sz="1400" b="1" dirty="0">
                  <a:latin typeface="Amasis MT Pro" panose="02040504050005020304" pitchFamily="18" charset="0"/>
                </a:rPr>
                <a:t>User Query / Case File</a:t>
              </a:r>
            </a:p>
          </p:txBody>
        </p:sp>
        <p:cxnSp>
          <p:nvCxnSpPr>
            <p:cNvPr id="8" name="Connector 7"/>
            <p:cNvCxnSpPr/>
            <p:nvPr/>
          </p:nvCxnSpPr>
          <p:spPr>
            <a:xfrm>
              <a:off x="1828800" y="2103120"/>
              <a:ext cx="41148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240280" y="1508760"/>
              <a:ext cx="1417320" cy="1188720"/>
            </a:xfrm>
            <a:prstGeom prst="roundRect">
              <a:avLst/>
            </a:prstGeom>
            <a:solidFill>
              <a:srgbClr val="E2EFDA"/>
            </a:solidFill>
            <a:ln w="15240">
              <a:solidFill>
                <a:srgbClr val="70AD47"/>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70AD47"/>
                  </a:solidFill>
                  <a:latin typeface="Amasis MT Pro" panose="02040504050005020304" pitchFamily="18" charset="0"/>
                </a:rPr>
                <a:t>2.</a:t>
              </a:r>
              <a:r>
                <a:rPr lang="en-GB" sz="1600" b="1" dirty="0">
                  <a:solidFill>
                    <a:srgbClr val="70AD47"/>
                  </a:solidFill>
                  <a:latin typeface="Amasis MT Pro" panose="02040504050005020304" pitchFamily="18" charset="0"/>
                </a:rPr>
                <a:t> </a:t>
              </a:r>
              <a:r>
                <a:rPr sz="1600" b="1" dirty="0">
                  <a:solidFill>
                    <a:srgbClr val="70AD47"/>
                  </a:solidFill>
                  <a:latin typeface="Amasis MT Pro" panose="02040504050005020304" pitchFamily="18" charset="0"/>
                </a:rPr>
                <a:t>PREPROCESSING</a:t>
              </a:r>
            </a:p>
            <a:p>
              <a:pPr algn="ctr">
                <a:spcAft>
                  <a:spcPts val="200"/>
                </a:spcAft>
                <a:defRPr sz="1050">
                  <a:solidFill>
                    <a:srgbClr val="2D2D2D"/>
                  </a:solidFill>
                  <a:latin typeface="Calibri"/>
                </a:defRPr>
              </a:pPr>
              <a:r>
                <a:rPr sz="1400" b="1" dirty="0">
                  <a:latin typeface="Amasis MT Pro" panose="02040504050005020304" pitchFamily="18" charset="0"/>
                </a:rPr>
                <a:t>Parsing +</a:t>
              </a:r>
            </a:p>
            <a:p>
              <a:pPr algn="ctr">
                <a:spcAft>
                  <a:spcPts val="200"/>
                </a:spcAft>
                <a:defRPr sz="1050">
                  <a:solidFill>
                    <a:srgbClr val="2D2D2D"/>
                  </a:solidFill>
                  <a:latin typeface="Calibri"/>
                </a:defRPr>
              </a:pPr>
              <a:r>
                <a:rPr sz="1400" b="1" dirty="0">
                  <a:latin typeface="Amasis MT Pro" panose="02040504050005020304" pitchFamily="18" charset="0"/>
                </a:rPr>
                <a:t>Legal-Domain Chunking</a:t>
              </a:r>
            </a:p>
          </p:txBody>
        </p:sp>
        <p:cxnSp>
          <p:nvCxnSpPr>
            <p:cNvPr id="10" name="Connector 9"/>
            <p:cNvCxnSpPr/>
            <p:nvPr/>
          </p:nvCxnSpPr>
          <p:spPr>
            <a:xfrm>
              <a:off x="3657600" y="2103120"/>
              <a:ext cx="41148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069080" y="1508760"/>
              <a:ext cx="1417320" cy="1188720"/>
            </a:xfrm>
            <a:prstGeom prst="roundRect">
              <a:avLst/>
            </a:prstGeom>
            <a:solidFill>
              <a:srgbClr val="EAE1F4"/>
            </a:solidFill>
            <a:ln w="15240">
              <a:solidFill>
                <a:srgbClr val="7030A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7030A0"/>
                  </a:solidFill>
                  <a:latin typeface="Amasis MT Pro" panose="02040504050005020304" pitchFamily="18" charset="0"/>
                </a:rPr>
                <a:t>3. RETRIEVAL</a:t>
              </a:r>
            </a:p>
            <a:p>
              <a:pPr algn="ctr">
                <a:spcAft>
                  <a:spcPts val="200"/>
                </a:spcAft>
                <a:defRPr sz="1050">
                  <a:solidFill>
                    <a:srgbClr val="2D2D2D"/>
                  </a:solidFill>
                  <a:latin typeface="Calibri"/>
                </a:defRPr>
              </a:pPr>
              <a:r>
                <a:rPr sz="1400" b="1" dirty="0">
                  <a:latin typeface="Amasis MT Pro" panose="02040504050005020304" pitchFamily="18" charset="0"/>
                </a:rPr>
                <a:t>Dense + BM25</a:t>
              </a:r>
            </a:p>
            <a:p>
              <a:pPr algn="ctr">
                <a:spcAft>
                  <a:spcPts val="200"/>
                </a:spcAft>
                <a:defRPr sz="1050">
                  <a:solidFill>
                    <a:srgbClr val="2D2D2D"/>
                  </a:solidFill>
                  <a:latin typeface="Calibri"/>
                </a:defRPr>
              </a:pPr>
              <a:r>
                <a:rPr sz="1400" b="1" dirty="0">
                  <a:latin typeface="Amasis MT Pro" panose="02040504050005020304" pitchFamily="18" charset="0"/>
                </a:rPr>
                <a:t>RRF + Reranking</a:t>
              </a:r>
            </a:p>
          </p:txBody>
        </p:sp>
        <p:cxnSp>
          <p:nvCxnSpPr>
            <p:cNvPr id="12" name="Connector 11"/>
            <p:cNvCxnSpPr/>
            <p:nvPr/>
          </p:nvCxnSpPr>
          <p:spPr>
            <a:xfrm>
              <a:off x="5486400" y="2103120"/>
              <a:ext cx="41148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97880" y="1508760"/>
              <a:ext cx="1554480" cy="1188720"/>
            </a:xfrm>
            <a:prstGeom prst="roundRect">
              <a:avLst/>
            </a:prstGeom>
            <a:solidFill>
              <a:srgbClr val="FCE4D6"/>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ED7D31"/>
                  </a:solidFill>
                  <a:latin typeface="Amasis MT Pro" panose="02040504050005020304" pitchFamily="18" charset="0"/>
                </a:rPr>
                <a:t>4. GENERATION</a:t>
              </a:r>
            </a:p>
            <a:p>
              <a:pPr algn="ctr">
                <a:spcAft>
                  <a:spcPts val="200"/>
                </a:spcAft>
                <a:defRPr sz="1050">
                  <a:solidFill>
                    <a:srgbClr val="2D2D2D"/>
                  </a:solidFill>
                  <a:latin typeface="Calibri"/>
                </a:defRPr>
              </a:pPr>
              <a:r>
                <a:rPr sz="1400" b="1" dirty="0">
                  <a:latin typeface="Amasis MT Pro" panose="02040504050005020304" pitchFamily="18" charset="0"/>
                </a:rPr>
                <a:t>Ratio / Obiter</a:t>
              </a:r>
            </a:p>
            <a:p>
              <a:pPr algn="ctr">
                <a:spcAft>
                  <a:spcPts val="200"/>
                </a:spcAft>
                <a:defRPr sz="1050">
                  <a:solidFill>
                    <a:srgbClr val="2D2D2D"/>
                  </a:solidFill>
                  <a:latin typeface="Calibri"/>
                </a:defRPr>
              </a:pPr>
              <a:r>
                <a:rPr sz="1400" b="1" dirty="0">
                  <a:latin typeface="Amasis MT Pro" panose="02040504050005020304" pitchFamily="18" charset="0"/>
                </a:rPr>
                <a:t>Pro / Contra</a:t>
              </a:r>
            </a:p>
          </p:txBody>
        </p:sp>
        <p:cxnSp>
          <p:nvCxnSpPr>
            <p:cNvPr id="14" name="Connector 13"/>
            <p:cNvCxnSpPr>
              <a:cxnSpLocks/>
              <a:stCxn id="13" idx="3"/>
            </p:cNvCxnSpPr>
            <p:nvPr/>
          </p:nvCxnSpPr>
          <p:spPr>
            <a:xfrm>
              <a:off x="7452360" y="2103120"/>
              <a:ext cx="274319"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726679" y="1508760"/>
              <a:ext cx="1554480" cy="1188720"/>
            </a:xfrm>
            <a:prstGeom prst="roundRect">
              <a:avLst/>
            </a:prstGeom>
            <a:solidFill>
              <a:srgbClr val="DAEEF3"/>
            </a:solidFill>
            <a:ln w="15240">
              <a:solidFill>
                <a:srgbClr val="00B0F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00B0F0"/>
                  </a:solidFill>
                  <a:latin typeface="Amasis MT Pro" panose="02040504050005020304" pitchFamily="18" charset="0"/>
                </a:rPr>
                <a:t>5. VALIDATION</a:t>
              </a:r>
            </a:p>
            <a:p>
              <a:pPr algn="ctr">
                <a:spcAft>
                  <a:spcPts val="200"/>
                </a:spcAft>
                <a:defRPr sz="1050">
                  <a:solidFill>
                    <a:srgbClr val="2D2D2D"/>
                  </a:solidFill>
                  <a:latin typeface="Calibri"/>
                </a:defRPr>
              </a:pPr>
              <a:r>
                <a:rPr sz="1400" b="1" dirty="0">
                  <a:latin typeface="Amasis MT Pro" panose="02040504050005020304" pitchFamily="18" charset="0"/>
                </a:rPr>
                <a:t>Evidence +</a:t>
              </a:r>
            </a:p>
            <a:p>
              <a:pPr algn="ctr">
                <a:spcAft>
                  <a:spcPts val="200"/>
                </a:spcAft>
                <a:defRPr sz="1050">
                  <a:solidFill>
                    <a:srgbClr val="2D2D2D"/>
                  </a:solidFill>
                  <a:latin typeface="Calibri"/>
                </a:defRPr>
              </a:pPr>
              <a:r>
                <a:rPr sz="1400" b="1" dirty="0">
                  <a:latin typeface="Amasis MT Pro" panose="02040504050005020304" pitchFamily="18" charset="0"/>
                </a:rPr>
                <a:t>Citation Verification</a:t>
              </a:r>
            </a:p>
          </p:txBody>
        </p:sp>
        <p:cxnSp>
          <p:nvCxnSpPr>
            <p:cNvPr id="16" name="Connector 15"/>
            <p:cNvCxnSpPr>
              <a:cxnSpLocks/>
              <a:stCxn id="15" idx="3"/>
            </p:cNvCxnSpPr>
            <p:nvPr/>
          </p:nvCxnSpPr>
          <p:spPr>
            <a:xfrm>
              <a:off x="9281160" y="2103120"/>
              <a:ext cx="27432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55480" y="1508760"/>
              <a:ext cx="1417320" cy="1188720"/>
            </a:xfrm>
            <a:prstGeom prst="roundRect">
              <a:avLst/>
            </a:prstGeom>
            <a:solidFill>
              <a:srgbClr val="DDEBF7"/>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dirty="0">
                  <a:solidFill>
                    <a:srgbClr val="1F4E79"/>
                  </a:solidFill>
                  <a:latin typeface="Amasis MT Pro" panose="02040504050005020304" pitchFamily="18" charset="0"/>
                </a:rPr>
                <a:t>6. OUTPUT</a:t>
              </a:r>
            </a:p>
            <a:p>
              <a:pPr algn="ctr">
                <a:spcAft>
                  <a:spcPts val="200"/>
                </a:spcAft>
                <a:defRPr sz="1050">
                  <a:solidFill>
                    <a:srgbClr val="2D2D2D"/>
                  </a:solidFill>
                  <a:latin typeface="Calibri"/>
                </a:defRPr>
              </a:pPr>
              <a:r>
                <a:rPr sz="1400" b="1" dirty="0" err="1">
                  <a:latin typeface="Amasis MT Pro" panose="02040504050005020304" pitchFamily="18" charset="0"/>
                </a:rPr>
                <a:t>Streamlit</a:t>
              </a:r>
              <a:endParaRPr sz="1400" b="1" dirty="0">
                <a:latin typeface="Amasis MT Pro" panose="02040504050005020304" pitchFamily="18" charset="0"/>
              </a:endParaRPr>
            </a:p>
            <a:p>
              <a:pPr algn="ctr">
                <a:spcAft>
                  <a:spcPts val="200"/>
                </a:spcAft>
                <a:defRPr sz="1050">
                  <a:solidFill>
                    <a:srgbClr val="2D2D2D"/>
                  </a:solidFill>
                  <a:latin typeface="Calibri"/>
                </a:defRPr>
              </a:pPr>
              <a:r>
                <a:rPr sz="1400" b="1" dirty="0">
                  <a:latin typeface="Amasis MT Pro" panose="02040504050005020304" pitchFamily="18" charset="0"/>
                </a:rPr>
                <a:t>Word Chamber Brief</a:t>
              </a:r>
            </a:p>
          </p:txBody>
        </p:sp>
        <p:sp>
          <p:nvSpPr>
            <p:cNvPr id="18" name="Rounded Rectangle 17"/>
            <p:cNvSpPr/>
            <p:nvPr/>
          </p:nvSpPr>
          <p:spPr>
            <a:xfrm>
              <a:off x="502920" y="2971800"/>
              <a:ext cx="3246120" cy="1325880"/>
            </a:xfrm>
            <a:prstGeom prst="roundRect">
              <a:avLst/>
            </a:prstGeom>
            <a:solidFill>
              <a:srgbClr val="DDEBF7"/>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b="1" dirty="0">
                  <a:solidFill>
                    <a:srgbClr val="4472C4"/>
                  </a:solidFill>
                  <a:latin typeface="Amasis MT Pro" panose="02040504050005020304" pitchFamily="18" charset="0"/>
                </a:rPr>
                <a:t>Core RAG Method</a:t>
              </a:r>
            </a:p>
            <a:p>
              <a:pPr algn="ctr">
                <a:spcAft>
                  <a:spcPts val="200"/>
                </a:spcAft>
                <a:defRPr sz="1200">
                  <a:solidFill>
                    <a:srgbClr val="2D2D2D"/>
                  </a:solidFill>
                  <a:latin typeface="Calibri"/>
                </a:defRPr>
              </a:pPr>
              <a:r>
                <a:rPr sz="1600" b="1" dirty="0">
                  <a:latin typeface="Amasis MT Pro" panose="02040504050005020304" pitchFamily="18" charset="0"/>
                </a:rPr>
                <a:t>Structural chunking → Dense + BM25 retrieval</a:t>
              </a:r>
            </a:p>
            <a:p>
              <a:pPr algn="ctr">
                <a:spcAft>
                  <a:spcPts val="200"/>
                </a:spcAft>
                <a:defRPr sz="1200">
                  <a:solidFill>
                    <a:srgbClr val="2D2D2D"/>
                  </a:solidFill>
                  <a:latin typeface="Calibri"/>
                </a:defRPr>
              </a:pPr>
              <a:r>
                <a:rPr sz="1600" b="1" dirty="0">
                  <a:latin typeface="Amasis MT Pro" panose="02040504050005020304" pitchFamily="18" charset="0"/>
                </a:rPr>
                <a:t>RRF fusion → Cross-encoder reranking</a:t>
              </a:r>
            </a:p>
          </p:txBody>
        </p:sp>
        <p:sp>
          <p:nvSpPr>
            <p:cNvPr id="19" name="Rounded Rectangle 18"/>
            <p:cNvSpPr/>
            <p:nvPr/>
          </p:nvSpPr>
          <p:spPr>
            <a:xfrm>
              <a:off x="3977639" y="2971800"/>
              <a:ext cx="3246120" cy="1325880"/>
            </a:xfrm>
            <a:prstGeom prst="roundRect">
              <a:avLst/>
            </a:prstGeom>
            <a:solidFill>
              <a:srgbClr val="E2EFDA"/>
            </a:solidFill>
            <a:ln w="15240">
              <a:solidFill>
                <a:srgbClr val="70AD47"/>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b="1" dirty="0">
                  <a:solidFill>
                    <a:srgbClr val="70AD47"/>
                  </a:solidFill>
                  <a:latin typeface="Amasis MT Pro" panose="02040504050005020304" pitchFamily="18" charset="0"/>
                </a:rPr>
                <a:t>Grounded Generation</a:t>
              </a:r>
            </a:p>
            <a:p>
              <a:pPr algn="ctr">
                <a:spcAft>
                  <a:spcPts val="200"/>
                </a:spcAft>
                <a:defRPr sz="1200">
                  <a:solidFill>
                    <a:srgbClr val="2D2D2D"/>
                  </a:solidFill>
                  <a:latin typeface="Calibri"/>
                </a:defRPr>
              </a:pPr>
              <a:r>
                <a:rPr sz="1600" b="1" dirty="0">
                  <a:latin typeface="Amasis MT Pro" panose="02040504050005020304" pitchFamily="18" charset="0"/>
                </a:rPr>
                <a:t>Ratio Decidendi / Obiter Dicta extraction</a:t>
              </a:r>
            </a:p>
            <a:p>
              <a:pPr algn="ctr">
                <a:spcAft>
                  <a:spcPts val="200"/>
                </a:spcAft>
                <a:defRPr sz="1200">
                  <a:solidFill>
                    <a:srgbClr val="2D2D2D"/>
                  </a:solidFill>
                  <a:latin typeface="Calibri"/>
                </a:defRPr>
              </a:pPr>
              <a:r>
                <a:rPr sz="1600" b="1" dirty="0">
                  <a:latin typeface="Amasis MT Pro" panose="02040504050005020304" pitchFamily="18" charset="0"/>
                </a:rPr>
                <a:t>Pro / Contra synthesis with source evidence</a:t>
              </a:r>
            </a:p>
          </p:txBody>
        </p:sp>
        <p:sp>
          <p:nvSpPr>
            <p:cNvPr id="20" name="Rounded Rectangle 19"/>
            <p:cNvSpPr/>
            <p:nvPr/>
          </p:nvSpPr>
          <p:spPr>
            <a:xfrm>
              <a:off x="7452360" y="2971800"/>
              <a:ext cx="3246120" cy="1325880"/>
            </a:xfrm>
            <a:prstGeom prst="roundRect">
              <a:avLst/>
            </a:prstGeom>
            <a:solidFill>
              <a:srgbClr val="EAE1F4"/>
            </a:solidFill>
            <a:ln w="15240">
              <a:solidFill>
                <a:srgbClr val="7030A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b="1">
                  <a:solidFill>
                    <a:srgbClr val="7030A0"/>
                  </a:solidFill>
                  <a:latin typeface="Amasis MT Pro" panose="02040504050005020304" pitchFamily="18" charset="0"/>
                </a:rPr>
                <a:t>Evaluation &amp; Delivery</a:t>
              </a:r>
            </a:p>
            <a:p>
              <a:pPr algn="ctr">
                <a:spcAft>
                  <a:spcPts val="200"/>
                </a:spcAft>
                <a:defRPr sz="1200">
                  <a:solidFill>
                    <a:srgbClr val="2D2D2D"/>
                  </a:solidFill>
                  <a:latin typeface="Calibri"/>
                </a:defRPr>
              </a:pPr>
              <a:r>
                <a:rPr sz="1600" b="1">
                  <a:latin typeface="Amasis MT Pro" panose="02040504050005020304" pitchFamily="18" charset="0"/>
                </a:rPr>
                <a:t>nDCG@10, MRR, ROUGE-L</a:t>
              </a:r>
            </a:p>
            <a:p>
              <a:pPr algn="ctr">
                <a:spcAft>
                  <a:spcPts val="200"/>
                </a:spcAft>
                <a:defRPr sz="1200">
                  <a:solidFill>
                    <a:srgbClr val="2D2D2D"/>
                  </a:solidFill>
                  <a:latin typeface="Calibri"/>
                </a:defRPr>
              </a:pPr>
              <a:r>
                <a:rPr sz="1600" b="1">
                  <a:latin typeface="Amasis MT Pro" panose="02040504050005020304" pitchFamily="18" charset="0"/>
                </a:rPr>
                <a:t>FastAPI + Streamlit + Word export</a:t>
              </a:r>
            </a:p>
          </p:txBody>
        </p:sp>
      </p:grpSp>
      <p:sp>
        <p:nvSpPr>
          <p:cNvPr id="24" name="TextBox 23">
            <a:extLst>
              <a:ext uri="{FF2B5EF4-FFF2-40B4-BE49-F238E27FC236}">
                <a16:creationId xmlns:a16="http://schemas.microsoft.com/office/drawing/2014/main" id="{B8AA6B6C-6170-EF92-9AE8-76C6BF02A641}"/>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3184235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6" name="Diagram 5">
            <a:extLst>
              <a:ext uri="{FF2B5EF4-FFF2-40B4-BE49-F238E27FC236}">
                <a16:creationId xmlns:a16="http://schemas.microsoft.com/office/drawing/2014/main" id="{27EEE79A-58FF-F24D-0058-393B280D7B86}"/>
              </a:ext>
            </a:extLst>
          </p:cNvPr>
          <p:cNvGraphicFramePr/>
          <p:nvPr>
            <p:extLst>
              <p:ext uri="{D42A27DB-BD31-4B8C-83A1-F6EECF244321}">
                <p14:modId xmlns:p14="http://schemas.microsoft.com/office/powerpoint/2010/main" val="3474774347"/>
              </p:ext>
            </p:extLst>
          </p:nvPr>
        </p:nvGraphicFramePr>
        <p:xfrm>
          <a:off x="851096" y="1234637"/>
          <a:ext cx="10485593" cy="54186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199F0106-CF77-AEBF-44DF-FFE47D5848EC}"/>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6" name="Diagram 5">
            <a:extLst>
              <a:ext uri="{FF2B5EF4-FFF2-40B4-BE49-F238E27FC236}">
                <a16:creationId xmlns:a16="http://schemas.microsoft.com/office/drawing/2014/main" id="{DB397BEA-A7DD-97DD-6085-B3B6E7AA5A5E}"/>
              </a:ext>
            </a:extLst>
          </p:cNvPr>
          <p:cNvGraphicFramePr/>
          <p:nvPr>
            <p:extLst>
              <p:ext uri="{D42A27DB-BD31-4B8C-83A1-F6EECF244321}">
                <p14:modId xmlns:p14="http://schemas.microsoft.com/office/powerpoint/2010/main" val="2942258454"/>
              </p:ext>
            </p:extLst>
          </p:nvPr>
        </p:nvGraphicFramePr>
        <p:xfrm>
          <a:off x="1082980" y="1384521"/>
          <a:ext cx="10486895" cy="47610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D388F05A-7179-49B0-700E-67E34F4A7372}"/>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A058-E477-163A-1B3E-61A05B0F38B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F67352-6E77-1E87-24B7-ED7906E0679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Project plan/</a:t>
            </a:r>
            <a:r>
              <a:rPr lang="fr-FR" sz="3600" b="1" dirty="0" err="1">
                <a:solidFill>
                  <a:srgbClr val="5B9BD5">
                    <a:lumMod val="50000"/>
                  </a:srgbClr>
                </a:solidFill>
              </a:rPr>
              <a:t>Milestones</a:t>
            </a:r>
            <a:r>
              <a:rPr lang="fr-FR" sz="3600" b="1" dirty="0">
                <a:solidFill>
                  <a:srgbClr val="5B9BD5">
                    <a:lumMod val="50000"/>
                  </a:srgbClr>
                </a:solidFill>
              </a:rPr>
              <a:t> </a:t>
            </a:r>
            <a:r>
              <a:rPr lang="fr-FR" sz="3600" b="1" dirty="0" err="1">
                <a:solidFill>
                  <a:srgbClr val="5B9BD5">
                    <a:lumMod val="50000"/>
                  </a:srgbClr>
                </a:solidFill>
              </a:rPr>
              <a:t>progress</a:t>
            </a:r>
            <a:r>
              <a:rPr lang="fr-FR" sz="3600" b="1" dirty="0">
                <a:solidFill>
                  <a:srgbClr val="5B9BD5">
                    <a:lumMod val="50000"/>
                  </a:srgbClr>
                </a:solidFill>
              </a:rPr>
              <a:t>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64F4198-C244-16A7-B796-A2E4B5EA6A8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8" name="Table 7">
            <a:extLst>
              <a:ext uri="{FF2B5EF4-FFF2-40B4-BE49-F238E27FC236}">
                <a16:creationId xmlns:a16="http://schemas.microsoft.com/office/drawing/2014/main" id="{8A1635B3-D596-839E-A5E0-9CCFDEDA793D}"/>
              </a:ext>
            </a:extLst>
          </p:cNvPr>
          <p:cNvGraphicFramePr>
            <a:graphicFrameLocks noGrp="1"/>
          </p:cNvGraphicFramePr>
          <p:nvPr>
            <p:extLst>
              <p:ext uri="{D42A27DB-BD31-4B8C-83A1-F6EECF244321}">
                <p14:modId xmlns:p14="http://schemas.microsoft.com/office/powerpoint/2010/main" val="766241681"/>
              </p:ext>
            </p:extLst>
          </p:nvPr>
        </p:nvGraphicFramePr>
        <p:xfrm>
          <a:off x="1331156" y="1420753"/>
          <a:ext cx="9791546" cy="4817868"/>
        </p:xfrm>
        <a:graphic>
          <a:graphicData uri="http://schemas.openxmlformats.org/drawingml/2006/table">
            <a:tbl>
              <a:tblPr>
                <a:tableStyleId>{5C22544A-7EE6-4342-B048-85BDC9FD1C3A}</a:tableStyleId>
              </a:tblPr>
              <a:tblGrid>
                <a:gridCol w="2798298">
                  <a:extLst>
                    <a:ext uri="{9D8B030D-6E8A-4147-A177-3AD203B41FA5}">
                      <a16:colId xmlns:a16="http://schemas.microsoft.com/office/drawing/2014/main" val="1991979566"/>
                    </a:ext>
                  </a:extLst>
                </a:gridCol>
                <a:gridCol w="4215822">
                  <a:extLst>
                    <a:ext uri="{9D8B030D-6E8A-4147-A177-3AD203B41FA5}">
                      <a16:colId xmlns:a16="http://schemas.microsoft.com/office/drawing/2014/main" val="3366822192"/>
                    </a:ext>
                  </a:extLst>
                </a:gridCol>
                <a:gridCol w="2777426">
                  <a:extLst>
                    <a:ext uri="{9D8B030D-6E8A-4147-A177-3AD203B41FA5}">
                      <a16:colId xmlns:a16="http://schemas.microsoft.com/office/drawing/2014/main" val="2232158291"/>
                    </a:ext>
                  </a:extLst>
                </a:gridCol>
              </a:tblGrid>
              <a:tr h="393526">
                <a:tc>
                  <a:txBody>
                    <a:bodyPr/>
                    <a:lstStyle/>
                    <a:p>
                      <a:pPr>
                        <a:buNone/>
                      </a:pPr>
                      <a:r>
                        <a:rPr lang="en-IN" sz="2000" b="1"/>
                        <a:t>Phase</a:t>
                      </a:r>
                    </a:p>
                  </a:txBody>
                  <a:tcPr anchor="ctr"/>
                </a:tc>
                <a:tc>
                  <a:txBody>
                    <a:bodyPr/>
                    <a:lstStyle/>
                    <a:p>
                      <a:pPr>
                        <a:buNone/>
                      </a:pPr>
                      <a:r>
                        <a:rPr lang="en-IN" sz="2000" b="1" dirty="0"/>
                        <a:t>Major Activities</a:t>
                      </a:r>
                    </a:p>
                  </a:txBody>
                  <a:tcPr anchor="ctr"/>
                </a:tc>
                <a:tc>
                  <a:txBody>
                    <a:bodyPr/>
                    <a:lstStyle/>
                    <a:p>
                      <a:pPr>
                        <a:buNone/>
                      </a:pPr>
                      <a:r>
                        <a:rPr lang="en-IN" sz="2000" b="1" dirty="0"/>
                        <a:t>Progress</a:t>
                      </a:r>
                    </a:p>
                  </a:txBody>
                  <a:tcPr anchor="ctr"/>
                </a:tc>
                <a:extLst>
                  <a:ext uri="{0D108BD9-81ED-4DB2-BD59-A6C34878D82A}">
                    <a16:rowId xmlns:a16="http://schemas.microsoft.com/office/drawing/2014/main" val="2755861876"/>
                  </a:ext>
                </a:extLst>
              </a:tr>
              <a:tr h="921172">
                <a:tc>
                  <a:txBody>
                    <a:bodyPr/>
                    <a:lstStyle/>
                    <a:p>
                      <a:pPr>
                        <a:buNone/>
                      </a:pPr>
                      <a:r>
                        <a:rPr lang="en-IN"/>
                        <a:t>1. Data Preparation</a:t>
                      </a:r>
                    </a:p>
                  </a:txBody>
                  <a:tcPr anchor="ctr"/>
                </a:tc>
                <a:tc>
                  <a:txBody>
                    <a:bodyPr/>
                    <a:lstStyle/>
                    <a:p>
                      <a:pPr>
                        <a:buNone/>
                      </a:pPr>
                      <a:r>
                        <a:rPr lang="en-IN"/>
                        <a:t>Judgment collection, parsing, legal-domain chunking, metadata preparation</a:t>
                      </a:r>
                    </a:p>
                  </a:txBody>
                  <a:tcPr anchor="ctr"/>
                </a:tc>
                <a:tc>
                  <a:txBody>
                    <a:bodyPr/>
                    <a:lstStyle/>
                    <a:p>
                      <a:pPr>
                        <a:buNone/>
                      </a:pPr>
                      <a:r>
                        <a:rPr lang="en-IN" dirty="0"/>
                        <a:t>✅ Completed</a:t>
                      </a:r>
                    </a:p>
                  </a:txBody>
                  <a:tcPr anchor="ctr"/>
                </a:tc>
                <a:extLst>
                  <a:ext uri="{0D108BD9-81ED-4DB2-BD59-A6C34878D82A}">
                    <a16:rowId xmlns:a16="http://schemas.microsoft.com/office/drawing/2014/main" val="2239438509"/>
                  </a:ext>
                </a:extLst>
              </a:tr>
              <a:tr h="644821">
                <a:tc>
                  <a:txBody>
                    <a:bodyPr/>
                    <a:lstStyle/>
                    <a:p>
                      <a:pPr>
                        <a:buNone/>
                      </a:pPr>
                      <a:r>
                        <a:rPr lang="en-IN"/>
                        <a:t>2. Retrieval Engine</a:t>
                      </a:r>
                    </a:p>
                  </a:txBody>
                  <a:tcPr anchor="ctr"/>
                </a:tc>
                <a:tc>
                  <a:txBody>
                    <a:bodyPr/>
                    <a:lstStyle/>
                    <a:p>
                      <a:pPr>
                        <a:buNone/>
                      </a:pPr>
                      <a:r>
                        <a:rPr lang="en-IN" dirty="0"/>
                        <a:t>Dense retrieval, BM25, RRF fusion, filtering and reranking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 Completed</a:t>
                      </a:r>
                    </a:p>
                    <a:p>
                      <a:pPr>
                        <a:buNone/>
                      </a:pPr>
                      <a:endParaRPr lang="en-IN" dirty="0"/>
                    </a:p>
                  </a:txBody>
                  <a:tcPr anchor="ctr"/>
                </a:tc>
                <a:extLst>
                  <a:ext uri="{0D108BD9-81ED-4DB2-BD59-A6C34878D82A}">
                    <a16:rowId xmlns:a16="http://schemas.microsoft.com/office/drawing/2014/main" val="4054622731"/>
                  </a:ext>
                </a:extLst>
              </a:tr>
              <a:tr h="644821">
                <a:tc>
                  <a:txBody>
                    <a:bodyPr/>
                    <a:lstStyle/>
                    <a:p>
                      <a:pPr>
                        <a:buNone/>
                      </a:pPr>
                      <a:r>
                        <a:rPr lang="en-IN" dirty="0"/>
                        <a:t>3. Holding &amp; Argument Intelligence</a:t>
                      </a:r>
                    </a:p>
                  </a:txBody>
                  <a:tcPr anchor="ctr"/>
                </a:tc>
                <a:tc>
                  <a:txBody>
                    <a:bodyPr/>
                    <a:lstStyle/>
                    <a:p>
                      <a:pPr>
                        <a:buNone/>
                      </a:pPr>
                      <a:r>
                        <a:rPr lang="en-IN"/>
                        <a:t>Ratio/Obiter extraction, Pro/Contra synthesis, factual distinctions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 Completed</a:t>
                      </a:r>
                    </a:p>
                    <a:p>
                      <a:pPr>
                        <a:buNone/>
                      </a:pPr>
                      <a:endParaRPr lang="en-IN" dirty="0"/>
                    </a:p>
                  </a:txBody>
                  <a:tcPr anchor="ctr"/>
                </a:tc>
                <a:extLst>
                  <a:ext uri="{0D108BD9-81ED-4DB2-BD59-A6C34878D82A}">
                    <a16:rowId xmlns:a16="http://schemas.microsoft.com/office/drawing/2014/main" val="441749405"/>
                  </a:ext>
                </a:extLst>
              </a:tr>
              <a:tr h="644821">
                <a:tc>
                  <a:txBody>
                    <a:bodyPr/>
                    <a:lstStyle/>
                    <a:p>
                      <a:pPr>
                        <a:buNone/>
                      </a:pPr>
                      <a:r>
                        <a:rPr lang="en-IN"/>
                        <a:t>4. Evaluation &amp; Validation</a:t>
                      </a:r>
                    </a:p>
                  </a:txBody>
                  <a:tcPr anchor="ctr"/>
                </a:tc>
                <a:tc>
                  <a:txBody>
                    <a:bodyPr/>
                    <a:lstStyle/>
                    <a:p>
                      <a:pPr>
                        <a:buNone/>
                      </a:pPr>
                      <a:r>
                        <a:rPr lang="en-IN" dirty="0"/>
                        <a:t>nDCG@10, MRR, bootstrap CI, ROUGE-L, citation verification</a:t>
                      </a:r>
                    </a:p>
                  </a:txBody>
                  <a:tcPr anchor="ctr"/>
                </a:tc>
                <a:tc>
                  <a:txBody>
                    <a:bodyPr/>
                    <a:lstStyle/>
                    <a:p>
                      <a:pPr>
                        <a:buNone/>
                      </a:pPr>
                      <a:r>
                        <a:rPr lang="en-IN" dirty="0"/>
                        <a:t>🔄 In Progress</a:t>
                      </a:r>
                    </a:p>
                  </a:txBody>
                  <a:tcPr anchor="ctr"/>
                </a:tc>
                <a:extLst>
                  <a:ext uri="{0D108BD9-81ED-4DB2-BD59-A6C34878D82A}">
                    <a16:rowId xmlns:a16="http://schemas.microsoft.com/office/drawing/2014/main" val="2882814868"/>
                  </a:ext>
                </a:extLst>
              </a:tr>
              <a:tr h="644821">
                <a:tc>
                  <a:txBody>
                    <a:bodyPr/>
                    <a:lstStyle/>
                    <a:p>
                      <a:pPr>
                        <a:buNone/>
                      </a:pPr>
                      <a:r>
                        <a:rPr lang="en-IN"/>
                        <a:t>5. Application Delivery</a:t>
                      </a:r>
                    </a:p>
                  </a:txBody>
                  <a:tcPr anchor="ctr"/>
                </a:tc>
                <a:tc>
                  <a:txBody>
                    <a:bodyPr/>
                    <a:lstStyle/>
                    <a:p>
                      <a:pPr>
                        <a:buNone/>
                      </a:pPr>
                      <a:r>
                        <a:rPr lang="en-IN"/>
                        <a:t>FastAPI APIs, Streamlit Research Terminal, Word export</a:t>
                      </a:r>
                    </a:p>
                  </a:txBody>
                  <a:tcPr anchor="ctr"/>
                </a:tc>
                <a:tc>
                  <a:txBody>
                    <a:bodyPr/>
                    <a:lstStyle/>
                    <a:p>
                      <a:pPr>
                        <a:buNone/>
                      </a:pPr>
                      <a:r>
                        <a:rPr lang="en-IN" dirty="0"/>
                        <a:t>🔄 In Progress</a:t>
                      </a:r>
                    </a:p>
                  </a:txBody>
                  <a:tcPr anchor="ctr"/>
                </a:tc>
                <a:extLst>
                  <a:ext uri="{0D108BD9-81ED-4DB2-BD59-A6C34878D82A}">
                    <a16:rowId xmlns:a16="http://schemas.microsoft.com/office/drawing/2014/main" val="4121335822"/>
                  </a:ext>
                </a:extLst>
              </a:tr>
              <a:tr h="921172">
                <a:tc>
                  <a:txBody>
                    <a:bodyPr/>
                    <a:lstStyle/>
                    <a:p>
                      <a:pPr>
                        <a:buNone/>
                      </a:pPr>
                      <a:r>
                        <a:rPr lang="en-IN"/>
                        <a:t>6. Final Integration &amp; Testing</a:t>
                      </a:r>
                    </a:p>
                  </a:txBody>
                  <a:tcPr anchor="ctr"/>
                </a:tc>
                <a:tc>
                  <a:txBody>
                    <a:bodyPr/>
                    <a:lstStyle/>
                    <a:p>
                      <a:pPr>
                        <a:buNone/>
                      </a:pPr>
                      <a:r>
                        <a:rPr lang="en-IN"/>
                        <a:t>End-to-end testing, UI testing, retrieval benchmarking and final refinement</a:t>
                      </a:r>
                    </a:p>
                  </a:txBody>
                  <a:tcPr anchor="ctr"/>
                </a:tc>
                <a:tc>
                  <a:txBody>
                    <a:bodyPr/>
                    <a:lstStyle/>
                    <a:p>
                      <a:pPr>
                        <a:buNone/>
                      </a:pPr>
                      <a:r>
                        <a:rPr lang="en-IN" dirty="0"/>
                        <a:t>⏳ Planned</a:t>
                      </a:r>
                    </a:p>
                  </a:txBody>
                  <a:tcPr anchor="ctr"/>
                </a:tc>
                <a:extLst>
                  <a:ext uri="{0D108BD9-81ED-4DB2-BD59-A6C34878D82A}">
                    <a16:rowId xmlns:a16="http://schemas.microsoft.com/office/drawing/2014/main" val="3885099919"/>
                  </a:ext>
                </a:extLst>
              </a:tr>
            </a:tbl>
          </a:graphicData>
        </a:graphic>
      </p:graphicFrame>
      <p:sp>
        <p:nvSpPr>
          <p:cNvPr id="10" name="TextBox 9">
            <a:extLst>
              <a:ext uri="{FF2B5EF4-FFF2-40B4-BE49-F238E27FC236}">
                <a16:creationId xmlns:a16="http://schemas.microsoft.com/office/drawing/2014/main" id="{81A76B96-48F4-DDF7-D2AD-72387604F35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2501109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lgn="l">
              <a:defRPr/>
            </a:pPr>
            <a:r>
              <a:rPr sz="3000" b="1">
                <a:solidFill>
                  <a:srgbClr val="1F4E79"/>
                </a:solidFill>
                <a:latin typeface="Calibri"/>
              </a:rPr>
              <a:t>Pipeline Structure</a:t>
            </a: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r"/>
            <a:r>
              <a:rPr sz="1800" b="1">
                <a:solidFill>
                  <a:srgbClr val="FFFFFF"/>
                </a:solidFill>
                <a:latin typeface="Calibri"/>
              </a:rPr>
              <a:t>PrecedentIQ</a:t>
            </a:r>
          </a:p>
        </p:txBody>
      </p:sp>
      <p:grpSp>
        <p:nvGrpSpPr>
          <p:cNvPr id="33" name="Group 32">
            <a:extLst>
              <a:ext uri="{FF2B5EF4-FFF2-40B4-BE49-F238E27FC236}">
                <a16:creationId xmlns:a16="http://schemas.microsoft.com/office/drawing/2014/main" id="{5B2F6845-21FD-43ED-3B5A-BAAF78BE6A0F}"/>
              </a:ext>
            </a:extLst>
          </p:cNvPr>
          <p:cNvGrpSpPr/>
          <p:nvPr/>
        </p:nvGrpSpPr>
        <p:grpSpPr>
          <a:xfrm>
            <a:off x="502920" y="1371599"/>
            <a:ext cx="10927080" cy="4983848"/>
            <a:chOff x="502920" y="1371600"/>
            <a:chExt cx="10241279" cy="4343400"/>
          </a:xfrm>
        </p:grpSpPr>
        <p:sp>
          <p:nvSpPr>
            <p:cNvPr id="7" name="Rounded Rectangle 6"/>
            <p:cNvSpPr/>
            <p:nvPr/>
          </p:nvSpPr>
          <p:spPr>
            <a:xfrm>
              <a:off x="502920" y="1371600"/>
              <a:ext cx="2788920" cy="914400"/>
            </a:xfrm>
            <a:prstGeom prst="roundRect">
              <a:avLst/>
            </a:prstGeom>
            <a:solidFill>
              <a:srgbClr val="DDEBF7"/>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4472C4"/>
                  </a:solidFill>
                  <a:latin typeface="Times New Roman" panose="02020603050405020304" pitchFamily="18" charset="0"/>
                  <a:cs typeface="Times New Roman" panose="02020603050405020304" pitchFamily="18" charset="0"/>
                </a:rPr>
                <a:t>INPUT</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Judgment Corpus + User Query / Uploaded Case File</a:t>
              </a:r>
            </a:p>
          </p:txBody>
        </p:sp>
        <p:cxnSp>
          <p:nvCxnSpPr>
            <p:cNvPr id="8" name="Connector 7"/>
            <p:cNvCxnSpPr/>
            <p:nvPr/>
          </p:nvCxnSpPr>
          <p:spPr>
            <a:xfrm>
              <a:off x="3291840" y="1828800"/>
              <a:ext cx="41148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749039" y="1371600"/>
              <a:ext cx="2788920" cy="914400"/>
            </a:xfrm>
            <a:prstGeom prst="roundRect">
              <a:avLst/>
            </a:prstGeom>
            <a:solidFill>
              <a:srgbClr val="E2EFDA"/>
            </a:solidFill>
            <a:ln w="15240">
              <a:solidFill>
                <a:srgbClr val="70AD47"/>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70AD47"/>
                  </a:solidFill>
                  <a:latin typeface="Times New Roman" panose="02020603050405020304" pitchFamily="18" charset="0"/>
                  <a:cs typeface="Times New Roman" panose="02020603050405020304" pitchFamily="18" charset="0"/>
                </a:rPr>
                <a:t>INGESTION &amp; CHUNKING</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Parsing → Legal sections → Structured chunks</a:t>
              </a:r>
            </a:p>
          </p:txBody>
        </p:sp>
        <p:cxnSp>
          <p:nvCxnSpPr>
            <p:cNvPr id="10" name="Connector 9"/>
            <p:cNvCxnSpPr/>
            <p:nvPr/>
          </p:nvCxnSpPr>
          <p:spPr>
            <a:xfrm>
              <a:off x="6537960" y="1828800"/>
              <a:ext cx="41148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949440" y="1371600"/>
              <a:ext cx="3794759" cy="914400"/>
            </a:xfrm>
            <a:prstGeom prst="roundRect">
              <a:avLst/>
            </a:prstGeom>
            <a:solidFill>
              <a:srgbClr val="EAE1F4"/>
            </a:solidFill>
            <a:ln w="15240">
              <a:solidFill>
                <a:srgbClr val="7030A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7030A0"/>
                  </a:solidFill>
                  <a:latin typeface="Times New Roman" panose="02020603050405020304" pitchFamily="18" charset="0"/>
                  <a:cs typeface="Times New Roman" panose="02020603050405020304" pitchFamily="18" charset="0"/>
                </a:rPr>
                <a:t>EMBEDDING / INDEXING</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Dense embeddings + BM25 + metadata / Qdrant</a:t>
              </a:r>
            </a:p>
          </p:txBody>
        </p:sp>
        <p:sp>
          <p:nvSpPr>
            <p:cNvPr id="12" name="Rounded Rectangle 11"/>
            <p:cNvSpPr/>
            <p:nvPr/>
          </p:nvSpPr>
          <p:spPr>
            <a:xfrm>
              <a:off x="1005840" y="2651760"/>
              <a:ext cx="2834640" cy="1005840"/>
            </a:xfrm>
            <a:prstGeom prst="roundRect">
              <a:avLst/>
            </a:prstGeom>
            <a:solidFill>
              <a:srgbClr val="DAEEF3"/>
            </a:solidFill>
            <a:ln w="15240">
              <a:solidFill>
                <a:srgbClr val="00B0F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00B0F0"/>
                  </a:solidFill>
                  <a:latin typeface="Times New Roman" panose="02020603050405020304" pitchFamily="18" charset="0"/>
                  <a:cs typeface="Times New Roman" panose="02020603050405020304" pitchFamily="18" charset="0"/>
                </a:rPr>
                <a:t>HYBRID RETRIEVAL</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Dense Retrieval + BM25</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Reciprocal Rank Fusion (RRF)</a:t>
              </a:r>
            </a:p>
          </p:txBody>
        </p:sp>
        <p:sp>
          <p:nvSpPr>
            <p:cNvPr id="13" name="Rounded Rectangle 12"/>
            <p:cNvSpPr/>
            <p:nvPr/>
          </p:nvSpPr>
          <p:spPr>
            <a:xfrm>
              <a:off x="4160520" y="2651760"/>
              <a:ext cx="2834640" cy="1005840"/>
            </a:xfrm>
            <a:prstGeom prst="roundRect">
              <a:avLst/>
            </a:prstGeom>
            <a:solidFill>
              <a:srgbClr val="FCE4D6"/>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ED7D31"/>
                  </a:solidFill>
                  <a:latin typeface="Times New Roman" panose="02020603050405020304" pitchFamily="18" charset="0"/>
                  <a:cs typeface="Times New Roman" panose="02020603050405020304" pitchFamily="18" charset="0"/>
                </a:rPr>
                <a:t>RERANKING</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Court hierarchy weighting</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Cross-Encoder reranking</a:t>
              </a:r>
            </a:p>
          </p:txBody>
        </p:sp>
        <p:sp>
          <p:nvSpPr>
            <p:cNvPr id="14" name="Rounded Rectangle 13"/>
            <p:cNvSpPr/>
            <p:nvPr/>
          </p:nvSpPr>
          <p:spPr>
            <a:xfrm>
              <a:off x="7315200" y="2651760"/>
              <a:ext cx="2834640" cy="1005840"/>
            </a:xfrm>
            <a:prstGeom prst="roundRect">
              <a:avLst/>
            </a:prstGeom>
            <a:solidFill>
              <a:srgbClr val="DDEBF7"/>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4472C4"/>
                  </a:solidFill>
                  <a:latin typeface="Times New Roman" panose="02020603050405020304" pitchFamily="18" charset="0"/>
                  <a:cs typeface="Times New Roman" panose="02020603050405020304" pitchFamily="18" charset="0"/>
                </a:rPr>
                <a:t>TOP-K PRECEDENTS</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Relevant, citation-ready</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judgment chunks</a:t>
              </a:r>
            </a:p>
          </p:txBody>
        </p:sp>
        <p:cxnSp>
          <p:nvCxnSpPr>
            <p:cNvPr id="15" name="Connector 14"/>
            <p:cNvCxnSpPr/>
            <p:nvPr/>
          </p:nvCxnSpPr>
          <p:spPr>
            <a:xfrm>
              <a:off x="3840480" y="3154680"/>
              <a:ext cx="32004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995160" y="3154680"/>
              <a:ext cx="32004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05840" y="3977639"/>
              <a:ext cx="2834640" cy="1005840"/>
            </a:xfrm>
            <a:prstGeom prst="roundRect">
              <a:avLst/>
            </a:prstGeom>
            <a:solidFill>
              <a:srgbClr val="E2EFDA"/>
            </a:solidFill>
            <a:ln w="15240">
              <a:solidFill>
                <a:srgbClr val="70AD47"/>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70AD47"/>
                  </a:solidFill>
                  <a:latin typeface="Times New Roman" panose="02020603050405020304" pitchFamily="18" charset="0"/>
                  <a:cs typeface="Times New Roman" panose="02020603050405020304" pitchFamily="18" charset="0"/>
                </a:rPr>
                <a:t>HOLDING EXTRACTION</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Ratio Decidendi</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Obiter Dicta + material facts</a:t>
              </a:r>
            </a:p>
          </p:txBody>
        </p:sp>
        <p:sp>
          <p:nvSpPr>
            <p:cNvPr id="18" name="Rounded Rectangle 17"/>
            <p:cNvSpPr/>
            <p:nvPr/>
          </p:nvSpPr>
          <p:spPr>
            <a:xfrm>
              <a:off x="4160520" y="3977639"/>
              <a:ext cx="2834640" cy="1005840"/>
            </a:xfrm>
            <a:prstGeom prst="roundRect">
              <a:avLst/>
            </a:prstGeom>
            <a:solidFill>
              <a:srgbClr val="EAE1F4"/>
            </a:solidFill>
            <a:ln w="15240">
              <a:solidFill>
                <a:srgbClr val="7030A0"/>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7030A0"/>
                  </a:solidFill>
                  <a:latin typeface="Times New Roman" panose="02020603050405020304" pitchFamily="18" charset="0"/>
                  <a:cs typeface="Times New Roman" panose="02020603050405020304" pitchFamily="18" charset="0"/>
                </a:rPr>
                <a:t>ARGUMENT SYNTHESIS</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Pro + Contra</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Factual distinctions</a:t>
              </a:r>
            </a:p>
          </p:txBody>
        </p:sp>
        <p:sp>
          <p:nvSpPr>
            <p:cNvPr id="19" name="Rounded Rectangle 18"/>
            <p:cNvSpPr/>
            <p:nvPr/>
          </p:nvSpPr>
          <p:spPr>
            <a:xfrm>
              <a:off x="7315200" y="3977639"/>
              <a:ext cx="2834640" cy="1005840"/>
            </a:xfrm>
            <a:prstGeom prst="roundRect">
              <a:avLst/>
            </a:prstGeom>
            <a:solidFill>
              <a:srgbClr val="FCE4D6"/>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600" b="1">
                  <a:solidFill>
                    <a:srgbClr val="ED7D31"/>
                  </a:solidFill>
                  <a:latin typeface="Times New Roman" panose="02020603050405020304" pitchFamily="18" charset="0"/>
                  <a:cs typeface="Times New Roman" panose="02020603050405020304" pitchFamily="18" charset="0"/>
                </a:rPr>
                <a:t>EVIDENCE VERIFICATION</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Claim → retrieved chunk</a:t>
              </a:r>
            </a:p>
            <a:p>
              <a:pPr algn="ctr">
                <a:spcAft>
                  <a:spcPts val="200"/>
                </a:spcAft>
                <a:defRPr sz="1100">
                  <a:solidFill>
                    <a:srgbClr val="2D2D2D"/>
                  </a:solidFill>
                  <a:latin typeface="Calibri"/>
                </a:defRPr>
              </a:pPr>
              <a:r>
                <a:rPr sz="1200">
                  <a:latin typeface="Times New Roman" panose="02020603050405020304" pitchFamily="18" charset="0"/>
                  <a:cs typeface="Times New Roman" panose="02020603050405020304" pitchFamily="18" charset="0"/>
                </a:rPr>
                <a:t>Citation grounding</a:t>
              </a:r>
            </a:p>
          </p:txBody>
        </p:sp>
        <p:cxnSp>
          <p:nvCxnSpPr>
            <p:cNvPr id="20" name="Connector 19"/>
            <p:cNvCxnSpPr/>
            <p:nvPr/>
          </p:nvCxnSpPr>
          <p:spPr>
            <a:xfrm>
              <a:off x="3840480" y="4480560"/>
              <a:ext cx="32004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995160" y="4480560"/>
              <a:ext cx="320040" cy="0"/>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732520" y="4983480"/>
              <a:ext cx="0" cy="246888"/>
            </a:xfrm>
            <a:prstGeom prst="line">
              <a:avLst/>
            </a:prstGeom>
            <a:ln w="27940">
              <a:solidFill>
                <a:srgbClr val="1F4E79"/>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971800" y="5212080"/>
              <a:ext cx="6217920" cy="502920"/>
            </a:xfrm>
            <a:prstGeom prst="roundRect">
              <a:avLst/>
            </a:prstGeom>
            <a:solidFill>
              <a:srgbClr val="DDEBF7"/>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wrap="square" tIns="64008" rtlCol="0" anchor="ctr"/>
            <a:lstStyle/>
            <a:p>
              <a:pPr algn="ctr"/>
              <a:r>
                <a:rPr sz="1400" b="1" dirty="0">
                  <a:solidFill>
                    <a:srgbClr val="1F4E79"/>
                  </a:solidFill>
                  <a:latin typeface="Times New Roman" panose="02020603050405020304" pitchFamily="18" charset="0"/>
                  <a:cs typeface="Times New Roman" panose="02020603050405020304" pitchFamily="18" charset="0"/>
                </a:rPr>
                <a:t>APPLICATION / DELIVERY</a:t>
              </a:r>
            </a:p>
            <a:p>
              <a:pPr algn="ctr">
                <a:spcAft>
                  <a:spcPts val="200"/>
                </a:spcAft>
                <a:defRPr sz="1000">
                  <a:solidFill>
                    <a:srgbClr val="2D2D2D"/>
                  </a:solidFill>
                  <a:latin typeface="Calibri"/>
                </a:defRPr>
              </a:pPr>
              <a:r>
                <a:rPr sz="1050" dirty="0" err="1">
                  <a:latin typeface="Times New Roman" panose="02020603050405020304" pitchFamily="18" charset="0"/>
                  <a:cs typeface="Times New Roman" panose="02020603050405020304" pitchFamily="18" charset="0"/>
                </a:rPr>
                <a:t>FastAPI</a:t>
              </a:r>
              <a:r>
                <a:rPr sz="1050" dirty="0">
                  <a:latin typeface="Times New Roman" panose="02020603050405020304" pitchFamily="18" charset="0"/>
                  <a:cs typeface="Times New Roman" panose="02020603050405020304" pitchFamily="18" charset="0"/>
                </a:rPr>
                <a:t>  → </a:t>
              </a:r>
              <a:r>
                <a:rPr sz="1050" dirty="0" err="1">
                  <a:latin typeface="Times New Roman" panose="02020603050405020304" pitchFamily="18" charset="0"/>
                  <a:cs typeface="Times New Roman" panose="02020603050405020304" pitchFamily="18" charset="0"/>
                </a:rPr>
                <a:t>Streamlit</a:t>
              </a:r>
              <a:r>
                <a:rPr sz="1050" dirty="0">
                  <a:latin typeface="Times New Roman" panose="02020603050405020304" pitchFamily="18" charset="0"/>
                  <a:cs typeface="Times New Roman" panose="02020603050405020304" pitchFamily="18" charset="0"/>
                </a:rPr>
                <a:t> Legal Research Terminal → Word Chamber Brief</a:t>
              </a:r>
            </a:p>
          </p:txBody>
        </p:sp>
        <p:cxnSp>
          <p:nvCxnSpPr>
            <p:cNvPr id="24" name="Connector: Elbow 23">
              <a:extLst>
                <a:ext uri="{FF2B5EF4-FFF2-40B4-BE49-F238E27FC236}">
                  <a16:creationId xmlns:a16="http://schemas.microsoft.com/office/drawing/2014/main" id="{80A442BB-CC29-75C1-5991-39DEAB2ED5B6}"/>
                </a:ext>
              </a:extLst>
            </p:cNvPr>
            <p:cNvCxnSpPr>
              <a:cxnSpLocks/>
              <a:stCxn id="11" idx="3"/>
              <a:endCxn id="12" idx="1"/>
            </p:cNvCxnSpPr>
            <p:nvPr/>
          </p:nvCxnSpPr>
          <p:spPr>
            <a:xfrm flipH="1">
              <a:off x="1005840" y="1828800"/>
              <a:ext cx="9738359" cy="1325880"/>
            </a:xfrm>
            <a:prstGeom prst="bentConnector5">
              <a:avLst>
                <a:gd name="adj1" fmla="val -2347"/>
                <a:gd name="adj2" fmla="val 48276"/>
                <a:gd name="adj3" fmla="val 10234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6F755E7D-82D0-07CC-4BB0-8CABDC69805B}"/>
                </a:ext>
              </a:extLst>
            </p:cNvPr>
            <p:cNvCxnSpPr>
              <a:stCxn id="14" idx="3"/>
              <a:endCxn id="17" idx="1"/>
            </p:cNvCxnSpPr>
            <p:nvPr/>
          </p:nvCxnSpPr>
          <p:spPr>
            <a:xfrm flipH="1">
              <a:off x="1005840" y="3154680"/>
              <a:ext cx="9144000" cy="1325879"/>
            </a:xfrm>
            <a:prstGeom prst="bentConnector5">
              <a:avLst>
                <a:gd name="adj1" fmla="val -2500"/>
                <a:gd name="adj2" fmla="val 50000"/>
                <a:gd name="adj3" fmla="val 102500"/>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59979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64FD3A-D9CE-08E8-5897-912DB013D1A8}"/>
              </a:ext>
            </a:extLst>
          </p:cNvPr>
          <p:cNvSpPr>
            <a:spLocks noGrp="1"/>
          </p:cNvSpPr>
          <p:nvPr>
            <p:ph type="body" sz="quarter" idx="15"/>
          </p:nvPr>
        </p:nvSpPr>
        <p:spPr>
          <a:xfrm>
            <a:off x="3992458" y="2709423"/>
            <a:ext cx="4271976" cy="991720"/>
          </a:xfrm>
        </p:spPr>
        <p:txBody>
          <a:bodyPr/>
          <a:lstStyle/>
          <a:p>
            <a:pPr marL="0" indent="0">
              <a:buNone/>
            </a:pPr>
            <a:r>
              <a:rPr lang="en-IN" sz="72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p:txBody>
      </p:sp>
    </p:spTree>
    <p:extLst>
      <p:ext uri="{BB962C8B-B14F-4D97-AF65-F5344CB8AC3E}">
        <p14:creationId xmlns:p14="http://schemas.microsoft.com/office/powerpoint/2010/main" val="145525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549</TotalTime>
  <Words>1187</Words>
  <Application>Microsoft Office PowerPoint</Application>
  <PresentationFormat>Widescreen</PresentationFormat>
  <Paragraphs>220</Paragraphs>
  <Slides>15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Amasis MT Pro</vt:lpstr>
      <vt:lpstr>Aptos</vt:lpstr>
      <vt:lpstr>Arial</vt:lpstr>
      <vt:lpstr>Calibri</vt:lpstr>
      <vt:lpstr>Calibri (Body)</vt:lpstr>
      <vt:lpstr>Frutiger 45 bold</vt:lpstr>
      <vt:lpstr>Frutiger LT Pro 45 Light</vt:lpstr>
      <vt:lpstr>source-serif-pro</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Krithana A</cp:lastModifiedBy>
  <cp:revision>18</cp:revision>
  <dcterms:created xsi:type="dcterms:W3CDTF">2024-05-13T10:33:11Z</dcterms:created>
  <dcterms:modified xsi:type="dcterms:W3CDTF">2026-09-30T10:14:47Z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